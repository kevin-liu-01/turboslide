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and cost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1200</c:v>
                </c:pt>
                <c:pt idx="1">
                  <c:v>1450</c:v>
                </c:pt>
                <c:pt idx="2">
                  <c:v>1600</c:v>
                </c:pt>
                <c:pt idx="3">
                  <c:v>2100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800</c:v>
                </c:pt>
                <c:pt idx="1">
                  <c:v>900</c:v>
                </c:pt>
                <c:pt idx="2">
                  <c:v>950</c:v>
                </c:pt>
                <c:pt idx="3">
                  <c:v>1100</c:v>
                </c:pt>
              </c:numCache>
            </c:numRef>
          </c:val>
        </c:ser>
        <c:dLbls>
          <c:numFmt formatCode="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Share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0.41</c:v>
                </c:pt>
                <c:pt idx="1">
                  <c:v>0.24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</c:ser>
        <c:dLbls>
          <c:numFmt formatCode="0%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Users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210</c:v>
                </c:pt>
                <c:pt idx="4">
                  <c:v>260</c:v>
                </c:pt>
                <c:pt idx="5">
                  <c:v>300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Plans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Plans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Starter</c:v>
                </c:pt>
                <c:pt idx="1">
                  <c:v>Team</c:v>
                </c:pt>
                <c:pt idx="2">
                  <c:v>Enterprise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l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Doughnut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Plans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Starter</c:v>
                </c:pt>
                <c:pt idx="1">
                  <c:v>Team</c:v>
                </c:pt>
                <c:pt idx="2">
                  <c:v>Enterprise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Three D bars</a:t>
            </a:r>
          </a:p>
        </c:rich>
      </c:tx>
      <c:layout/>
      <c:overlay val="0"/>
    </c:title>
    <c:autoTitleDeleted val="0"/>
    <c:plotArea>
      <c:bar3D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0.41</c:v>
                </c:pt>
                <c:pt idx="1">
                  <c:v>0.24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</c:ser>
        <c:axId val="-2068027336"/>
        <c:axId val="-2113994440"/>
      </c:bar3D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Stacked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1200</c:v>
                </c:pt>
                <c:pt idx="1">
                  <c:v>1450</c:v>
                </c:pt>
                <c:pt idx="2">
                  <c:v>1600</c:v>
                </c:pt>
                <c:pt idx="3">
                  <c:v>2100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800</c:v>
                </c:pt>
                <c:pt idx="1">
                  <c:v>900</c:v>
                </c:pt>
                <c:pt idx="2">
                  <c:v>950</c:v>
                </c:pt>
                <c:pt idx="3">
                  <c:v>1100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Thirteen by seven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  <c:pt idx="9">
                  <c:v>C10</c:v>
                </c:pt>
                <c:pt idx="10">
                  <c:v>C11</c:v>
                </c:pt>
                <c:pt idx="11">
                  <c:v>C12</c:v>
                </c:pt>
                <c:pt idx="12">
                  <c:v>C13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  <c:pt idx="9">
                  <c:v>C10</c:v>
                </c:pt>
                <c:pt idx="10">
                  <c:v>C11</c:v>
                </c:pt>
                <c:pt idx="11">
                  <c:v>C12</c:v>
                </c:pt>
                <c:pt idx="12">
                  <c:v>C13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2.0</c:v>
                </c:pt>
                <c:pt idx="1">
                  <c:v>3.0</c:v>
                </c:pt>
                <c:pt idx="2">
                  <c:v>4.0</c:v>
                </c:pt>
                <c:pt idx="3">
                  <c:v>5.0</c:v>
                </c:pt>
                <c:pt idx="4">
                  <c:v>6.0</c:v>
                </c:pt>
                <c:pt idx="5">
                  <c:v>7.0</c:v>
                </c:pt>
                <c:pt idx="6">
                  <c:v>8.0</c:v>
                </c:pt>
                <c:pt idx="7">
                  <c:v>9.0</c:v>
                </c:pt>
                <c:pt idx="8">
                  <c:v>10.0</c:v>
                </c:pt>
                <c:pt idx="9">
                  <c:v>11.0</c:v>
                </c:pt>
                <c:pt idx="10">
                  <c:v>12.0</c:v>
                </c:pt>
                <c:pt idx="11">
                  <c:v>13.0</c:v>
                </c:pt>
                <c:pt idx="12">
                  <c:v>14.0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  <c:pt idx="9">
                  <c:v>C10</c:v>
                </c:pt>
                <c:pt idx="10">
                  <c:v>C11</c:v>
                </c:pt>
                <c:pt idx="11">
                  <c:v>C12</c:v>
                </c:pt>
                <c:pt idx="12">
                  <c:v>C13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3.0</c:v>
                </c:pt>
                <c:pt idx="1">
                  <c:v>4.0</c:v>
                </c:pt>
                <c:pt idx="2">
                  <c:v>5.0</c:v>
                </c:pt>
                <c:pt idx="3">
                  <c:v>6.0</c:v>
                </c:pt>
                <c:pt idx="4">
                  <c:v>7.0</c:v>
                </c:pt>
                <c:pt idx="5">
                  <c:v>8.0</c:v>
                </c:pt>
                <c:pt idx="6">
                  <c:v>9.0</c:v>
                </c:pt>
                <c:pt idx="7">
                  <c:v>10.0</c:v>
                </c:pt>
                <c:pt idx="8">
                  <c:v>11.0</c:v>
                </c:pt>
                <c:pt idx="9">
                  <c:v>12.0</c:v>
                </c:pt>
                <c:pt idx="10">
                  <c:v>13.0</c:v>
                </c:pt>
                <c:pt idx="11">
                  <c:v>14.0</c:v>
                </c:pt>
                <c:pt idx="12">
                  <c:v>15.0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  <c:pt idx="9">
                  <c:v>C10</c:v>
                </c:pt>
                <c:pt idx="10">
                  <c:v>C11</c:v>
                </c:pt>
                <c:pt idx="11">
                  <c:v>C12</c:v>
                </c:pt>
                <c:pt idx="12">
                  <c:v>C13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4.0</c:v>
                </c:pt>
                <c:pt idx="1">
                  <c:v>5.0</c:v>
                </c:pt>
                <c:pt idx="2">
                  <c:v>6.0</c:v>
                </c:pt>
                <c:pt idx="3">
                  <c:v>7.0</c:v>
                </c:pt>
                <c:pt idx="4">
                  <c:v>8.0</c:v>
                </c:pt>
                <c:pt idx="5">
                  <c:v>9.0</c:v>
                </c:pt>
                <c:pt idx="6">
                  <c:v>10.0</c:v>
                </c:pt>
                <c:pt idx="7">
                  <c:v>11.0</c:v>
                </c:pt>
                <c:pt idx="8">
                  <c:v>12.0</c:v>
                </c:pt>
                <c:pt idx="9">
                  <c:v>13.0</c:v>
                </c:pt>
                <c:pt idx="10">
                  <c:v>14.0</c:v>
                </c:pt>
                <c:pt idx="11">
                  <c:v>15.0</c:v>
                </c:pt>
                <c:pt idx="12">
                  <c:v>16.0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  <c:pt idx="9">
                  <c:v>C10</c:v>
                </c:pt>
                <c:pt idx="10">
                  <c:v>C11</c:v>
                </c:pt>
                <c:pt idx="11">
                  <c:v>C12</c:v>
                </c:pt>
                <c:pt idx="12">
                  <c:v>C13</c:v>
                </c:pt>
              </c:strCache>
            </c: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5.0</c:v>
                </c:pt>
                <c:pt idx="1">
                  <c:v>6.0</c:v>
                </c:pt>
                <c:pt idx="2">
                  <c:v>7.0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11.0</c:v>
                </c:pt>
                <c:pt idx="7">
                  <c:v>12.0</c:v>
                </c:pt>
                <c:pt idx="8">
                  <c:v>13.0</c:v>
                </c:pt>
                <c:pt idx="9">
                  <c:v>14.0</c:v>
                </c:pt>
                <c:pt idx="10">
                  <c:v>15.0</c:v>
                </c:pt>
                <c:pt idx="11">
                  <c:v>16.0</c:v>
                </c:pt>
                <c:pt idx="12">
                  <c:v>17.0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  <c:pt idx="9">
                  <c:v>C10</c:v>
                </c:pt>
                <c:pt idx="10">
                  <c:v>C11</c:v>
                </c:pt>
                <c:pt idx="11">
                  <c:v>C12</c:v>
                </c:pt>
                <c:pt idx="12">
                  <c:v>C13</c:v>
                </c:pt>
              </c:strCache>
            </c:strRef>
          </c:cat>
          <c:val>
            <c:numRef>
              <c:f>Sheet1!$G$2:$G$14</c:f>
              <c:numCache>
                <c:formatCode>General</c:formatCode>
                <c:ptCount val="13"/>
                <c:pt idx="0">
                  <c:v>6.0</c:v>
                </c:pt>
                <c:pt idx="1">
                  <c:v>7.0</c:v>
                </c:pt>
                <c:pt idx="2">
                  <c:v>8.0</c:v>
                </c:pt>
                <c:pt idx="3">
                  <c:v>9.0</c:v>
                </c:pt>
                <c:pt idx="4">
                  <c:v>10.0</c:v>
                </c:pt>
                <c:pt idx="5">
                  <c:v>11.0</c:v>
                </c:pt>
                <c:pt idx="6">
                  <c:v>12.0</c:v>
                </c:pt>
                <c:pt idx="7">
                  <c:v>13.0</c:v>
                </c:pt>
                <c:pt idx="8">
                  <c:v>14.0</c:v>
                </c:pt>
                <c:pt idx="9">
                  <c:v>15.0</c:v>
                </c:pt>
                <c:pt idx="10">
                  <c:v>16.0</c:v>
                </c:pt>
                <c:pt idx="11">
                  <c:v>17.0</c:v>
                </c:pt>
                <c:pt idx="12">
                  <c:v>18.0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  <c:pt idx="9">
                  <c:v>C10</c:v>
                </c:pt>
                <c:pt idx="10">
                  <c:v>C11</c:v>
                </c:pt>
                <c:pt idx="11">
                  <c:v>C12</c:v>
                </c:pt>
                <c:pt idx="12">
                  <c:v>C13</c:v>
                </c:pt>
              </c:strCache>
            </c:strRef>
          </c:cat>
          <c:val>
            <c:numRef>
              <c:f>Sheet1!$H$2:$H$14</c:f>
              <c:numCache>
                <c:formatCode>General</c:formatCode>
                <c:ptCount val="13"/>
                <c:pt idx="0">
                  <c:v>7.0</c:v>
                </c:pt>
                <c:pt idx="1">
                  <c:v>8.0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12.0</c:v>
                </c:pt>
                <c:pt idx="6">
                  <c:v>13.0</c:v>
                </c:pt>
                <c:pt idx="7">
                  <c:v>14.0</c:v>
                </c:pt>
                <c:pt idx="8">
                  <c:v>15.0</c:v>
                </c:pt>
                <c:pt idx="9">
                  <c:v>16.0</c:v>
                </c:pt>
                <c:pt idx="10">
                  <c:v>17.0</c:v>
                </c:pt>
                <c:pt idx="11">
                  <c:v>18.0</c:v>
                </c:pt>
                <c:pt idx="12">
                  <c:v>19.0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Combination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1200</c:v>
                </c:pt>
                <c:pt idx="1">
                  <c:v>1450</c:v>
                </c:pt>
                <c:pt idx="2">
                  <c:v>1600</c:v>
                </c:pt>
                <c:pt idx="3">
                  <c:v>2100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800</c:v>
                </c:pt>
                <c:pt idx="1">
                  <c:v>900</c:v>
                </c:pt>
                <c:pt idx="2">
                  <c:v>950</c:v>
                </c:pt>
                <c:pt idx="3">
                  <c:v>1100</c:v>
                </c:pt>
              </c:numCache>
            </c:numRef>
          </c:val>
        </c:ser>
        <c:axId val="-2068027336"/>
        <c:axId val="-2113994440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210</c:v>
                </c:pt>
                <c:pt idx="4">
                  <c:v>260</c:v>
                </c:pt>
                <c:pt idx="5">
                  <c:v>300</c:v>
                </c:pt>
              </c:numCache>
            </c:numRef>
          </c:val>
          <c:smooth val="0"/>
        </c:ser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Relationship Id="rId6" Type="http://schemas.openxmlformats.org/officeDocument/2006/relationships/chart" Target="../charts/chart9.xml"/><Relationship Id="rId7" Type="http://schemas.openxmlformats.org/officeDocument/2006/relationships/chart" Target="../charts/char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mp3"/><Relationship Id="rId6" Type="http://schemas.openxmlformats.org/officeDocument/2006/relationships/video" Target="../media/media2.mp3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harts"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0" y="457200"/>
          <a:ext cx="53340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3886200"/>
          <a:ext cx="5486400" cy="2743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3886200"/>
          <a:ext cx="5334000" cy="27432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hart substitutions"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67200" y="4572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077200" y="457200"/>
          <a:ext cx="3657600" cy="2743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3429000"/>
          <a:ext cx="6400800" cy="3200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Combination"/>
          <p:cNvGraphicFramePr>
            <a:graphicFrameLocks noGrp="1"/>
          </p:cNvGraphicFramePr>
          <p:nvPr/>
        </p:nvGraphicFramePr>
        <p:xfrm>
          <a:off x="7315200" y="3429000"/>
          <a:ext cx="4419600" cy="32004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  <p:transition spd="fast" advClick="1" advTm="4000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otion">
    <p:spTree>
      <p:nvGrpSpPr>
        <p:cNvPr id="1" name=""/>
        <p:cNvGrpSpPr/>
        <p:nvPr/>
      </p:nvGrpSpPr>
      <p:grpSpPr/>
      <p:sp>
        <p:nvSpPr>
          <p:cNvPr id="2" name="Appears"/>
          <p:cNvSpPr/>
          <p:nvPr/>
        </p:nvSpPr>
        <p:spPr>
          <a:xfrm>
            <a:off x="457200" y="914400"/>
            <a:ext cx="2743200" cy="1371600"/>
          </a:xfrm>
          <a:prstGeom prst="rect">
            <a:avLst/>
          </a:prstGeom>
          <a:solidFill>
            <a:srgbClr val="2F5C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0"/>
              <a:t>Appear on click</a:t>
            </a:r>
          </a:p>
        </p:txBody>
      </p:sp>
      <p:sp>
        <p:nvSpPr>
          <p:cNvPr id="3" name="Fades in"/>
          <p:cNvSpPr/>
          <p:nvPr/>
        </p:nvSpPr>
        <p:spPr>
          <a:xfrm>
            <a:off x="3657600" y="914400"/>
            <a:ext cx="2743200" cy="1371600"/>
          </a:xfrm>
          <a:prstGeom prst="ellipse">
            <a:avLst/>
          </a:prstGeom>
          <a:solidFill>
            <a:srgbClr val="12A3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0"/>
              <a:t>Fade with previous</a:t>
            </a:r>
          </a:p>
        </p:txBody>
      </p:sp>
      <p:sp>
        <p:nvSpPr>
          <p:cNvPr id="4" name="Flies in"/>
          <p:cNvSpPr/>
          <p:nvPr/>
        </p:nvSpPr>
        <p:spPr>
          <a:xfrm>
            <a:off x="6858000" y="914400"/>
            <a:ext cx="2743200" cy="1371600"/>
          </a:xfrm>
          <a:prstGeom prst="chevron">
            <a:avLst/>
          </a:prstGeom>
          <a:solidFill>
            <a:srgbClr val="F0A02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0"/>
              <a:t>Fly in after previous</a:t>
            </a:r>
          </a:p>
        </p:txBody>
      </p:sp>
      <p:sp>
        <p:nvSpPr>
          <p:cNvPr id="5" name="Fades out"/>
          <p:cNvSpPr/>
          <p:nvPr/>
        </p:nvSpPr>
        <p:spPr>
          <a:xfrm>
            <a:off x="457200" y="3200400"/>
            <a:ext cx="2743200" cy="1371600"/>
          </a:xfrm>
          <a:prstGeom prst="rect">
            <a:avLst/>
          </a:prstGeom>
          <a:solidFill>
            <a:srgbClr val="E548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0"/>
              <a:t>Fade out on click</a:t>
            </a:r>
          </a:p>
        </p:txBody>
      </p:sp>
      <p:sp>
        <p:nvSpPr>
          <p:cNvPr id="6" name="Pricing rows"/>
          <p:cNvSpPr txBox="1"/>
          <p:nvPr/>
        </p:nvSpPr>
        <p:spPr>
          <a:xfrm>
            <a:off x="3657600" y="32004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har char="•"/>
            </a:pPr>
            <a:r>
              <a:rPr sz="2000"/>
              <a:t>Starter, $49 a month</a:t>
            </a:r>
          </a:p>
          <a:p>
            <a:pPr marL="342900" indent="-342900">
              <a:buChar char="•"/>
            </a:pPr>
            <a:r>
              <a:rPr sz="2000"/>
              <a:t>Team, $199 a month</a:t>
            </a:r>
          </a:p>
          <a:p>
            <a:pPr marL="342900" indent="-342900">
              <a:buChar char="•"/>
            </a:pPr>
            <a:r>
              <a:rPr sz="2000"/>
              <a:t>Enterprise, call us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edia">
    <p:spTree>
      <p:nvGrpSpPr>
        <p:cNvPr id="1" name=""/>
        <p:cNvGrpSpPr/>
        <p:nvPr/>
      </p:nvGrpSpPr>
      <p:grpSpPr/>
      <p:pic>
        <p:nvPicPr>
          <p:cNvPr id="2" name="Demo 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457200"/>
            <a:ext cx="4876800" cy="2743200"/>
          </a:xfrm>
          <a:prstGeom prst="rect">
            <a:avLst/>
          </a:prstGeom>
        </p:spPr>
      </p:pic>
      <p:pic>
        <p:nvPicPr>
          <p:cNvPr id="3" name="Tone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91200" y="457200"/>
            <a:ext cx="609600" cy="609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00" name="Equation"/>
              <p:cNvSpPr txBox="1"/>
              <p:nvPr/>
            </p:nvSpPr>
            <p:spPr>
              <a:xfrm>
                <a:off x="7315200" y="4114800"/>
                <a:ext cx="2743200" cy="914400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14:m>
                  <m:oMathPara xmlns:m="http://schemas.openxmlformats.org/officeDocument/2006/math">
                    <m:oMath>
                      <m:f>
                        <m:fPr>
                          <m:type m:val="bar"/>
                        </m:fPr>
                        <m:num>
                          <m:r>
                            <m:t>a</m:t>
                          </m:r>
                        </m:num>
                        <m:den>
                          <m:r>
                            <m:t>b</m:t>
                          </m:r>
                        </m:den>
                      </m:f>
                      <m:r>
                        <m:t>+</m:t>
                      </m:r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m:t>y</m:t>
                          </m:r>
                        </m:e>
                      </m:rad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900" name="Equation"/>
              <p:cNvSpPr txBox="1"/>
              <p:nvPr/>
            </p:nvSpPr>
            <p:spPr>
              <a:xfrm>
                <a:off x="7315200" y="4114800"/>
                <a:ext cx="2743200" cy="91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python-pptx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 fixture 04 charts, motion and media</dc:title>
  <dc:subject/>
  <dc:creator>Turboslide</dc:creator>
  <cp:keywords/>
  <dc:description>generated using python-pptx</dc:description>
  <cp:lastModifiedBy>Turboslide</cp:lastModifiedBy>
  <cp:revision>1</cp:revision>
  <dcterms:created xsi:type="dcterms:W3CDTF">2026-09-15T00:00:00Z</dcterms:created>
  <dcterms:modified xsi:type="dcterms:W3CDTF">2026-09-15T00:00:00Z</dcterms:modified>
  <cp:category/>
</cp:coreProperties>
</file>