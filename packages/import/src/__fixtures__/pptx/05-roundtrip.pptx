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s/slide23.xml" ContentType="application/vnd.openxmlformats-officedocument.presentationml.slide+xml"/>
  <Override PartName="/ppt/charts/chart2.xml" ContentType="application/vnd.openxmlformats-officedocument.drawingml.chart+xml"/>
  <Override PartName="/ppt/slides/slide24.xml" ContentType="application/vnd.openxmlformats-officedocument.presentationml.slide+xml"/>
  <Override PartName="/ppt/charts/chart3.xml" ContentType="application/vnd.openxmlformats-officedocument.drawingml.chart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GT Inter Text 20 Medium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GT Inter Text 20 Medium"/>
              </a:rPr>
              <a:t>Words translated per month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Docs</c:v>
                </c:pt>
              </c:strCache>
            </c:strRef>
          </c:tx>
          <c:spPr>
            <a:solidFill>
              <a:srgbClr val="07070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GT Inter Text 18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1200</c:v>
                </c:pt>
                <c:pt idx="1">
                  <c:v>1350</c:v>
                </c:pt>
                <c:pt idx="2">
                  <c:v>1480</c:v>
                </c:pt>
                <c:pt idx="3">
                  <c:v>1600</c:v>
                </c:pt>
                <c:pt idx="4">
                  <c:v>1720</c:v>
                </c:pt>
                <c:pt idx="5">
                  <c:v>1900</c:v>
                </c:pt>
                <c:pt idx="6">
                  <c:v>2050</c:v>
                </c:pt>
                <c:pt idx="7">
                  <c:v>2200</c:v>
                </c:pt>
                <c:pt idx="8">
                  <c:v>2400</c:v>
                </c:pt>
                <c:pt idx="9">
                  <c:v>2600</c:v>
                </c:pt>
                <c:pt idx="10">
                  <c:v>2750</c:v>
                </c:pt>
                <c:pt idx="11">
                  <c:v>3000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</c:v>
                </c:pt>
              </c:strCache>
            </c:strRef>
          </c:tx>
          <c:spPr>
            <a:solidFill>
              <a:srgbClr val="3A3D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GT Inter Text 18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800</c:v>
                </c:pt>
                <c:pt idx="1">
                  <c:v>860</c:v>
                </c:pt>
                <c:pt idx="2">
                  <c:v>900</c:v>
                </c:pt>
                <c:pt idx="3">
                  <c:v>980</c:v>
                </c:pt>
                <c:pt idx="4">
                  <c:v>1050</c:v>
                </c:pt>
                <c:pt idx="5">
                  <c:v>1100</c:v>
                </c:pt>
                <c:pt idx="6">
                  <c:v>1240</c:v>
                </c:pt>
                <c:pt idx="7">
                  <c:v>1300</c:v>
                </c:pt>
                <c:pt idx="8">
                  <c:v>1420</c:v>
                </c:pt>
                <c:pt idx="9">
                  <c:v>1500</c:v>
                </c:pt>
                <c:pt idx="10">
                  <c:v>1580</c:v>
                </c:pt>
                <c:pt idx="11">
                  <c:v>1700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GT Inter Text 18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80" b="0" i="0" u="none" strike="noStrike">
                <a:solidFill>
                  <a:srgbClr val="000000"/>
                </a:solidFill>
                <a:latin typeface="GT Inter Text 18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80" b="0" i="0" u="none" strike="noStrike">
                <a:solidFill>
                  <a:srgbClr val="000000"/>
                </a:solidFill>
                <a:latin typeface="GT Inter Text 18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000000"/>
              </a:solidFill>
              <a:latin typeface="GT Inter Text 18"/>
              <a:cs typeface="GT Inter Text 18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Locales</c:v>
                </c:pt>
              </c:strCache>
            </c:strRef>
          </c:tx>
          <c:spPr>
            <a:solidFill>
              <a:srgbClr val="070707"/>
            </a:solidFill>
            <a:ln w="25400" cap="flat">
              <a:solidFill>
                <a:srgbClr val="070707"/>
              </a:solidFill>
              <a:prstDash val="solid"/>
              <a:round/>
            </a:ln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GT Inter Text 18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70707"/>
              </a:solidFill>
              <a:ln w="9525" cap="flat">
                <a:solidFill>
                  <a:srgbClr val="07070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24</c:v>
                </c:pt>
                <c:pt idx="2">
                  <c:v>40</c:v>
                </c:pt>
                <c:pt idx="3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Projects</c:v>
                </c:pt>
              </c:strCache>
            </c:strRef>
          </c:tx>
          <c:spPr>
            <a:solidFill>
              <a:srgbClr val="3A3D44"/>
            </a:solidFill>
            <a:ln w="25400" cap="flat">
              <a:solidFill>
                <a:srgbClr val="3A3D44"/>
              </a:solidFill>
              <a:prstDash val="solid"/>
              <a:round/>
            </a:ln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GT Inter Text 18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3D44"/>
              </a:solidFill>
              <a:ln w="9525" cap="flat">
                <a:solidFill>
                  <a:srgbClr val="3A3D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</c:v>
                </c:pt>
                <c:pt idx="1">
                  <c:v>55</c:v>
                </c:pt>
                <c:pt idx="2">
                  <c:v>90</c:v>
                </c:pt>
                <c:pt idx="3">
                  <c:v>140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8A8F98"/>
            </a:solidFill>
            <a:ln w="25400" cap="flat">
              <a:solidFill>
                <a:srgbClr val="8A8F98"/>
              </a:solidFill>
              <a:prstDash val="solid"/>
              <a:round/>
            </a:ln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GT Inter Text 18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8F98"/>
              </a:solidFill>
              <a:ln w="9525" cap="flat">
                <a:solidFill>
                  <a:srgbClr val="8A8F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16</c:v>
                </c:pt>
                <c:pt idx="3">
                  <c:v>25</c:v>
                </c:pt>
              </c:numCache>
            </c:numRef>
          </c: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GT Inter Text 18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80" b="0" i="0" u="none" strike="noStrike">
                <a:solidFill>
                  <a:srgbClr val="000000"/>
                </a:solidFill>
                <a:latin typeface="GT Inter Text 18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80" b="0" i="0" u="none" strike="noStrike">
                <a:solidFill>
                  <a:srgbClr val="000000"/>
                </a:solidFill>
                <a:latin typeface="GT Inter Text 18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00000"/>
              </a:solidFill>
              <a:latin typeface="GT Inter Text 18"/>
              <a:cs typeface="GT Inter Text 18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70707"/>
              </a:solidFill>
              <a:effectLst/>
            </c:spPr>
          </c:dPt>
          <c:dPt>
            <c:idx val="1"/>
            <c:bubble3D val="0"/>
            <c:spPr>
              <a:solidFill>
                <a:srgbClr val="3A3D44"/>
              </a:solidFill>
              <a:effectLst/>
            </c:spPr>
          </c:dPt>
          <c:dPt>
            <c:idx val="2"/>
            <c:bubble3D val="0"/>
            <c:spPr>
              <a:solidFill>
                <a:srgbClr val="8A8F98"/>
              </a:solidFill>
              <a:effectLst/>
            </c:spPr>
          </c:dPt>
          <c:dPt>
            <c:idx val="3"/>
            <c:bubble3D val="0"/>
            <c:spPr>
              <a:solidFill>
                <a:srgbClr val="07070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GT Inter Text 18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GT Inter Text 18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GT Inter Text 18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GT Inter Text 18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Docs</c:v>
                </c:pt>
                <c:pt idx="1">
                  <c:v>App</c:v>
                </c:pt>
                <c:pt idx="2">
                  <c:v>Marketing</c:v>
                </c:pt>
                <c:pt idx="3">
                  <c:v>Support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</c:v>
                </c:pt>
                <c:pt idx="1">
                  <c:v>31</c:v>
                </c:pt>
                <c:pt idx="2">
                  <c:v>17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000000"/>
              </a:solidFill>
              <a:latin typeface="GT Inter Text 18"/>
              <a:cs typeface="GT Inter Text 18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APER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master#frame/0"/>
          <p:cNvSpPr/>
          <p:nvPr/>
        </p:nvSpPr>
        <p:spPr>
          <a:xfrm>
            <a:off x="430530" y="0"/>
            <a:ext cx="0" cy="685800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sp>
        <p:nvSpPr>
          <p:cNvPr id="3" name="ts:master#frame/1"/>
          <p:cNvSpPr/>
          <p:nvPr/>
        </p:nvSpPr>
        <p:spPr>
          <a:xfrm>
            <a:off x="11761470" y="0"/>
            <a:ext cx="0" cy="685800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sp>
        <p:nvSpPr>
          <p:cNvPr id="4" name="ts:master#frame/2"/>
          <p:cNvSpPr/>
          <p:nvPr/>
        </p:nvSpPr>
        <p:spPr>
          <a:xfrm>
            <a:off x="0" y="430530"/>
            <a:ext cx="12192000" cy="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sp>
        <p:nvSpPr>
          <p:cNvPr id="5" name="ts:master#frame/3"/>
          <p:cNvSpPr/>
          <p:nvPr/>
        </p:nvSpPr>
        <p:spPr>
          <a:xfrm>
            <a:off x="0" y="6427470"/>
            <a:ext cx="12192000" cy="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sp>
        <p:nvSpPr>
          <p:cNvPr id="6" name="ts:master#cross/0/v"/>
          <p:cNvSpPr/>
          <p:nvPr/>
        </p:nvSpPr>
        <p:spPr>
          <a:xfrm>
            <a:off x="430530" y="388620"/>
            <a:ext cx="0" cy="8382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7" name="ts:master#cross/0/h"/>
          <p:cNvSpPr/>
          <p:nvPr/>
        </p:nvSpPr>
        <p:spPr>
          <a:xfrm>
            <a:off x="388620" y="430530"/>
            <a:ext cx="83820" cy="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8" name="ts:master#cross/1/v"/>
          <p:cNvSpPr/>
          <p:nvPr/>
        </p:nvSpPr>
        <p:spPr>
          <a:xfrm>
            <a:off x="11761470" y="388620"/>
            <a:ext cx="0" cy="8382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9" name="ts:master#cross/1/h"/>
          <p:cNvSpPr/>
          <p:nvPr/>
        </p:nvSpPr>
        <p:spPr>
          <a:xfrm>
            <a:off x="11719560" y="430530"/>
            <a:ext cx="83820" cy="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10" name="ts:master#cross/2/v"/>
          <p:cNvSpPr/>
          <p:nvPr/>
        </p:nvSpPr>
        <p:spPr>
          <a:xfrm>
            <a:off x="430530" y="6385560"/>
            <a:ext cx="0" cy="8382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11" name="ts:master#cross/2/h"/>
          <p:cNvSpPr/>
          <p:nvPr/>
        </p:nvSpPr>
        <p:spPr>
          <a:xfrm>
            <a:off x="388620" y="6427470"/>
            <a:ext cx="83820" cy="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12" name="ts:master#cross/3/v"/>
          <p:cNvSpPr/>
          <p:nvPr/>
        </p:nvSpPr>
        <p:spPr>
          <a:xfrm>
            <a:off x="11761470" y="6385560"/>
            <a:ext cx="0" cy="8382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13" name="ts:master#cross/3/h"/>
          <p:cNvSpPr/>
          <p:nvPr/>
        </p:nvSpPr>
        <p:spPr>
          <a:xfrm>
            <a:off x="11719560" y="6427470"/>
            <a:ext cx="83820" cy="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pic>
        <p:nvPicPr>
          <p:cNvPr id="14" name="ts:master#wordmark" descr="GT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0"/>
            <a:ext cx="213360" cy="137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ICTURE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28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hyperlink" Target="https://generaltranslation.com" TargetMode="Externa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port fi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title#title" hidden="1"/>
          <p:cNvSpPr txBox="1">
            <a:spLocks noGrp="1"/>
          </p:cNvSpPr>
          <p:nvPr>
            <p:ph type="title"/>
          </p:nvPr>
        </p:nvSpPr>
        <p:spPr>
          <a:xfrm>
            <a:off x="1043940" y="3197047"/>
            <a:ext cx="10104120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Export fixture</a:t>
            </a:r>
            <a:endParaRPr lang="en-US" sz="5280" dirty="0"/>
          </a:p>
        </p:txBody>
      </p:sp>
      <p:sp>
        <p:nvSpPr>
          <p:cNvPr id="3" name="ts:title#heading/text"/>
          <p:cNvSpPr txBox="1"/>
          <p:nvPr/>
        </p:nvSpPr>
        <p:spPr>
          <a:xfrm>
            <a:off x="1043940" y="3227558"/>
            <a:ext cx="1012240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Export fixture</a:t>
            </a:r>
            <a:endParaRPr lang="en-US" sz="5280" dirty="0"/>
          </a:p>
        </p:txBody>
      </p:sp>
      <p:sp>
        <p:nvSpPr>
          <p:cNvPr id="4" name="ts:title#lead/text"/>
          <p:cNvSpPr txBox="1"/>
          <p:nvPr/>
        </p:nvSpPr>
        <p:spPr>
          <a:xfrm>
            <a:off x="1043940" y="4052630"/>
            <a:ext cx="6887337" cy="5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3A3D44"/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One of every object the Google Slides parity round added, for both export</a:t>
            </a:r>
            <a:br/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3A3D44"/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modes.</a:t>
            </a:r>
            <a:endParaRPr lang="en-US" sz="1560" dirty="0"/>
          </a:p>
        </p:txBody>
      </p:sp>
      <p:sp>
        <p:nvSpPr>
          <p:cNvPr id="5" name="ts:tit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01 / 28</a:t>
            </a:r>
            <a:endParaRPr lang="en-US" sz="780" dirty="0"/>
          </a:p>
        </p:txBody>
      </p:sp>
      <p:pic>
        <p:nvPicPr>
          <p:cNvPr id="6" name="ts:title#mark:1" descr="mark (mar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2194560"/>
            <a:ext cx="100584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ragraph breaks and slide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break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737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Paragraph breaks and slide links</a:t>
            </a:r>
            <a:endParaRPr lang="en-US" sz="2640" dirty="0"/>
          </a:p>
        </p:txBody>
      </p:sp>
      <p:sp>
        <p:nvSpPr>
          <p:cNvPr id="3" name="ts:breaks#h/text"/>
          <p:cNvSpPr txBox="1"/>
          <p:nvPr/>
        </p:nvSpPr>
        <p:spPr>
          <a:xfrm>
            <a:off x="1043940" y="985278"/>
            <a:ext cx="3203448" cy="7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Paragraph breaks</a:t>
            </a:r>
            <a:br/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and slide links</a:t>
            </a:r>
            <a:endParaRPr lang="en-US" sz="2640" dirty="0"/>
          </a:p>
        </p:txBody>
      </p:sp>
      <p:sp>
        <p:nvSpPr>
          <p:cNvPr id="4" name="ts:breaks#p1/text"/>
          <p:cNvSpPr txBox="1"/>
          <p:nvPr/>
        </p:nvSpPr>
        <p:spPr>
          <a:xfrm>
            <a:off x="4777740" y="944888"/>
            <a:ext cx="586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first paragraph of the head.</a:t>
            </a:r>
            <a:endParaRPr lang="en-US" sz="132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second paragraph follows a line break.</a:t>
            </a:r>
            <a:endParaRPr lang="en-US" sz="1320" dirty="0"/>
          </a:p>
        </p:txBody>
      </p:sp>
      <p:sp>
        <p:nvSpPr>
          <p:cNvPr id="5" name="ts:breaks#p2/text"/>
          <p:cNvSpPr txBox="1"/>
          <p:nvPr/>
        </p:nvSpPr>
        <p:spPr>
          <a:xfrm>
            <a:off x="1043940" y="3721539"/>
            <a:ext cx="586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table is on </a:t>
            </a:r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/>
                </a:solidFill>
                <a:uFill>
                  <a:solidFill>
                    <a:srgbClr val="070707"/>
                  </a:solidFill>
                </a:u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next slide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 and the </a:t>
            </a:r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/>
                </a:solidFill>
                <a:uFill>
                  <a:solidFill>
                    <a:srgbClr val="070707"/>
                  </a:solidFill>
                </a:u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last slide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 holds an empty placeholder.</a:t>
            </a:r>
            <a:endParaRPr lang="en-US" sz="132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third paragraph closes the body.</a:t>
            </a:r>
            <a:endParaRPr lang="en-US" sz="1320" dirty="0"/>
          </a:p>
        </p:txBody>
      </p:sp>
      <p:sp>
        <p:nvSpPr>
          <p:cNvPr id="6" name="ts:break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02 / 28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icing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table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Pricing table</a:t>
            </a:r>
            <a:endParaRPr lang="en-US" sz="2640" dirty="0"/>
          </a:p>
        </p:txBody>
      </p:sp>
      <p:graphicFrame>
        <p:nvGraphicFramePr>
          <p:cNvPr id="3" name="ts:table#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3940" y="2999918"/>
          <a:ext cx="10104120" cy="1645920"/>
        </p:xfrm>
        <a:graphic>
          <a:graphicData uri="http://schemas.openxmlformats.org/drawingml/2006/table">
            <a:tbl>
              <a:tblPr/>
              <a:tblGrid>
                <a:gridCol w="2526030"/>
                <a:gridCol w="2526030"/>
                <a:gridCol w="2526030"/>
                <a:gridCol w="252603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spc="-12" dirty="0">
                          <a:solidFill>
                            <a:srgbClr val="070707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Plan</a:t>
                      </a:r>
                      <a:endParaRPr lang="en-US" sz="1200" dirty="0">
                        <a:latin typeface="GT Inter Text 20 Medium" charset="0"/>
                        <a:ea typeface="GT Inter Text 20 Medium" charset="0"/>
                        <a:cs typeface="GT Inter Text 20 Medium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707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spc="-12" dirty="0">
                          <a:solidFill>
                            <a:srgbClr val="070707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Seats</a:t>
                      </a:r>
                      <a:endParaRPr lang="en-US" sz="1200" dirty="0">
                        <a:latin typeface="GT Inter Text 20 Medium" charset="0"/>
                        <a:ea typeface="GT Inter Text 20 Medium" charset="0"/>
                        <a:cs typeface="GT Inter Text 20 Medium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707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spc="-12" dirty="0">
                          <a:solidFill>
                            <a:srgbClr val="070707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Locales</a:t>
                      </a:r>
                      <a:endParaRPr lang="en-US" sz="1200" dirty="0">
                        <a:latin typeface="GT Inter Text 20 Medium" charset="0"/>
                        <a:ea typeface="GT Inter Text 20 Medium" charset="0"/>
                        <a:cs typeface="GT Inter Text 20 Medium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707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spc="-12" dirty="0">
                          <a:solidFill>
                            <a:srgbClr val="070707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Price</a:t>
                      </a:r>
                      <a:endParaRPr lang="en-US" sz="1200" dirty="0">
                        <a:latin typeface="GT Inter Text 20 Medium" charset="0"/>
                        <a:ea typeface="GT Inter Text 20 Medium" charset="0"/>
                        <a:cs typeface="GT Inter Text 20 Medium" charset="0"/>
                      </a:endParaRPr>
                    </a:p>
                  </a:txBody>
                  <a:tcPr marL="121920" marR="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707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Starter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5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2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$0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Team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25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10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$99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Enterprise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Unlimited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Every locale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Contact sales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s:table#h/text"/>
          <p:cNvSpPr txBox="1"/>
          <p:nvPr/>
        </p:nvSpPr>
        <p:spPr>
          <a:xfrm>
            <a:off x="1043940" y="985278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Pricing table</a:t>
            </a:r>
            <a:endParaRPr lang="en-US" sz="2640" dirty="0"/>
          </a:p>
        </p:txBody>
      </p:sp>
      <p:sp>
        <p:nvSpPr>
          <p:cNvPr id="5" name="ts:tab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03 / 28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llou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numbered#title" hidden="1"/>
          <p:cNvSpPr txBox="1">
            <a:spLocks noGrp="1"/>
          </p:cNvSpPr>
          <p:nvPr>
            <p:ph type="title"/>
          </p:nvPr>
        </p:nvSpPr>
        <p:spPr>
          <a:xfrm>
            <a:off x="1043940" y="2839212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Rollout steps</a:t>
            </a:r>
            <a:endParaRPr lang="en-US" sz="2640" dirty="0"/>
          </a:p>
        </p:txBody>
      </p:sp>
      <p:sp>
        <p:nvSpPr>
          <p:cNvPr id="3" name="ts:numbered#rule/0"/>
          <p:cNvSpPr/>
          <p:nvPr/>
        </p:nvSpPr>
        <p:spPr>
          <a:xfrm>
            <a:off x="5574030" y="2759278"/>
            <a:ext cx="5574030" cy="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grpSp>
        <p:nvGrpSpPr>
          <p:cNvPr id="4" name="list/item/0"/>
          <p:cNvGrpSpPr/>
          <p:nvPr/>
        </p:nvGrpSpPr>
        <p:grpSpPr>
          <a:xfrm>
            <a:off x="5574030" y="2826337"/>
            <a:ext cx="5592318" cy="379397"/>
            <a:chOff x="5574030" y="2826337"/>
            <a:chExt cx="5592318" cy="379397"/>
          </a:xfrm>
        </p:grpSpPr>
        <p:sp>
          <p:nvSpPr>
            <p:cNvPr id="5" name="ts:numbered#rule/1@list/item/0"/>
            <p:cNvSpPr/>
            <p:nvPr/>
          </p:nvSpPr>
          <p:spPr>
            <a:xfrm>
              <a:off x="5574030" y="3205734"/>
              <a:ext cx="5574030" cy="0"/>
            </a:xfrm>
            <a:prstGeom prst="line">
              <a:avLst/>
            </a:prstGeom>
            <a:noFill/>
            <a:ln w="7620">
              <a:solidFill>
                <a:srgbClr val="E9E9E9"/>
              </a:solidFill>
              <a:prstDash val="solid"/>
            </a:ln>
          </p:spPr>
        </p:sp>
        <p:sp>
          <p:nvSpPr>
            <p:cNvPr id="6" name="ts:numbered#list/items/0/num@list/item/0"/>
            <p:cNvSpPr txBox="1"/>
            <p:nvPr/>
          </p:nvSpPr>
          <p:spPr>
            <a:xfrm>
              <a:off x="5574030" y="2826337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1</a:t>
              </a:r>
              <a:endParaRPr lang="en-US" sz="1440" dirty="0"/>
            </a:p>
          </p:txBody>
        </p:sp>
        <p:sp>
          <p:nvSpPr>
            <p:cNvPr id="7" name="ts:numbered#list/items/0/text@list/item/0"/>
            <p:cNvSpPr txBox="1"/>
            <p:nvPr/>
          </p:nvSpPr>
          <p:spPr>
            <a:xfrm>
              <a:off x="5848350" y="2826337"/>
              <a:ext cx="531799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Connect the repository</a:t>
              </a:r>
              <a:endParaRPr lang="en-US" sz="1440" dirty="0"/>
            </a:p>
          </p:txBody>
        </p:sp>
      </p:grpSp>
      <p:grpSp>
        <p:nvGrpSpPr>
          <p:cNvPr id="8" name="list/item/1"/>
          <p:cNvGrpSpPr/>
          <p:nvPr/>
        </p:nvGrpSpPr>
        <p:grpSpPr>
          <a:xfrm>
            <a:off x="5574030" y="3272793"/>
            <a:ext cx="5592318" cy="379473"/>
            <a:chOff x="5574030" y="3272793"/>
            <a:chExt cx="5592318" cy="379473"/>
          </a:xfrm>
        </p:grpSpPr>
        <p:sp>
          <p:nvSpPr>
            <p:cNvPr id="9" name="ts:numbered#rule/2@list/item/1"/>
            <p:cNvSpPr/>
            <p:nvPr/>
          </p:nvSpPr>
          <p:spPr>
            <a:xfrm>
              <a:off x="5574030" y="3652266"/>
              <a:ext cx="5574030" cy="0"/>
            </a:xfrm>
            <a:prstGeom prst="line">
              <a:avLst/>
            </a:prstGeom>
            <a:noFill/>
            <a:ln w="7620">
              <a:solidFill>
                <a:srgbClr val="E9E9E9"/>
              </a:solidFill>
              <a:prstDash val="solid"/>
            </a:ln>
          </p:spPr>
        </p:sp>
        <p:sp>
          <p:nvSpPr>
            <p:cNvPr id="10" name="ts:numbered#list/items/1/num@list/item/1"/>
            <p:cNvSpPr txBox="1"/>
            <p:nvPr/>
          </p:nvSpPr>
          <p:spPr>
            <a:xfrm>
              <a:off x="5574030" y="3272793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2</a:t>
              </a:r>
              <a:endParaRPr lang="en-US" sz="1440" dirty="0"/>
            </a:p>
          </p:txBody>
        </p:sp>
        <p:sp>
          <p:nvSpPr>
            <p:cNvPr id="11" name="ts:numbered#list/items/1/text@list/item/1"/>
            <p:cNvSpPr txBox="1"/>
            <p:nvPr/>
          </p:nvSpPr>
          <p:spPr>
            <a:xfrm>
              <a:off x="5848350" y="3272793"/>
              <a:ext cx="531799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Pick the locales</a:t>
              </a:r>
              <a:endParaRPr lang="en-US" sz="1440" dirty="0"/>
            </a:p>
          </p:txBody>
        </p:sp>
      </p:grpSp>
      <p:grpSp>
        <p:nvGrpSpPr>
          <p:cNvPr id="12" name="list/item/2"/>
          <p:cNvGrpSpPr/>
          <p:nvPr/>
        </p:nvGrpSpPr>
        <p:grpSpPr>
          <a:xfrm>
            <a:off x="5574030" y="3719325"/>
            <a:ext cx="5592318" cy="379397"/>
            <a:chOff x="5574030" y="3719325"/>
            <a:chExt cx="5592318" cy="379397"/>
          </a:xfrm>
        </p:grpSpPr>
        <p:sp>
          <p:nvSpPr>
            <p:cNvPr id="13" name="ts:numbered#rule/3@list/item/2"/>
            <p:cNvSpPr/>
            <p:nvPr/>
          </p:nvSpPr>
          <p:spPr>
            <a:xfrm>
              <a:off x="5574030" y="4098722"/>
              <a:ext cx="5574030" cy="0"/>
            </a:xfrm>
            <a:prstGeom prst="line">
              <a:avLst/>
            </a:prstGeom>
            <a:noFill/>
            <a:ln w="7620">
              <a:solidFill>
                <a:srgbClr val="D2D2D2"/>
              </a:solidFill>
              <a:prstDash val="solid"/>
            </a:ln>
          </p:spPr>
        </p:sp>
        <p:sp>
          <p:nvSpPr>
            <p:cNvPr id="14" name="ts:numbered#list/items/2/num@list/item/2"/>
            <p:cNvSpPr txBox="1"/>
            <p:nvPr/>
          </p:nvSpPr>
          <p:spPr>
            <a:xfrm>
              <a:off x="5574030" y="3719325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3</a:t>
              </a:r>
              <a:endParaRPr lang="en-US" sz="1440" dirty="0"/>
            </a:p>
          </p:txBody>
        </p:sp>
        <p:sp>
          <p:nvSpPr>
            <p:cNvPr id="15" name="ts:numbered#list/items/2/text@list/item/2"/>
            <p:cNvSpPr txBox="1"/>
            <p:nvPr/>
          </p:nvSpPr>
          <p:spPr>
            <a:xfrm>
              <a:off x="5848350" y="3719325"/>
              <a:ext cx="531799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Ship the first release</a:t>
              </a:r>
              <a:endParaRPr lang="en-US" sz="1440" dirty="0"/>
            </a:p>
          </p:txBody>
        </p:sp>
      </p:grpSp>
      <p:sp>
        <p:nvSpPr>
          <p:cNvPr id="16" name="ts:numbered#h/text"/>
          <p:cNvSpPr txBox="1"/>
          <p:nvPr/>
        </p:nvSpPr>
        <p:spPr>
          <a:xfrm>
            <a:off x="1043940" y="2843034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Rollout steps</a:t>
            </a:r>
            <a:endParaRPr lang="en-US" sz="2640" dirty="0"/>
          </a:p>
        </p:txBody>
      </p:sp>
      <p:sp>
        <p:nvSpPr>
          <p:cNvPr id="17" name="ts:numbered#p1/text"/>
          <p:cNvSpPr txBox="1"/>
          <p:nvPr/>
        </p:nvSpPr>
        <p:spPr>
          <a:xfrm>
            <a:off x="1043940" y="3476175"/>
            <a:ext cx="3999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numbered list with a tabular numeral in the key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position.</a:t>
            </a:r>
            <a:endParaRPr lang="en-US" sz="1320" dirty="0"/>
          </a:p>
        </p:txBody>
      </p:sp>
      <p:sp>
        <p:nvSpPr>
          <p:cNvPr id="18" name="ts:numbered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04 / 28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lock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link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096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Block links</a:t>
            </a:r>
            <a:endParaRPr lang="en-US" sz="2640" dirty="0"/>
          </a:p>
        </p:txBody>
      </p:sp>
      <p:sp>
        <p:nvSpPr>
          <p:cNvPr id="3" name="ts:links#box">
            <a:hlinkClick r:id="rId1" tooltip="" action="ppaction://hlinksldjump"/>
          </p:cNvPr>
          <p:cNvSpPr/>
          <p:nvPr/>
        </p:nvSpPr>
        <p:spPr>
          <a:xfrm>
            <a:off x="1047750" y="1840230"/>
            <a:ext cx="4259580" cy="1211580"/>
          </a:xfrm>
          <a:prstGeom prst="rect">
            <a:avLst/>
          </a:prstGeom>
          <a:ln w="7620">
            <a:solidFill>
              <a:srgbClr val="D2D2D2"/>
            </a:solidFill>
            <a:prstDash val="solid"/>
          </a:ln>
        </p:spPr>
      </p:sp>
      <p:sp>
        <p:nvSpPr>
          <p:cNvPr id="4" name="ts:links#shape">
            <a:hlinkClick r:id="rId2" tooltip=""/>
          </p:cNvPr>
          <p:cNvSpPr/>
          <p:nvPr/>
        </p:nvSpPr>
        <p:spPr>
          <a:xfrm>
            <a:off x="5802630" y="1840230"/>
            <a:ext cx="3040380" cy="1211580"/>
          </a:xfrm>
          <a:prstGeom prst="roundRect">
            <a:avLst>
              <a:gd name="adj" fmla="val 5031"/>
            </a:avLst>
          </a:prstGeom>
          <a:solidFill>
            <a:srgbClr val="F6F6F6"/>
          </a:solidFill>
          <a:ln w="7620">
            <a:solidFill>
              <a:srgbClr val="D2D2D2"/>
            </a:solidFill>
            <a:prstDash val="solid"/>
          </a:ln>
        </p:spPr>
      </p:sp>
      <p:sp>
        <p:nvSpPr>
          <p:cNvPr id="5" name="ts:links#h/text"/>
          <p:cNvSpPr txBox="1"/>
          <p:nvPr/>
        </p:nvSpPr>
        <p:spPr>
          <a:xfrm>
            <a:off x="1043940" y="985278"/>
            <a:ext cx="6114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Block links</a:t>
            </a:r>
            <a:endParaRPr lang="en-US" sz="2640" dirty="0"/>
          </a:p>
        </p:txBody>
      </p:sp>
      <p:sp>
        <p:nvSpPr>
          <p:cNvPr id="6" name="ts:links#box/text">
            <a:hlinkClick r:id="rIdundefined" tooltip="" action="ppaction://hlinksldjump"/>
          </p:cNvPr>
          <p:cNvSpPr txBox="1"/>
          <p:nvPr/>
        </p:nvSpPr>
        <p:spPr>
          <a:xfrm>
            <a:off x="1173480" y="1927868"/>
            <a:ext cx="4026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/>
                </a:solidFill>
                <a:uFill>
                  <a:solidFill>
                    <a:srgbClr val="070707"/>
                  </a:solidFill>
                </a:u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box linked to the first slide.</a:t>
            </a:r>
            <a:endParaRPr lang="en-US" sz="132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/>
                </a:solidFill>
                <a:uFill>
                  <a:solidFill>
                    <a:srgbClr val="070707"/>
                  </a:solidFill>
                </a:u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Two paragraphs inside the box.</a:t>
            </a:r>
            <a:endParaRPr lang="en-US" sz="1320" dirty="0"/>
          </a:p>
        </p:txBody>
      </p:sp>
      <p:sp>
        <p:nvSpPr>
          <p:cNvPr id="7" name="ts:links#t1/text">
            <a:hlinkClick r:id="rIdundefined" tooltip="" action="ppaction://hlinksldjump"/>
          </p:cNvPr>
          <p:cNvSpPr txBox="1"/>
          <p:nvPr/>
        </p:nvSpPr>
        <p:spPr>
          <a:xfrm>
            <a:off x="1043940" y="3383288"/>
            <a:ext cx="42854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/>
                </a:solidFill>
                <a:uFill>
                  <a:solidFill>
                    <a:srgbClr val="070707"/>
                  </a:solidFill>
                </a:u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text box linked to the table slide.</a:t>
            </a:r>
            <a:endParaRPr lang="en-US" sz="1320" dirty="0"/>
          </a:p>
        </p:txBody>
      </p:sp>
      <p:sp>
        <p:nvSpPr>
          <p:cNvPr id="8" name="ts:link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05 / 28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prompt#title" hidden="1"/>
          <p:cNvSpPr txBox="1">
            <a:spLocks noGrp="1"/>
          </p:cNvSpPr>
          <p:nvPr>
            <p:ph type="title"/>
          </p:nvPr>
        </p:nvSpPr>
        <p:spPr>
          <a:xfrm>
            <a:off x="1043940" y="1043940"/>
            <a:ext cx="101041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Slide 6</a:t>
            </a:r>
            <a:endParaRPr lang="en-US" sz="2640" dirty="0"/>
          </a:p>
        </p:txBody>
      </p:sp>
      <p:sp>
        <p:nvSpPr>
          <p:cNvPr id="3" name="ts:prompt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06 / 28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xt sty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style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Text styles</a:t>
            </a:r>
            <a:endParaRPr lang="en-US" sz="2640" dirty="0"/>
          </a:p>
        </p:txBody>
      </p:sp>
      <p:sp>
        <p:nvSpPr>
          <p:cNvPr id="3" name="ts:styles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Text styles</a:t>
            </a:r>
            <a:endParaRPr lang="en-US" sz="2640" dirty="0"/>
          </a:p>
        </p:txBody>
      </p:sp>
      <p:sp>
        <p:nvSpPr>
          <p:cNvPr id="4" name="ts:styles#p1/text"/>
          <p:cNvSpPr txBox="1"/>
          <p:nvPr/>
        </p:nvSpPr>
        <p:spPr>
          <a:xfrm>
            <a:off x="1043940" y="1621086"/>
            <a:ext cx="5867248" cy="500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run in </a:t>
            </a:r>
            <a:pPr algn="l" indent="0" marL="0">
              <a:lnSpc>
                <a:spcPts val="1980"/>
              </a:lnSpc>
              <a:buNone/>
            </a:pPr>
            <a:r>
              <a:rPr lang="en-US" sz="1320" i="1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italic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, one </a:t>
            </a:r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underlined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, one </a:t>
            </a:r>
            <a:pPr algn="l" indent="0" marL="0">
              <a:lnSpc>
                <a:spcPts val="1980"/>
              </a:lnSpc>
              <a:buNone/>
            </a:pPr>
            <a:r>
              <a:rPr lang="en-US" sz="1320" strike="sngStrike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struck through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, E = mc</a:t>
            </a:r>
            <a:pPr algn="l" indent="0" marL="0">
              <a:lnSpc>
                <a:spcPts val="1980"/>
              </a:lnSpc>
              <a:buNone/>
            </a:pPr>
            <a:r>
              <a:rPr lang="en-US" sz="858" baseline="30000" dirty="0">
                <a:solidFill>
                  <a:srgbClr val="070707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, H</a:t>
            </a:r>
            <a:pPr algn="l" indent="0" marL="0">
              <a:lnSpc>
                <a:spcPts val="1980"/>
              </a:lnSpc>
              <a:buNone/>
            </a:pPr>
            <a:r>
              <a:rPr lang="en-US" sz="858" baseline="-40000" dirty="0">
                <a:solidFill>
                  <a:srgbClr val="070707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O, a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12A37A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coloured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run and a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highlight>
                  <a:srgbClr val="F0A020"/>
                </a:highlight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highlighted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 run.</a:t>
            </a:r>
            <a:endParaRPr lang="en-US" sz="1320" dirty="0"/>
          </a:p>
        </p:txBody>
      </p:sp>
      <p:sp>
        <p:nvSpPr>
          <p:cNvPr id="5" name="ts:styles#justified/text"/>
          <p:cNvSpPr txBox="1"/>
          <p:nvPr/>
        </p:nvSpPr>
        <p:spPr>
          <a:xfrm>
            <a:off x="1043940" y="2426139"/>
            <a:ext cx="10122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justified text box sets every line but the last to the full measure. The word spaces stretch so both edges of the block are straight,</a:t>
            </a:r>
            <a:br/>
            <a:pPr algn="just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which is what Google Slides does for the fourth alignment button.</a:t>
            </a:r>
            <a:endParaRPr lang="en-US" sz="1320" dirty="0"/>
          </a:p>
        </p:txBody>
      </p:sp>
      <p:sp>
        <p:nvSpPr>
          <p:cNvPr id="6" name="ts:style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07 / 28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title slide as a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canvas-title#title" hidden="1"/>
          <p:cNvSpPr txBox="1">
            <a:spLocks noGrp="1"/>
          </p:cNvSpPr>
          <p:nvPr>
            <p:ph type="title"/>
          </p:nvPr>
        </p:nvSpPr>
        <p:spPr>
          <a:xfrm>
            <a:off x="1043940" y="3193694"/>
            <a:ext cx="10104120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A title slide as a canvas</a:t>
            </a:r>
            <a:endParaRPr lang="en-US" sz="5280" dirty="0"/>
          </a:p>
        </p:txBody>
      </p:sp>
      <p:sp>
        <p:nvSpPr>
          <p:cNvPr id="3" name="ts:canvas-title#padded" descr="A rounded rectangle holding a short label"/>
          <p:cNvSpPr/>
          <p:nvPr/>
        </p:nvSpPr>
        <p:spPr>
          <a:xfrm>
            <a:off x="8843010" y="4728210"/>
            <a:ext cx="2278380" cy="906780"/>
          </a:xfrm>
          <a:prstGeom prst="roundRect">
            <a:avLst/>
          </a:prstGeom>
          <a:ln w="7620">
            <a:solidFill>
              <a:srgbClr val="070707"/>
            </a:solidFill>
          </a:ln>
        </p:spPr>
        <p:txBody>
          <a:bodyPr wrap="square" lIns="223571" tIns="67368" rIns="223876" bIns="136238" rtlCol="0" anchor="ctr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Padded, middle aligned</a:t>
            </a:r>
            <a:endParaRPr lang="en-US" sz="1320" dirty="0"/>
          </a:p>
        </p:txBody>
      </p:sp>
      <p:sp>
        <p:nvSpPr>
          <p:cNvPr id="4" name="ts:canvas-title#heading/text"/>
          <p:cNvSpPr txBox="1"/>
          <p:nvPr/>
        </p:nvSpPr>
        <p:spPr>
          <a:xfrm>
            <a:off x="1043940" y="3224205"/>
            <a:ext cx="1012240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title slide as a canvas</a:t>
            </a:r>
            <a:endParaRPr lang="en-US" sz="5280" dirty="0"/>
          </a:p>
        </p:txBody>
      </p:sp>
      <p:sp>
        <p:nvSpPr>
          <p:cNvPr id="5" name="ts:canvas-title#lead/text"/>
          <p:cNvSpPr txBox="1"/>
          <p:nvPr/>
        </p:nvSpPr>
        <p:spPr>
          <a:xfrm>
            <a:off x="1043940" y="4051182"/>
            <a:ext cx="6883908" cy="5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3A3D44"/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The mark, the heading and this lead are objects; a text box grows, another</a:t>
            </a:r>
            <a:br/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3A3D44"/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shrinks, a shape holds padded text and an icon sits beside it.</a:t>
            </a:r>
            <a:endParaRPr lang="en-US" sz="1560" dirty="0"/>
          </a:p>
        </p:txBody>
      </p:sp>
      <p:sp>
        <p:nvSpPr>
          <p:cNvPr id="6" name="ts:canvas-title#grow/text"/>
          <p:cNvSpPr txBox="1"/>
          <p:nvPr/>
        </p:nvSpPr>
        <p:spPr>
          <a:xfrm>
            <a:off x="1043940" y="4842518"/>
            <a:ext cx="3980688" cy="457200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text box that resizes to fit its text</a:t>
            </a:r>
            <a:endParaRPr lang="en-US" sz="1320" dirty="0"/>
          </a:p>
        </p:txBody>
      </p:sp>
      <p:sp>
        <p:nvSpPr>
          <p:cNvPr id="7" name="ts:canvas-title#shrink/text"/>
          <p:cNvSpPr txBox="1"/>
          <p:nvPr/>
        </p:nvSpPr>
        <p:spPr>
          <a:xfrm>
            <a:off x="5334000" y="4841376"/>
            <a:ext cx="3218688" cy="609600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070707"/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A text box with shrink text on</a:t>
            </a:r>
            <a:br/>
            <a:pPr algn="l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070707"/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overflow: the copy is long</a:t>
            </a:r>
            <a:br/>
            <a:pPr algn="l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070707"/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enough at 26 px that the fit steps</a:t>
            </a:r>
            <a:br/>
            <a:pPr algn="l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070707"/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the size down the ladder to 24 or</a:t>
            </a:r>
            <a:br/>
            <a:pPr algn="l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070707"/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22 before it fits the box it was</a:t>
            </a:r>
            <a:br/>
            <a:pPr algn="l" indent="0" marL="0">
              <a:lnSpc>
                <a:spcPts val="2340"/>
              </a:lnSpc>
              <a:buNone/>
            </a:pPr>
            <a:r>
              <a:rPr lang="en-US" sz="1560" dirty="0">
                <a:solidFill>
                  <a:srgbClr val="070707"/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given.</a:t>
            </a:r>
            <a:endParaRPr lang="en-US" sz="1560" dirty="0"/>
          </a:p>
        </p:txBody>
      </p:sp>
      <p:sp>
        <p:nvSpPr>
          <p:cNvPr id="8" name="ts:canvas-tit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08 / 28</a:t>
            </a:r>
            <a:endParaRPr lang="en-US" sz="780" dirty="0"/>
          </a:p>
        </p:txBody>
      </p:sp>
      <p:pic>
        <p:nvPicPr>
          <p:cNvPr id="9" name="ts:canvas-title#mark:1" descr="mark (bloc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2194560"/>
            <a:ext cx="1005840" cy="640080"/>
          </a:xfrm>
          <a:prstGeom prst="rect">
            <a:avLst/>
          </a:prstGeom>
        </p:spPr>
      </p:pic>
      <p:pic>
        <p:nvPicPr>
          <p:cNvPr id="10" name="ts:canvas-title#icon:2" descr="icon (block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22021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canvas-opener#title" hidden="1"/>
          <p:cNvSpPr txBox="1">
            <a:spLocks noGrp="1"/>
          </p:cNvSpPr>
          <p:nvPr>
            <p:ph type="title"/>
          </p:nvPr>
        </p:nvSpPr>
        <p:spPr>
          <a:xfrm>
            <a:off x="1272540" y="4018331"/>
            <a:ext cx="5242560" cy="5815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432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Canvas</a:t>
            </a:r>
            <a:endParaRPr lang="en-US" sz="4320" dirty="0"/>
          </a:p>
        </p:txBody>
      </p:sp>
      <p:grpSp>
        <p:nvGrpSpPr>
          <p:cNvPr id="3" name="g:plate"/>
          <p:cNvGrpSpPr/>
          <p:nvPr/>
        </p:nvGrpSpPr>
        <p:grpSpPr>
          <a:xfrm>
            <a:off x="1043940" y="3855720"/>
            <a:ext cx="5638800" cy="2019300"/>
            <a:chOff x="1043940" y="3855720"/>
            <a:chExt cx="5638800" cy="2019300"/>
          </a:xfrm>
        </p:grpSpPr>
        <p:sp>
          <p:nvSpPr>
            <p:cNvPr id="4" name="ts:canvas-opener#plate@g:plate"/>
            <p:cNvSpPr/>
            <p:nvPr/>
          </p:nvSpPr>
          <p:spPr>
            <a:xfrm rot="180000">
              <a:off x="1043940" y="3855720"/>
              <a:ext cx="5638800" cy="2019300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5" name="ts:canvas-opener#big/text@g:plate"/>
            <p:cNvSpPr txBox="1"/>
            <p:nvPr/>
          </p:nvSpPr>
          <p:spPr>
            <a:xfrm rot="180000">
              <a:off x="1272540" y="4046311"/>
              <a:ext cx="5260848" cy="5815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579"/>
                </a:lnSpc>
                <a:buNone/>
              </a:pPr>
              <a:r>
                <a:rPr lang="en-US" sz="4320" spc="-108" dirty="0">
                  <a:solidFill>
                    <a:srgbClr val="070707"/>
                  </a:solidFill>
                  <a:latin typeface="GT Inter Display" pitchFamily="34" charset="0"/>
                  <a:ea typeface="GT Inter Display" pitchFamily="34" charset="-122"/>
                  <a:cs typeface="GT Inter Display" pitchFamily="34" charset="-120"/>
                </a:rPr>
                <a:t>Canvas</a:t>
              </a:r>
              <a:endParaRPr lang="en-US" sz="4320" dirty="0"/>
            </a:p>
          </p:txBody>
        </p:sp>
        <p:sp>
          <p:nvSpPr>
            <p:cNvPr id="6" name="ts:canvas-opener#p/text@g:plate"/>
            <p:cNvSpPr txBox="1"/>
            <p:nvPr/>
          </p:nvSpPr>
          <p:spPr>
            <a:xfrm rot="180000">
              <a:off x="1230630" y="4671068"/>
              <a:ext cx="5260848" cy="7543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070707"/>
                  </a:solidFill>
                  <a:latin typeface="GT Inter Text 22" pitchFamily="34" charset="0"/>
                  <a:ea typeface="GT Inter Text 22" pitchFamily="34" charset="-122"/>
                  <a:cs typeface="GT Inter Text 22" pitchFamily="34" charset="-120"/>
                </a:rPr>
                <a:t>A section header as a canvas: the photograph is the picture object at</a:t>
              </a:r>
              <a:br/>
              <a:pPr algn="l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070707"/>
                  </a:solidFill>
                  <a:latin typeface="GT Inter Text 22" pitchFamily="34" charset="0"/>
                  <a:ea typeface="GT Inter Text 22" pitchFamily="34" charset="-122"/>
                  <a:cs typeface="GT Inter Text 22" pitchFamily="34" charset="-120"/>
                </a:rPr>
                <a:t>the bottom of the stack, moved and trimmed; the plate group is</a:t>
              </a:r>
              <a:br/>
              <a:pPr algn="l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070707"/>
                  </a:solidFill>
                  <a:latin typeface="GT Inter Text 22" pitchFamily="34" charset="0"/>
                  <a:ea typeface="GT Inter Text 22" pitchFamily="34" charset="-122"/>
                  <a:cs typeface="GT Inter Text 22" pitchFamily="34" charset="-120"/>
                </a:rPr>
                <a:t>rotated 3 degrees.</a:t>
              </a:r>
              <a:endParaRPr lang="en-US" sz="1320" dirty="0"/>
            </a:p>
          </p:txBody>
        </p:sp>
        <p:sp>
          <p:nvSpPr>
            <p:cNvPr id="7" name="ts:canvas-opener#credit/text@g:plate"/>
            <p:cNvSpPr txBox="1"/>
            <p:nvPr/>
          </p:nvSpPr>
          <p:spPr>
            <a:xfrm rot="180000">
              <a:off x="1200150" y="5536924"/>
              <a:ext cx="5260848" cy="1657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305"/>
                </a:lnSpc>
                <a:buNone/>
              </a:pPr>
              <a:r>
                <a:rPr lang="en-US" sz="900" spc="9" dirty="0">
                  <a:solidFill>
                    <a:srgbClr val="8A8F98"/>
                  </a:solidFill>
                  <a:latin typeface="GT Inter Text 15" pitchFamily="34" charset="0"/>
                  <a:ea typeface="GT Inter Text 15" pitchFamily="34" charset="-122"/>
                  <a:cs typeface="GT Inter Text 15" pitchFamily="34" charset="-120"/>
                </a:rPr>
                <a:t>Picture: fixture geometry, drawn for this deck</a:t>
              </a:r>
              <a:endParaRPr lang="en-US" sz="900" dirty="0"/>
            </a:p>
          </p:txBody>
        </p:sp>
      </p:grpSp>
      <p:sp>
        <p:nvSpPr>
          <p:cNvPr id="8" name="ts:canvas-opener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09 / 28</a:t>
            </a:r>
            <a:endParaRPr lang="en-US" sz="780" dirty="0"/>
          </a:p>
        </p:txBody>
      </p:sp>
      <p:pic>
        <p:nvPicPr>
          <p:cNvPr id="9" name="ts:canvas-opener#picture:1" descr="picture (bloc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0"/>
            <a:ext cx="118872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tated and flipped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rotated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858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Rotated and flipped objects</a:t>
            </a:r>
            <a:endParaRPr lang="en-US" sz="2640" dirty="0"/>
          </a:p>
        </p:txBody>
      </p:sp>
      <p:sp>
        <p:nvSpPr>
          <p:cNvPr id="3" name="ts:rotated#arrow"/>
          <p:cNvSpPr/>
          <p:nvPr/>
        </p:nvSpPr>
        <p:spPr>
          <a:xfrm flipH="1">
            <a:off x="5795010" y="2289810"/>
            <a:ext cx="2430780" cy="906780"/>
          </a:xfrm>
          <a:prstGeom prst="rightArrow">
            <a:avLst/>
          </a:prstGeom>
          <a:solidFill>
            <a:srgbClr val="070707"/>
          </a:solidFill>
          <a:ln w="7620">
            <a:solidFill>
              <a:srgbClr val="070707"/>
            </a:solidFill>
            <a:prstDash val="solid"/>
          </a:ln>
        </p:spPr>
      </p:sp>
      <p:sp>
        <p:nvSpPr>
          <p:cNvPr id="4" name="ts:rotated#h/text"/>
          <p:cNvSpPr txBox="1"/>
          <p:nvPr/>
        </p:nvSpPr>
        <p:spPr>
          <a:xfrm>
            <a:off x="1043940" y="985278"/>
            <a:ext cx="6876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Rotated and flipped objects</a:t>
            </a:r>
            <a:endParaRPr lang="en-US" sz="2640" dirty="0"/>
          </a:p>
        </p:txBody>
      </p:sp>
      <p:sp>
        <p:nvSpPr>
          <p:cNvPr id="5" name="ts:rotated#tilted/text"/>
          <p:cNvSpPr txBox="1"/>
          <p:nvPr/>
        </p:nvSpPr>
        <p:spPr>
          <a:xfrm rot="2220000">
            <a:off x="1524000" y="2404118"/>
            <a:ext cx="3675888" cy="487680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text box rotated 37 degrees</a:t>
            </a:r>
            <a:endParaRPr lang="en-US" sz="1320" dirty="0"/>
          </a:p>
        </p:txBody>
      </p:sp>
      <p:sp>
        <p:nvSpPr>
          <p:cNvPr id="6" name="ts:rotated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10 / 28</a:t>
            </a:r>
            <a:endParaRPr lang="en-US" sz="780" dirty="0"/>
          </a:p>
        </p:txBody>
      </p:sp>
      <p:pic>
        <p:nvPicPr>
          <p:cNvPr id="7" name="ts:rotated#photo:1" descr="photo (bloc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900000">
            <a:off x="7620000" y="3657600"/>
            <a:ext cx="3048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group of 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grouped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858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A group of four objects</a:t>
            </a:r>
            <a:endParaRPr lang="en-US" sz="2640" dirty="0"/>
          </a:p>
        </p:txBody>
      </p:sp>
      <p:grpSp>
        <p:nvGrpSpPr>
          <p:cNvPr id="3" name="g:four"/>
          <p:cNvGrpSpPr/>
          <p:nvPr/>
        </p:nvGrpSpPr>
        <p:grpSpPr>
          <a:xfrm>
            <a:off x="1828800" y="2289810"/>
            <a:ext cx="6114288" cy="1851668"/>
            <a:chOff x="1828800" y="2289810"/>
            <a:chExt cx="6114288" cy="1851668"/>
          </a:xfrm>
        </p:grpSpPr>
        <p:sp>
          <p:nvSpPr>
            <p:cNvPr id="4" name="ts:grouped#s1@g:four"/>
            <p:cNvSpPr/>
            <p:nvPr/>
          </p:nvSpPr>
          <p:spPr>
            <a:xfrm>
              <a:off x="1832610" y="2289810"/>
              <a:ext cx="1821180" cy="1211580"/>
            </a:xfrm>
            <a:prstGeom prst="rect">
              <a:avLst/>
            </a:prstGeom>
            <a:ln w="7620">
              <a:solidFill>
                <a:srgbClr val="070707"/>
              </a:solidFill>
              <a:prstDash val="solid"/>
            </a:ln>
          </p:spPr>
        </p:sp>
        <p:sp>
          <p:nvSpPr>
            <p:cNvPr id="5" name="ts:grouped#s2@g:four"/>
            <p:cNvSpPr/>
            <p:nvPr/>
          </p:nvSpPr>
          <p:spPr>
            <a:xfrm>
              <a:off x="3966210" y="2289810"/>
              <a:ext cx="1821180" cy="1211580"/>
            </a:xfrm>
            <a:prstGeom prst="ellipse">
              <a:avLst/>
            </a:prstGeom>
            <a:ln w="7620">
              <a:solidFill>
                <a:srgbClr val="070707"/>
              </a:solidFill>
              <a:prstDash val="solid"/>
            </a:ln>
          </p:spPr>
        </p:sp>
        <p:sp>
          <p:nvSpPr>
            <p:cNvPr id="6" name="ts:grouped#s3@g:four"/>
            <p:cNvSpPr/>
            <p:nvPr/>
          </p:nvSpPr>
          <p:spPr>
            <a:xfrm>
              <a:off x="6099810" y="2289810"/>
              <a:ext cx="1821180" cy="1211580"/>
            </a:xfrm>
            <a:prstGeom prst="triangle">
              <a:avLst/>
            </a:prstGeom>
            <a:ln w="7620">
              <a:solidFill>
                <a:srgbClr val="070707"/>
              </a:solidFill>
              <a:prstDash val="solid"/>
            </a:ln>
          </p:spPr>
        </p:sp>
        <p:sp>
          <p:nvSpPr>
            <p:cNvPr id="7" name="ts:grouped#label/text@g:four"/>
            <p:cNvSpPr txBox="1"/>
            <p:nvPr/>
          </p:nvSpPr>
          <p:spPr>
            <a:xfrm>
              <a:off x="1828800" y="3775718"/>
              <a:ext cx="6114288" cy="365760"/>
            </a:xfrm>
            <a:prstGeom prst="rect">
              <a:avLst/>
            </a:prstGeom>
            <a:noFill/>
            <a:ln/>
          </p:spPr>
          <p:txBody>
            <a:bodyPr wrap="square" lIns="121920" tIns="121920" rIns="121920" bIns="121920" rtlCol="0" anchor="t"/>
            <a:lstStyle/>
            <a:p>
              <a:pPr algn="l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070707"/>
                  </a:solidFill>
                  <a:latin typeface="GT Inter Text 22" pitchFamily="34" charset="0"/>
                  <a:ea typeface="GT Inter Text 22" pitchFamily="34" charset="-122"/>
                  <a:cs typeface="GT Inter Text 22" pitchFamily="34" charset="-120"/>
                </a:rPr>
                <a:t>One group tag on three shapes and this text box</a:t>
              </a:r>
              <a:endParaRPr lang="en-US" sz="1320" dirty="0"/>
            </a:p>
          </p:txBody>
        </p:sp>
      </p:grpSp>
      <p:sp>
        <p:nvSpPr>
          <p:cNvPr id="8" name="ts:grouped#h/text"/>
          <p:cNvSpPr txBox="1"/>
          <p:nvPr/>
        </p:nvSpPr>
        <p:spPr>
          <a:xfrm>
            <a:off x="1043940" y="985278"/>
            <a:ext cx="6876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group of four objects</a:t>
            </a:r>
            <a:endParaRPr lang="en-US" sz="2640" dirty="0"/>
          </a:p>
        </p:txBody>
      </p:sp>
      <p:sp>
        <p:nvSpPr>
          <p:cNvPr id="9" name="ts:grouped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11 / 28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hape pres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shape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858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Shape presets</a:t>
            </a:r>
            <a:endParaRPr lang="en-US" sz="2640" dirty="0"/>
          </a:p>
        </p:txBody>
      </p:sp>
      <p:sp>
        <p:nvSpPr>
          <p:cNvPr id="3" name="ts:shapes#hex"/>
          <p:cNvSpPr/>
          <p:nvPr/>
        </p:nvSpPr>
        <p:spPr>
          <a:xfrm>
            <a:off x="1047750" y="1985010"/>
            <a:ext cx="2278380" cy="1668780"/>
          </a:xfrm>
          <a:prstGeom prst="hexagon">
            <a:avLst/>
          </a:prstGeom>
          <a:ln w="7620">
            <a:solidFill>
              <a:srgbClr val="070707"/>
            </a:solidFill>
          </a:ln>
        </p:spPr>
        <p:txBody>
          <a:bodyPr wrap="square" lIns="326365" tIns="203995" rIns="326441" bIns="272712" rtlCol="0" anchor="ctr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Hexagon</a:t>
            </a:r>
            <a:endParaRPr lang="en-US" sz="1320" dirty="0"/>
          </a:p>
        </p:txBody>
      </p:sp>
      <p:sp>
        <p:nvSpPr>
          <p:cNvPr id="4" name="ts:shapes#right"/>
          <p:cNvSpPr/>
          <p:nvPr/>
        </p:nvSpPr>
        <p:spPr>
          <a:xfrm>
            <a:off x="3638550" y="2289810"/>
            <a:ext cx="2278380" cy="1059180"/>
          </a:xfrm>
          <a:prstGeom prst="rightArrow">
            <a:avLst/>
          </a:prstGeom>
          <a:solidFill>
            <a:srgbClr val="F6F6F6"/>
          </a:solidFill>
          <a:ln w="7620">
            <a:solidFill>
              <a:srgbClr val="070707"/>
            </a:solidFill>
          </a:ln>
        </p:spPr>
        <p:txBody>
          <a:bodyPr wrap="square" lIns="0" tIns="228608" rIns="262890" bIns="297172" rtlCol="0" anchor="ctr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Right arrow</a:t>
            </a:r>
            <a:endParaRPr lang="en-US" sz="1320" dirty="0"/>
          </a:p>
        </p:txBody>
      </p:sp>
      <p:sp>
        <p:nvSpPr>
          <p:cNvPr id="5" name="ts:shapes#callout"/>
          <p:cNvSpPr/>
          <p:nvPr/>
        </p:nvSpPr>
        <p:spPr>
          <a:xfrm>
            <a:off x="6229350" y="1985010"/>
            <a:ext cx="2583180" cy="1363980"/>
          </a:xfrm>
          <a:prstGeom prst="wedgeRectCallout">
            <a:avLst>
              <a:gd name="adj1" fmla="val -30000"/>
              <a:gd name="adj2" fmla="val 70000"/>
            </a:avLst>
          </a:prstGeom>
          <a:ln w="7620">
            <a:solidFill>
              <a:srgbClr val="070707"/>
            </a:solidFill>
          </a:ln>
        </p:spPr>
        <p:txBody>
          <a:bodyPr wrap="square" lIns="121920" tIns="87638" rIns="121920" bIns="156202" rtlCol="0" anchor="ctr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callout with its wedge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moved</a:t>
            </a:r>
            <a:endParaRPr lang="en-US" sz="1320" dirty="0"/>
          </a:p>
        </p:txBody>
      </p:sp>
      <p:sp>
        <p:nvSpPr>
          <p:cNvPr id="6" name="ts:shapes#plus"/>
          <p:cNvSpPr/>
          <p:nvPr/>
        </p:nvSpPr>
        <p:spPr>
          <a:xfrm>
            <a:off x="9124950" y="1985010"/>
            <a:ext cx="1668780" cy="1668780"/>
          </a:xfrm>
          <a:prstGeom prst="mathPlus">
            <a:avLst/>
          </a:prstGeom>
          <a:solidFill>
            <a:srgbClr val="070707"/>
          </a:solidFill>
          <a:ln w="7620">
            <a:solidFill>
              <a:srgbClr val="070707"/>
            </a:solidFill>
            <a:prstDash val="solid"/>
          </a:ln>
        </p:spPr>
      </p:sp>
      <p:sp>
        <p:nvSpPr>
          <p:cNvPr id="7" name="ts:shapes#snip"/>
          <p:cNvSpPr/>
          <p:nvPr/>
        </p:nvSpPr>
        <p:spPr>
          <a:xfrm>
            <a:off x="1047750" y="4118610"/>
            <a:ext cx="3192780" cy="1363980"/>
          </a:xfrm>
          <a:prstGeom prst="snip1Rect">
            <a:avLst/>
          </a:prstGeom>
          <a:ln w="7620">
            <a:solidFill>
              <a:srgbClr val="070707"/>
            </a:solidFill>
          </a:ln>
        </p:spPr>
        <p:txBody>
          <a:bodyPr wrap="square" lIns="121920" tIns="198128" rIns="232410" bIns="156202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Snipped corner</a:t>
            </a:r>
            <a:endParaRPr lang="en-US" sz="1320" dirty="0"/>
          </a:p>
        </p:txBody>
      </p:sp>
      <p:sp>
        <p:nvSpPr>
          <p:cNvPr id="8" name="ts:shapes#dashed"/>
          <p:cNvSpPr/>
          <p:nvPr/>
        </p:nvSpPr>
        <p:spPr>
          <a:xfrm>
            <a:off x="4709160" y="4122420"/>
            <a:ext cx="3185160" cy="1356360"/>
          </a:xfrm>
          <a:prstGeom prst="ellipse">
            <a:avLst/>
          </a:prstGeom>
          <a:ln w="15240">
            <a:solidFill>
              <a:srgbClr val="070707"/>
            </a:solidFill>
            <a:prstDash val="dash"/>
          </a:ln>
        </p:spPr>
      </p:sp>
      <p:sp>
        <p:nvSpPr>
          <p:cNvPr id="9" name="ts:shapes#h/text"/>
          <p:cNvSpPr txBox="1"/>
          <p:nvPr/>
        </p:nvSpPr>
        <p:spPr>
          <a:xfrm>
            <a:off x="1043940" y="985278"/>
            <a:ext cx="6876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Shape presets</a:t>
            </a:r>
            <a:endParaRPr lang="en-US" sz="2640" dirty="0"/>
          </a:p>
        </p:txBody>
      </p:sp>
      <p:sp>
        <p:nvSpPr>
          <p:cNvPr id="10" name="ts:shape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12 / 28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nes and connect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line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858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Lines and connectors</a:t>
            </a:r>
            <a:endParaRPr lang="en-US" sz="2640" dirty="0"/>
          </a:p>
        </p:txBody>
      </p:sp>
      <p:sp>
        <p:nvSpPr>
          <p:cNvPr id="3" name="ts:lines#a"/>
          <p:cNvSpPr/>
          <p:nvPr/>
        </p:nvSpPr>
        <p:spPr>
          <a:xfrm>
            <a:off x="1047750" y="2289810"/>
            <a:ext cx="1821180" cy="906780"/>
          </a:xfrm>
          <a:prstGeom prst="rect">
            <a:avLst/>
          </a:prstGeom>
          <a:ln w="7620">
            <a:solidFill>
              <a:srgbClr val="070707"/>
            </a:solidFill>
          </a:ln>
        </p:spPr>
        <p:txBody>
          <a:bodyPr wrap="square" lIns="0" tIns="0" rIns="0" bIns="34282" rtlCol="0" anchor="ctr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</a:t>
            </a:r>
            <a:endParaRPr lang="en-US" sz="1320" dirty="0"/>
          </a:p>
        </p:txBody>
      </p:sp>
      <p:sp>
        <p:nvSpPr>
          <p:cNvPr id="4" name="ts:lines#b"/>
          <p:cNvSpPr/>
          <p:nvPr/>
        </p:nvSpPr>
        <p:spPr>
          <a:xfrm>
            <a:off x="5337810" y="3813810"/>
            <a:ext cx="1821180" cy="906780"/>
          </a:xfrm>
          <a:prstGeom prst="rect">
            <a:avLst/>
          </a:prstGeom>
          <a:ln w="7620">
            <a:solidFill>
              <a:srgbClr val="070707"/>
            </a:solidFill>
          </a:ln>
        </p:spPr>
        <p:txBody>
          <a:bodyPr wrap="square" lIns="0" tIns="0" rIns="0" bIns="34282" rtlCol="0" anchor="ctr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B</a:t>
            </a:r>
            <a:endParaRPr lang="en-US" sz="1320" dirty="0"/>
          </a:p>
        </p:txBody>
      </p:sp>
      <p:sp>
        <p:nvSpPr>
          <p:cNvPr id="5" name="ts:lines#decorated"/>
          <p:cNvSpPr/>
          <p:nvPr/>
        </p:nvSpPr>
        <p:spPr>
          <a:xfrm>
            <a:off x="1043940" y="1828800"/>
            <a:ext cx="4572000" cy="0"/>
          </a:xfrm>
          <a:prstGeom prst="line">
            <a:avLst/>
          </a:prstGeom>
          <a:noFill/>
          <a:ln w="15240">
            <a:solidFill>
              <a:srgbClr val="070707"/>
            </a:solidFill>
            <a:prstDash val="solid"/>
            <a:headEnd type="oval"/>
            <a:tailEnd type="stealth"/>
          </a:ln>
        </p:spPr>
      </p:sp>
      <p:cxnSp>
        <p:nvCxnSpPr>
          <p:cNvPr id="6" name="ts:lines#elbow"/>
          <p:cNvCxnSpPr>
            <a:stCxn id="3" idx="3"/>
            <a:endCxn id="4" idx="1"/>
          </p:cNvCxnSpPr>
          <p:nvPr/>
        </p:nvCxnSpPr>
        <p:spPr>
          <a:xfrm>
            <a:off x="2876550" y="2747010"/>
            <a:ext cx="2453640" cy="1516380"/>
          </a:xfrm>
          <a:prstGeom prst="bentConnector3">
            <a:avLst/>
          </a:prstGeom>
          <a:ln w="7620">
            <a:solidFill>
              <a:srgbClr val="070707"/>
            </a:solidFill>
            <a:prstDash val="solid"/>
            <a:tailEnd type="triangle"/>
          </a:ln>
        </p:spPr>
      </p:cxnSp>
      <p:sp>
        <p:nvSpPr>
          <p:cNvPr id="7" name="ts:lines#curved"/>
          <p:cNvSpPr/>
          <p:nvPr/>
        </p:nvSpPr>
        <p:spPr>
          <a:xfrm flipV="1">
            <a:off x="7623810" y="2289810"/>
            <a:ext cx="2430780" cy="1516380"/>
          </a:xfrm>
          <a:prstGeom prst="curvedConnector3">
            <a:avLst/>
          </a:prstGeom>
          <a:ln w="7620">
            <a:solidFill>
              <a:srgbClr val="070707"/>
            </a:solidFill>
            <a:prstDash val="solid"/>
            <a:tailEnd type="arrow"/>
          </a:ln>
        </p:spPr>
      </p:sp>
      <p:sp>
        <p:nvSpPr>
          <p:cNvPr id="8" name="ts:lines#poly"/>
          <p:cNvSpPr/>
          <p:nvPr/>
        </p:nvSpPr>
        <p:spPr>
          <a:xfrm>
            <a:off x="7627620" y="4274820"/>
            <a:ext cx="2426970" cy="902970"/>
          </a:xfrm>
          <a:custGeom>
            <a:avLst/>
            <a:gdLst/>
            <a:ahLst/>
            <a:cxnLst/>
            <a:rect l="l" t="t" r="r" b="b"/>
            <a:pathLst>
              <a:path w="2426970" h="902970">
                <a:moveTo>
                  <a:pt x="0" y="0"/>
                </a:moveTo>
                <a:lnTo>
                  <a:pt x="727710" y="902970"/>
                </a:lnTo>
                <a:lnTo>
                  <a:pt x="1455420" y="179070"/>
                </a:lnTo>
                <a:lnTo>
                  <a:pt x="2426970" y="902970"/>
                </a:lnTo>
              </a:path>
            </a:pathLst>
          </a:custGeom>
          <a:ln w="11430">
            <a:solidFill>
              <a:srgbClr val="070707"/>
            </a:solidFill>
            <a:prstDash val="solid"/>
          </a:ln>
        </p:spPr>
      </p:sp>
      <p:sp>
        <p:nvSpPr>
          <p:cNvPr id="9" name="ts:lines#closed"/>
          <p:cNvSpPr/>
          <p:nvPr/>
        </p:nvSpPr>
        <p:spPr>
          <a:xfrm>
            <a:off x="1125220" y="4145280"/>
            <a:ext cx="2239010" cy="1718310"/>
          </a:xfrm>
          <a:custGeom>
            <a:avLst/>
            <a:gdLst/>
            <a:ahLst/>
            <a:cxnLst/>
            <a:rect l="l" t="t" r="r" b="b"/>
            <a:pathLst>
              <a:path w="2239010" h="1718310">
                <a:moveTo>
                  <a:pt x="151130" y="1489710"/>
                </a:moveTo>
                <a:cubicBezTo>
                  <a:pt x="0" y="1262380"/>
                  <a:pt x="152400" y="505460"/>
                  <a:pt x="379730" y="278130"/>
                </a:cubicBezTo>
                <a:cubicBezTo>
                  <a:pt x="607060" y="50800"/>
                  <a:pt x="1211580" y="0"/>
                  <a:pt x="1515110" y="125730"/>
                </a:cubicBezTo>
                <a:cubicBezTo>
                  <a:pt x="1818640" y="251460"/>
                  <a:pt x="2239010" y="779780"/>
                  <a:pt x="2200910" y="1032510"/>
                </a:cubicBezTo>
                <a:cubicBezTo>
                  <a:pt x="2162810" y="1285240"/>
                  <a:pt x="1628140" y="1565910"/>
                  <a:pt x="1286510" y="1642110"/>
                </a:cubicBezTo>
                <a:cubicBezTo>
                  <a:pt x="944880" y="1718310"/>
                  <a:pt x="302260" y="1717040"/>
                  <a:pt x="151130" y="1489710"/>
                </a:cubicBezTo>
                <a:close/>
              </a:path>
            </a:pathLst>
          </a:custGeom>
          <a:solidFill>
            <a:srgbClr val="F6F6F6"/>
          </a:solidFill>
          <a:ln w="7620">
            <a:solidFill>
              <a:srgbClr val="070707"/>
            </a:solidFill>
            <a:prstDash val="solid"/>
          </a:ln>
        </p:spPr>
      </p:sp>
      <p:sp>
        <p:nvSpPr>
          <p:cNvPr id="10" name="ts:lines#scribble"/>
          <p:cNvSpPr/>
          <p:nvPr/>
        </p:nvSpPr>
        <p:spPr>
          <a:xfrm>
            <a:off x="3638550" y="4545330"/>
            <a:ext cx="3345180" cy="967740"/>
          </a:xfrm>
          <a:custGeom>
            <a:avLst/>
            <a:gdLst/>
            <a:ahLst/>
            <a:cxnLst/>
            <a:rect l="l" t="t" r="r" b="b"/>
            <a:pathLst>
              <a:path w="3345180" h="967740">
                <a:moveTo>
                  <a:pt x="0" y="487680"/>
                </a:moveTo>
                <a:lnTo>
                  <a:pt x="335280" y="121920"/>
                </a:lnTo>
                <a:lnTo>
                  <a:pt x="670560" y="845820"/>
                </a:lnTo>
                <a:lnTo>
                  <a:pt x="1173480" y="0"/>
                </a:lnTo>
                <a:lnTo>
                  <a:pt x="1676400" y="967740"/>
                </a:lnTo>
                <a:lnTo>
                  <a:pt x="2171700" y="243840"/>
                </a:lnTo>
                <a:lnTo>
                  <a:pt x="2674620" y="723900"/>
                </a:lnTo>
                <a:lnTo>
                  <a:pt x="3345180" y="365760"/>
                </a:lnTo>
              </a:path>
            </a:pathLst>
          </a:custGeom>
          <a:ln w="7620">
            <a:solidFill>
              <a:srgbClr val="070707"/>
            </a:solidFill>
            <a:prstDash val="solid"/>
          </a:ln>
        </p:spPr>
      </p:sp>
      <p:sp>
        <p:nvSpPr>
          <p:cNvPr id="11" name="ts:lines#h/text"/>
          <p:cNvSpPr txBox="1"/>
          <p:nvPr/>
        </p:nvSpPr>
        <p:spPr>
          <a:xfrm>
            <a:off x="1043940" y="985278"/>
            <a:ext cx="6876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Lines and connectors</a:t>
            </a:r>
            <a:endParaRPr lang="en-US" sz="2640" dirty="0"/>
          </a:p>
        </p:txBody>
      </p:sp>
      <p:sp>
        <p:nvSpPr>
          <p:cNvPr id="12" name="ts:line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13 / 28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d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word-art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858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Word art</a:t>
            </a:r>
            <a:endParaRPr lang="en-US" sz="2640" dirty="0"/>
          </a:p>
        </p:txBody>
      </p:sp>
      <p:sp>
        <p:nvSpPr>
          <p:cNvPr id="3" name="ts:word-art#h/text"/>
          <p:cNvSpPr txBox="1"/>
          <p:nvPr/>
        </p:nvSpPr>
        <p:spPr>
          <a:xfrm>
            <a:off x="1043940" y="985278"/>
            <a:ext cx="6876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Word art</a:t>
            </a:r>
            <a:endParaRPr lang="en-US" sz="2640" dirty="0"/>
          </a:p>
        </p:txBody>
      </p:sp>
      <p:sp>
        <p:nvSpPr>
          <p:cNvPr id="4" name="ts:word-art#art/text"/>
          <p:cNvSpPr txBox="1"/>
          <p:nvPr/>
        </p:nvSpPr>
        <p:spPr>
          <a:xfrm>
            <a:off x="1043940" y="2384176"/>
            <a:ext cx="101224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920"/>
              </a:lnSpc>
              <a:buNone/>
            </a:pPr>
            <a:r>
              <a:rPr lang="en-US" sz="5280" dirty="0">
                <a:ln w="15240">
                  <a:solidFill>
                    <a:srgbClr val="070707"/>
                  </a:solidFill>
                </a:ln>
                <a:solidFill>
                  <a:srgbClr val="FFFFFF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Outlined at 88</a:t>
            </a:r>
            <a:endParaRPr lang="en-US" sz="5280" dirty="0"/>
          </a:p>
        </p:txBody>
      </p:sp>
      <p:sp>
        <p:nvSpPr>
          <p:cNvPr id="5" name="ts:word-art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14 / 28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op shad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shadow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858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Drop shadows</a:t>
            </a:r>
            <a:endParaRPr lang="en-US" sz="2640" dirty="0"/>
          </a:p>
        </p:txBody>
      </p:sp>
      <p:sp>
        <p:nvSpPr>
          <p:cNvPr id="3" name="ts:shadow#box"/>
          <p:cNvSpPr/>
          <p:nvPr/>
        </p:nvSpPr>
        <p:spPr>
          <a:xfrm>
            <a:off x="1047750" y="2289810"/>
            <a:ext cx="3040380" cy="1516380"/>
          </a:xfrm>
          <a:prstGeom prst="rect">
            <a:avLst/>
          </a:prstGeom>
          <a:solidFill>
            <a:srgbClr val="FFFFFF"/>
          </a:solidFill>
          <a:ln w="7620">
            <a:solidFill>
              <a:srgbClr val="D2D2D2"/>
            </a:solidFill>
            <a:prstDash val="solid"/>
          </a:ln>
          <a:effectLst>
            <a:outerShdw sx="100000" sy="100000" kx="0" ky="0" algn="bl" rotWithShape="0" blurRad="91440" dist="60960" dir="2700000">
              <a:srgbClr val="070707">
                <a:alpha val="30000"/>
              </a:srgbClr>
            </a:outerShdw>
          </a:effectLst>
        </p:spPr>
      </p:sp>
      <p:sp>
        <p:nvSpPr>
          <p:cNvPr id="4" name="ts:shadow#shape"/>
          <p:cNvSpPr/>
          <p:nvPr/>
        </p:nvSpPr>
        <p:spPr>
          <a:xfrm>
            <a:off x="4575810" y="2289810"/>
            <a:ext cx="3040380" cy="1516380"/>
          </a:xfrm>
          <a:prstGeom prst="ellipse">
            <a:avLst/>
          </a:prstGeom>
          <a:solidFill>
            <a:srgbClr val="F6F6F6"/>
          </a:solidFill>
          <a:ln w="7620">
            <a:solidFill>
              <a:srgbClr val="070707"/>
            </a:solidFill>
            <a:prstDash val="solid"/>
          </a:ln>
          <a:effectLst>
            <a:outerShdw sx="100000" sy="100000" kx="0" ky="0" algn="bl" rotWithShape="0" blurRad="152400" dist="91440" dir="5400000">
              <a:srgbClr val="070707">
                <a:alpha val="30000"/>
              </a:srgbClr>
            </a:outerShdw>
          </a:effectLst>
        </p:spPr>
      </p:sp>
      <p:sp>
        <p:nvSpPr>
          <p:cNvPr id="5" name="ts:shadow#h/text"/>
          <p:cNvSpPr txBox="1"/>
          <p:nvPr/>
        </p:nvSpPr>
        <p:spPr>
          <a:xfrm>
            <a:off x="1043940" y="985278"/>
            <a:ext cx="6876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Drop shadows</a:t>
            </a:r>
            <a:endParaRPr lang="en-US" sz="2640" dirty="0"/>
          </a:p>
        </p:txBody>
      </p:sp>
      <p:sp>
        <p:nvSpPr>
          <p:cNvPr id="6" name="ts:shadow#box/text"/>
          <p:cNvSpPr txBox="1"/>
          <p:nvPr/>
        </p:nvSpPr>
        <p:spPr>
          <a:xfrm>
            <a:off x="1173480" y="2377448"/>
            <a:ext cx="2807208" cy="251460"/>
          </a:xfrm>
          <a:prstGeom prst="rect">
            <a:avLst/>
          </a:prstGeom>
          <a:noFill/>
          <a:ln/>
          <a:effectLst>
            <a:outerShdw sx="100000" sy="100000" kx="0" ky="0" algn="bl" rotWithShape="0" blurRad="91440" dist="60960" dir="2700000">
              <a:srgbClr val="070707">
                <a:alpha val="3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box with the default shadow</a:t>
            </a:r>
            <a:endParaRPr lang="en-US" sz="1320" dirty="0"/>
          </a:p>
        </p:txBody>
      </p:sp>
      <p:sp>
        <p:nvSpPr>
          <p:cNvPr id="7" name="ts:shadow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15 / 28</a:t>
            </a:r>
            <a:endParaRPr lang="en-US" sz="780" dirty="0"/>
          </a:p>
        </p:txBody>
      </p:sp>
      <p:pic>
        <p:nvPicPr>
          <p:cNvPr id="8" name="ts:shadow#photo:1" descr="photo (bloc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0060" y="2286000"/>
            <a:ext cx="3048000" cy="1714500"/>
          </a:xfrm>
          <a:prstGeom prst="rect">
            <a:avLst/>
          </a:prstGeom>
          <a:effectLst>
            <a:outerShdw sx="100000" sy="100000" kx="0" ky="0" algn="bl" rotWithShape="0" blurRad="91440" dist="60960" dir="2700000">
              <a:srgbClr val="070707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plate background"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background-color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A plate background</a:t>
            </a:r>
            <a:endParaRPr lang="en-US" sz="2640" dirty="0"/>
          </a:p>
        </p:txBody>
      </p:sp>
      <p:sp>
        <p:nvSpPr>
          <p:cNvPr id="3" name="ts:background-color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plate background</a:t>
            </a:r>
            <a:endParaRPr lang="en-US" sz="2640" dirty="0"/>
          </a:p>
        </p:txBody>
      </p:sp>
      <p:sp>
        <p:nvSpPr>
          <p:cNvPr id="4" name="ts:background-color#p1/text"/>
          <p:cNvSpPr txBox="1"/>
          <p:nvPr/>
        </p:nvSpPr>
        <p:spPr>
          <a:xfrm>
            <a:off x="1043940" y="1618419"/>
            <a:ext cx="586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This slide carries background.color plate; the Editable text export writes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colour as the slide background.</a:t>
            </a:r>
            <a:endParaRPr lang="en-US" sz="1320" dirty="0"/>
          </a:p>
        </p:txBody>
      </p:sp>
      <p:sp>
        <p:nvSpPr>
          <p:cNvPr id="5" name="ts:background-color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16 / 28</a:t>
            </a:r>
            <a:endParaRPr lang="en-US" sz="7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picture behind a 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background-picture#title" hidden="1"/>
          <p:cNvSpPr txBox="1">
            <a:spLocks noGrp="1"/>
          </p:cNvSpPr>
          <p:nvPr>
            <p:ph type="title"/>
          </p:nvPr>
        </p:nvSpPr>
        <p:spPr>
          <a:xfrm>
            <a:off x="1043940" y="3193694"/>
            <a:ext cx="6865620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A picture behind a title</a:t>
            </a:r>
            <a:endParaRPr lang="en-US" sz="5280" dirty="0"/>
          </a:p>
        </p:txBody>
      </p:sp>
      <p:sp>
        <p:nvSpPr>
          <p:cNvPr id="3" name="ts:background-picture#frame/0"/>
          <p:cNvSpPr/>
          <p:nvPr/>
        </p:nvSpPr>
        <p:spPr>
          <a:xfrm>
            <a:off x="430530" y="0"/>
            <a:ext cx="0" cy="6858000"/>
          </a:xfrm>
          <a:prstGeom prst="line">
            <a:avLst/>
          </a:prstGeom>
          <a:noFill/>
          <a:ln w="7620">
            <a:solidFill>
              <a:srgbClr val="070707">
                <a:alpha val="18000"/>
              </a:srgbClr>
            </a:solidFill>
            <a:prstDash val="solid"/>
          </a:ln>
        </p:spPr>
      </p:sp>
      <p:sp>
        <p:nvSpPr>
          <p:cNvPr id="4" name="ts:background-picture#frame/1"/>
          <p:cNvSpPr/>
          <p:nvPr/>
        </p:nvSpPr>
        <p:spPr>
          <a:xfrm>
            <a:off x="11761470" y="0"/>
            <a:ext cx="0" cy="6858000"/>
          </a:xfrm>
          <a:prstGeom prst="line">
            <a:avLst/>
          </a:prstGeom>
          <a:noFill/>
          <a:ln w="7620">
            <a:solidFill>
              <a:srgbClr val="070707">
                <a:alpha val="18000"/>
              </a:srgbClr>
            </a:solidFill>
            <a:prstDash val="solid"/>
          </a:ln>
        </p:spPr>
      </p:sp>
      <p:sp>
        <p:nvSpPr>
          <p:cNvPr id="5" name="ts:background-picture#frame/2"/>
          <p:cNvSpPr/>
          <p:nvPr/>
        </p:nvSpPr>
        <p:spPr>
          <a:xfrm>
            <a:off x="0" y="430530"/>
            <a:ext cx="12192000" cy="0"/>
          </a:xfrm>
          <a:prstGeom prst="line">
            <a:avLst/>
          </a:prstGeom>
          <a:noFill/>
          <a:ln w="7620">
            <a:solidFill>
              <a:srgbClr val="070707">
                <a:alpha val="18000"/>
              </a:srgbClr>
            </a:solidFill>
            <a:prstDash val="solid"/>
          </a:ln>
        </p:spPr>
      </p:sp>
      <p:sp>
        <p:nvSpPr>
          <p:cNvPr id="6" name="ts:background-picture#frame/3"/>
          <p:cNvSpPr/>
          <p:nvPr/>
        </p:nvSpPr>
        <p:spPr>
          <a:xfrm>
            <a:off x="0" y="6427470"/>
            <a:ext cx="12192000" cy="0"/>
          </a:xfrm>
          <a:prstGeom prst="line">
            <a:avLst/>
          </a:prstGeom>
          <a:noFill/>
          <a:ln w="7620">
            <a:solidFill>
              <a:srgbClr val="070707">
                <a:alpha val="18000"/>
              </a:srgbClr>
            </a:solidFill>
            <a:prstDash val="solid"/>
          </a:ln>
        </p:spPr>
      </p:sp>
      <p:sp>
        <p:nvSpPr>
          <p:cNvPr id="7" name="ts:background-picture#cross/0/v"/>
          <p:cNvSpPr/>
          <p:nvPr/>
        </p:nvSpPr>
        <p:spPr>
          <a:xfrm>
            <a:off x="430530" y="388620"/>
            <a:ext cx="0" cy="83820"/>
          </a:xfrm>
          <a:prstGeom prst="line">
            <a:avLst/>
          </a:prstGeom>
          <a:noFill/>
          <a:ln w="7620">
            <a:solidFill>
              <a:srgbClr val="070707">
                <a:alpha val="38000"/>
              </a:srgbClr>
            </a:solidFill>
            <a:prstDash val="solid"/>
          </a:ln>
        </p:spPr>
      </p:sp>
      <p:sp>
        <p:nvSpPr>
          <p:cNvPr id="8" name="ts:background-picture#cross/0/h"/>
          <p:cNvSpPr/>
          <p:nvPr/>
        </p:nvSpPr>
        <p:spPr>
          <a:xfrm>
            <a:off x="388620" y="430530"/>
            <a:ext cx="83820" cy="0"/>
          </a:xfrm>
          <a:prstGeom prst="line">
            <a:avLst/>
          </a:prstGeom>
          <a:noFill/>
          <a:ln w="7620">
            <a:solidFill>
              <a:srgbClr val="070707">
                <a:alpha val="38000"/>
              </a:srgbClr>
            </a:solidFill>
            <a:prstDash val="solid"/>
          </a:ln>
        </p:spPr>
      </p:sp>
      <p:sp>
        <p:nvSpPr>
          <p:cNvPr id="9" name="ts:background-picture#cross/1/v"/>
          <p:cNvSpPr/>
          <p:nvPr/>
        </p:nvSpPr>
        <p:spPr>
          <a:xfrm>
            <a:off x="11761470" y="388620"/>
            <a:ext cx="0" cy="83820"/>
          </a:xfrm>
          <a:prstGeom prst="line">
            <a:avLst/>
          </a:prstGeom>
          <a:noFill/>
          <a:ln w="7620">
            <a:solidFill>
              <a:srgbClr val="070707">
                <a:alpha val="38000"/>
              </a:srgbClr>
            </a:solidFill>
            <a:prstDash val="solid"/>
          </a:ln>
        </p:spPr>
      </p:sp>
      <p:sp>
        <p:nvSpPr>
          <p:cNvPr id="10" name="ts:background-picture#cross/1/h"/>
          <p:cNvSpPr/>
          <p:nvPr/>
        </p:nvSpPr>
        <p:spPr>
          <a:xfrm>
            <a:off x="11719560" y="430530"/>
            <a:ext cx="83820" cy="0"/>
          </a:xfrm>
          <a:prstGeom prst="line">
            <a:avLst/>
          </a:prstGeom>
          <a:noFill/>
          <a:ln w="7620">
            <a:solidFill>
              <a:srgbClr val="070707">
                <a:alpha val="38000"/>
              </a:srgbClr>
            </a:solidFill>
            <a:prstDash val="solid"/>
          </a:ln>
        </p:spPr>
      </p:sp>
      <p:sp>
        <p:nvSpPr>
          <p:cNvPr id="11" name="ts:background-picture#cross/2/v"/>
          <p:cNvSpPr/>
          <p:nvPr/>
        </p:nvSpPr>
        <p:spPr>
          <a:xfrm>
            <a:off x="430530" y="6385560"/>
            <a:ext cx="0" cy="83820"/>
          </a:xfrm>
          <a:prstGeom prst="line">
            <a:avLst/>
          </a:prstGeom>
          <a:noFill/>
          <a:ln w="7620">
            <a:solidFill>
              <a:srgbClr val="070707">
                <a:alpha val="38000"/>
              </a:srgbClr>
            </a:solidFill>
            <a:prstDash val="solid"/>
          </a:ln>
        </p:spPr>
      </p:sp>
      <p:sp>
        <p:nvSpPr>
          <p:cNvPr id="12" name="ts:background-picture#cross/2/h"/>
          <p:cNvSpPr/>
          <p:nvPr/>
        </p:nvSpPr>
        <p:spPr>
          <a:xfrm>
            <a:off x="388620" y="6427470"/>
            <a:ext cx="83820" cy="0"/>
          </a:xfrm>
          <a:prstGeom prst="line">
            <a:avLst/>
          </a:prstGeom>
          <a:noFill/>
          <a:ln w="7620">
            <a:solidFill>
              <a:srgbClr val="070707">
                <a:alpha val="38000"/>
              </a:srgbClr>
            </a:solidFill>
            <a:prstDash val="solid"/>
          </a:ln>
        </p:spPr>
      </p:sp>
      <p:sp>
        <p:nvSpPr>
          <p:cNvPr id="13" name="ts:background-picture#cross/3/v"/>
          <p:cNvSpPr/>
          <p:nvPr/>
        </p:nvSpPr>
        <p:spPr>
          <a:xfrm>
            <a:off x="11761470" y="6385560"/>
            <a:ext cx="0" cy="83820"/>
          </a:xfrm>
          <a:prstGeom prst="line">
            <a:avLst/>
          </a:prstGeom>
          <a:noFill/>
          <a:ln w="7620">
            <a:solidFill>
              <a:srgbClr val="070707">
                <a:alpha val="38000"/>
              </a:srgbClr>
            </a:solidFill>
            <a:prstDash val="solid"/>
          </a:ln>
        </p:spPr>
      </p:sp>
      <p:sp>
        <p:nvSpPr>
          <p:cNvPr id="14" name="ts:background-picture#cross/3/h"/>
          <p:cNvSpPr/>
          <p:nvPr/>
        </p:nvSpPr>
        <p:spPr>
          <a:xfrm>
            <a:off x="11719560" y="6427470"/>
            <a:ext cx="83820" cy="0"/>
          </a:xfrm>
          <a:prstGeom prst="line">
            <a:avLst/>
          </a:prstGeom>
          <a:noFill/>
          <a:ln w="7620">
            <a:solidFill>
              <a:srgbClr val="070707">
                <a:alpha val="38000"/>
              </a:srgbClr>
            </a:solidFill>
            <a:prstDash val="solid"/>
          </a:ln>
        </p:spPr>
      </p:sp>
      <p:sp>
        <p:nvSpPr>
          <p:cNvPr id="15" name="ts:background-picture#chip/0"/>
          <p:cNvSpPr/>
          <p:nvPr/>
        </p:nvSpPr>
        <p:spPr>
          <a:xfrm>
            <a:off x="502920" y="6537960"/>
            <a:ext cx="3048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s:background-picture#chip/1"/>
          <p:cNvSpPr/>
          <p:nvPr/>
        </p:nvSpPr>
        <p:spPr>
          <a:xfrm>
            <a:off x="11231880" y="6522720"/>
            <a:ext cx="457200" cy="213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ts:background-picture#wordmark" descr="wordmark (mark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83680"/>
            <a:ext cx="213360" cy="137160"/>
          </a:xfrm>
          <a:prstGeom prst="rect">
            <a:avLst/>
          </a:prstGeom>
        </p:spPr>
      </p:pic>
      <p:sp>
        <p:nvSpPr>
          <p:cNvPr id="18" name="ts:background-picture#heading/text"/>
          <p:cNvSpPr txBox="1"/>
          <p:nvPr/>
        </p:nvSpPr>
        <p:spPr>
          <a:xfrm>
            <a:off x="1043940" y="3224205"/>
            <a:ext cx="688390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picture behind a title</a:t>
            </a:r>
            <a:endParaRPr lang="en-US" sz="5280" dirty="0"/>
          </a:p>
        </p:txBody>
      </p:sp>
      <p:sp>
        <p:nvSpPr>
          <p:cNvPr id="19" name="ts:background-picture#lead/text"/>
          <p:cNvSpPr txBox="1"/>
          <p:nvPr/>
        </p:nvSpPr>
        <p:spPr>
          <a:xfrm>
            <a:off x="1043940" y="4051182"/>
            <a:ext cx="6883908" cy="5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3A3D44"/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Change background, Choose image: the picture object sits at the bottom of</a:t>
            </a:r>
            <a:br/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3A3D44"/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the stack under the mark, the heading and the lead.</a:t>
            </a:r>
            <a:endParaRPr lang="en-US" sz="1560" dirty="0"/>
          </a:p>
        </p:txBody>
      </p:sp>
      <p:sp>
        <p:nvSpPr>
          <p:cNvPr id="20" name="ts:background-pictur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17 / 28</a:t>
            </a:r>
            <a:endParaRPr lang="en-US" sz="780" dirty="0"/>
          </a:p>
        </p:txBody>
      </p:sp>
      <p:pic>
        <p:nvPicPr>
          <p:cNvPr id="21" name="ts:background-picture#mark:1" descr="mark (block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" y="2194560"/>
            <a:ext cx="100584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thered backgroun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background-dither#title" hidden="1"/>
          <p:cNvSpPr txBox="1">
            <a:spLocks noGrp="1"/>
          </p:cNvSpPr>
          <p:nvPr>
            <p:ph type="title"/>
          </p:nvPr>
        </p:nvSpPr>
        <p:spPr>
          <a:xfrm>
            <a:off x="1242060" y="4018331"/>
            <a:ext cx="5242560" cy="5815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432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Dithered background</a:t>
            </a:r>
            <a:endParaRPr lang="en-US" sz="4320" dirty="0"/>
          </a:p>
        </p:txBody>
      </p:sp>
      <p:sp>
        <p:nvSpPr>
          <p:cNvPr id="3" name="ts:background-dither#frame/0"/>
          <p:cNvSpPr/>
          <p:nvPr/>
        </p:nvSpPr>
        <p:spPr>
          <a:xfrm>
            <a:off x="430530" y="0"/>
            <a:ext cx="0" cy="6858000"/>
          </a:xfrm>
          <a:prstGeom prst="line">
            <a:avLst/>
          </a:prstGeom>
          <a:noFill/>
          <a:ln w="7620">
            <a:solidFill>
              <a:srgbClr val="070707">
                <a:alpha val="18000"/>
              </a:srgbClr>
            </a:solidFill>
            <a:prstDash val="solid"/>
          </a:ln>
        </p:spPr>
      </p:sp>
      <p:sp>
        <p:nvSpPr>
          <p:cNvPr id="4" name="ts:background-dither#frame/1"/>
          <p:cNvSpPr/>
          <p:nvPr/>
        </p:nvSpPr>
        <p:spPr>
          <a:xfrm>
            <a:off x="11761470" y="0"/>
            <a:ext cx="0" cy="6858000"/>
          </a:xfrm>
          <a:prstGeom prst="line">
            <a:avLst/>
          </a:prstGeom>
          <a:noFill/>
          <a:ln w="7620">
            <a:solidFill>
              <a:srgbClr val="070707">
                <a:alpha val="18000"/>
              </a:srgbClr>
            </a:solidFill>
            <a:prstDash val="solid"/>
          </a:ln>
        </p:spPr>
      </p:sp>
      <p:sp>
        <p:nvSpPr>
          <p:cNvPr id="5" name="ts:background-dither#frame/2"/>
          <p:cNvSpPr/>
          <p:nvPr/>
        </p:nvSpPr>
        <p:spPr>
          <a:xfrm>
            <a:off x="0" y="430530"/>
            <a:ext cx="12192000" cy="0"/>
          </a:xfrm>
          <a:prstGeom prst="line">
            <a:avLst/>
          </a:prstGeom>
          <a:noFill/>
          <a:ln w="7620">
            <a:solidFill>
              <a:srgbClr val="070707">
                <a:alpha val="18000"/>
              </a:srgbClr>
            </a:solidFill>
            <a:prstDash val="solid"/>
          </a:ln>
        </p:spPr>
      </p:sp>
      <p:sp>
        <p:nvSpPr>
          <p:cNvPr id="6" name="ts:background-dither#frame/3"/>
          <p:cNvSpPr/>
          <p:nvPr/>
        </p:nvSpPr>
        <p:spPr>
          <a:xfrm>
            <a:off x="0" y="6427470"/>
            <a:ext cx="12192000" cy="0"/>
          </a:xfrm>
          <a:prstGeom prst="line">
            <a:avLst/>
          </a:prstGeom>
          <a:noFill/>
          <a:ln w="7620">
            <a:solidFill>
              <a:srgbClr val="070707">
                <a:alpha val="18000"/>
              </a:srgbClr>
            </a:solidFill>
            <a:prstDash val="solid"/>
          </a:ln>
        </p:spPr>
      </p:sp>
      <p:sp>
        <p:nvSpPr>
          <p:cNvPr id="7" name="ts:background-dither#cross/0/v"/>
          <p:cNvSpPr/>
          <p:nvPr/>
        </p:nvSpPr>
        <p:spPr>
          <a:xfrm>
            <a:off x="430530" y="388620"/>
            <a:ext cx="0" cy="83820"/>
          </a:xfrm>
          <a:prstGeom prst="line">
            <a:avLst/>
          </a:prstGeom>
          <a:noFill/>
          <a:ln w="7620">
            <a:solidFill>
              <a:srgbClr val="070707">
                <a:alpha val="38000"/>
              </a:srgbClr>
            </a:solidFill>
            <a:prstDash val="solid"/>
          </a:ln>
        </p:spPr>
      </p:sp>
      <p:sp>
        <p:nvSpPr>
          <p:cNvPr id="8" name="ts:background-dither#cross/0/h"/>
          <p:cNvSpPr/>
          <p:nvPr/>
        </p:nvSpPr>
        <p:spPr>
          <a:xfrm>
            <a:off x="388620" y="430530"/>
            <a:ext cx="83820" cy="0"/>
          </a:xfrm>
          <a:prstGeom prst="line">
            <a:avLst/>
          </a:prstGeom>
          <a:noFill/>
          <a:ln w="7620">
            <a:solidFill>
              <a:srgbClr val="070707">
                <a:alpha val="38000"/>
              </a:srgbClr>
            </a:solidFill>
            <a:prstDash val="solid"/>
          </a:ln>
        </p:spPr>
      </p:sp>
      <p:sp>
        <p:nvSpPr>
          <p:cNvPr id="9" name="ts:background-dither#cross/1/v"/>
          <p:cNvSpPr/>
          <p:nvPr/>
        </p:nvSpPr>
        <p:spPr>
          <a:xfrm>
            <a:off x="11761470" y="388620"/>
            <a:ext cx="0" cy="83820"/>
          </a:xfrm>
          <a:prstGeom prst="line">
            <a:avLst/>
          </a:prstGeom>
          <a:noFill/>
          <a:ln w="7620">
            <a:solidFill>
              <a:srgbClr val="070707">
                <a:alpha val="38000"/>
              </a:srgbClr>
            </a:solidFill>
            <a:prstDash val="solid"/>
          </a:ln>
        </p:spPr>
      </p:sp>
      <p:sp>
        <p:nvSpPr>
          <p:cNvPr id="10" name="ts:background-dither#cross/1/h"/>
          <p:cNvSpPr/>
          <p:nvPr/>
        </p:nvSpPr>
        <p:spPr>
          <a:xfrm>
            <a:off x="11719560" y="430530"/>
            <a:ext cx="83820" cy="0"/>
          </a:xfrm>
          <a:prstGeom prst="line">
            <a:avLst/>
          </a:prstGeom>
          <a:noFill/>
          <a:ln w="7620">
            <a:solidFill>
              <a:srgbClr val="070707">
                <a:alpha val="38000"/>
              </a:srgbClr>
            </a:solidFill>
            <a:prstDash val="solid"/>
          </a:ln>
        </p:spPr>
      </p:sp>
      <p:sp>
        <p:nvSpPr>
          <p:cNvPr id="11" name="ts:background-dither#cross/2/v"/>
          <p:cNvSpPr/>
          <p:nvPr/>
        </p:nvSpPr>
        <p:spPr>
          <a:xfrm>
            <a:off x="430530" y="6385560"/>
            <a:ext cx="0" cy="83820"/>
          </a:xfrm>
          <a:prstGeom prst="line">
            <a:avLst/>
          </a:prstGeom>
          <a:noFill/>
          <a:ln w="7620">
            <a:solidFill>
              <a:srgbClr val="070707">
                <a:alpha val="38000"/>
              </a:srgbClr>
            </a:solidFill>
            <a:prstDash val="solid"/>
          </a:ln>
        </p:spPr>
      </p:sp>
      <p:sp>
        <p:nvSpPr>
          <p:cNvPr id="12" name="ts:background-dither#cross/2/h"/>
          <p:cNvSpPr/>
          <p:nvPr/>
        </p:nvSpPr>
        <p:spPr>
          <a:xfrm>
            <a:off x="388620" y="6427470"/>
            <a:ext cx="83820" cy="0"/>
          </a:xfrm>
          <a:prstGeom prst="line">
            <a:avLst/>
          </a:prstGeom>
          <a:noFill/>
          <a:ln w="7620">
            <a:solidFill>
              <a:srgbClr val="070707">
                <a:alpha val="38000"/>
              </a:srgbClr>
            </a:solidFill>
            <a:prstDash val="solid"/>
          </a:ln>
        </p:spPr>
      </p:sp>
      <p:sp>
        <p:nvSpPr>
          <p:cNvPr id="13" name="ts:background-dither#cross/3/v"/>
          <p:cNvSpPr/>
          <p:nvPr/>
        </p:nvSpPr>
        <p:spPr>
          <a:xfrm>
            <a:off x="11761470" y="6385560"/>
            <a:ext cx="0" cy="83820"/>
          </a:xfrm>
          <a:prstGeom prst="line">
            <a:avLst/>
          </a:prstGeom>
          <a:noFill/>
          <a:ln w="7620">
            <a:solidFill>
              <a:srgbClr val="070707">
                <a:alpha val="38000"/>
              </a:srgbClr>
            </a:solidFill>
            <a:prstDash val="solid"/>
          </a:ln>
        </p:spPr>
      </p:sp>
      <p:sp>
        <p:nvSpPr>
          <p:cNvPr id="14" name="ts:background-dither#cross/3/h"/>
          <p:cNvSpPr/>
          <p:nvPr/>
        </p:nvSpPr>
        <p:spPr>
          <a:xfrm>
            <a:off x="11719560" y="6427470"/>
            <a:ext cx="83820" cy="0"/>
          </a:xfrm>
          <a:prstGeom prst="line">
            <a:avLst/>
          </a:prstGeom>
          <a:noFill/>
          <a:ln w="7620">
            <a:solidFill>
              <a:srgbClr val="070707">
                <a:alpha val="38000"/>
              </a:srgbClr>
            </a:solidFill>
            <a:prstDash val="solid"/>
          </a:ln>
        </p:spPr>
      </p:sp>
      <p:sp>
        <p:nvSpPr>
          <p:cNvPr id="15" name="ts:background-dither#chip/0"/>
          <p:cNvSpPr/>
          <p:nvPr/>
        </p:nvSpPr>
        <p:spPr>
          <a:xfrm>
            <a:off x="502920" y="6537960"/>
            <a:ext cx="3048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s:background-dither#chip/1"/>
          <p:cNvSpPr/>
          <p:nvPr/>
        </p:nvSpPr>
        <p:spPr>
          <a:xfrm>
            <a:off x="11231880" y="6522720"/>
            <a:ext cx="457200" cy="213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7" name="ts:background-dither#wordmark" descr="wordmark (mark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583680"/>
            <a:ext cx="213360" cy="137160"/>
          </a:xfrm>
          <a:prstGeom prst="rect">
            <a:avLst/>
          </a:prstGeom>
        </p:spPr>
      </p:pic>
      <p:grpSp>
        <p:nvGrpSpPr>
          <p:cNvPr id="18" name="g:plate"/>
          <p:cNvGrpSpPr/>
          <p:nvPr/>
        </p:nvGrpSpPr>
        <p:grpSpPr>
          <a:xfrm>
            <a:off x="1043940" y="3855720"/>
            <a:ext cx="5638800" cy="2019300"/>
            <a:chOff x="1043940" y="3855720"/>
            <a:chExt cx="5638800" cy="2019300"/>
          </a:xfrm>
        </p:grpSpPr>
        <p:sp>
          <p:nvSpPr>
            <p:cNvPr id="19" name="ts:background-dither#plate@g:plate"/>
            <p:cNvSpPr/>
            <p:nvPr/>
          </p:nvSpPr>
          <p:spPr>
            <a:xfrm>
              <a:off x="1043940" y="3855720"/>
              <a:ext cx="5638800" cy="2019300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20" name="ts:background-dither#big/text@g:plate"/>
            <p:cNvSpPr txBox="1"/>
            <p:nvPr/>
          </p:nvSpPr>
          <p:spPr>
            <a:xfrm>
              <a:off x="1242060" y="4046311"/>
              <a:ext cx="5260848" cy="5815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579"/>
                </a:lnSpc>
                <a:buNone/>
              </a:pPr>
              <a:r>
                <a:rPr lang="en-US" sz="4320" spc="-108" dirty="0">
                  <a:solidFill>
                    <a:srgbClr val="070707"/>
                  </a:solidFill>
                  <a:latin typeface="GT Inter Display" pitchFamily="34" charset="0"/>
                  <a:ea typeface="GT Inter Display" pitchFamily="34" charset="-122"/>
                  <a:cs typeface="GT Inter Display" pitchFamily="34" charset="-120"/>
                </a:rPr>
                <a:t>Dithered background</a:t>
              </a:r>
              <a:endParaRPr lang="en-US" sz="4320" dirty="0"/>
            </a:p>
          </p:txBody>
        </p:sp>
        <p:sp>
          <p:nvSpPr>
            <p:cNvPr id="21" name="ts:background-dither#p/text@g:plate"/>
            <p:cNvSpPr txBox="1"/>
            <p:nvPr/>
          </p:nvSpPr>
          <p:spPr>
            <a:xfrm>
              <a:off x="1242060" y="4671068"/>
              <a:ext cx="526084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070707"/>
                  </a:solidFill>
                  <a:latin typeface="GT Inter Text 22" pitchFamily="34" charset="0"/>
                  <a:ea typeface="GT Inter Text 22" pitchFamily="34" charset="-122"/>
                  <a:cs typeface="GT Inter Text 22" pitchFamily="34" charset="-120"/>
                </a:rPr>
                <a:t>A covering picture with the Photograph numbers of the Background</a:t>
              </a:r>
              <a:br/>
              <a:pPr algn="l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070707"/>
                  </a:solidFill>
                  <a:latin typeface="GT Inter Text 22" pitchFamily="34" charset="0"/>
                  <a:ea typeface="GT Inter Text 22" pitchFamily="34" charset="-122"/>
                  <a:cs typeface="GT Inter Text 22" pitchFamily="34" charset="-120"/>
                </a:rPr>
                <a:t>dialog, and a plate group over it.</a:t>
              </a:r>
              <a:endParaRPr lang="en-US" sz="1320" dirty="0"/>
            </a:p>
          </p:txBody>
        </p:sp>
      </p:grpSp>
      <p:sp>
        <p:nvSpPr>
          <p:cNvPr id="22" name="ts:background-dither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18 / 28</a:t>
            </a:r>
            <a:endParaRPr lang="en-US" sz="7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dithered picture at a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picture-dither-strength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5334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A dithered picture at a box</a:t>
            </a:r>
            <a:endParaRPr lang="en-US" sz="2640" dirty="0"/>
          </a:p>
        </p:txBody>
      </p:sp>
      <p:sp>
        <p:nvSpPr>
          <p:cNvPr id="3" name="ts:picture-dither-strength#h/text"/>
          <p:cNvSpPr txBox="1"/>
          <p:nvPr/>
        </p:nvSpPr>
        <p:spPr>
          <a:xfrm>
            <a:off x="1043940" y="985278"/>
            <a:ext cx="5352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dithered picture at a box</a:t>
            </a:r>
            <a:endParaRPr lang="en-US" sz="2640" dirty="0"/>
          </a:p>
        </p:txBody>
      </p:sp>
      <p:sp>
        <p:nvSpPr>
          <p:cNvPr id="4" name="ts:picture-dither-strength#p/text"/>
          <p:cNvSpPr txBox="1"/>
          <p:nvPr/>
        </p:nvSpPr>
        <p:spPr>
          <a:xfrm>
            <a:off x="1043940" y="1562108"/>
            <a:ext cx="5352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two tone plane is composited at 60 percent over the continuous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picture, so the tones show through the screen.</a:t>
            </a:r>
            <a:endParaRPr lang="en-US" sz="1320" dirty="0"/>
          </a:p>
        </p:txBody>
      </p:sp>
      <p:sp>
        <p:nvSpPr>
          <p:cNvPr id="5" name="ts:picture-dither-strength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19 / 28</a:t>
            </a:r>
            <a:endParaRPr lang="en-US" sz="780" dirty="0"/>
          </a:p>
        </p:txBody>
      </p:sp>
      <p:pic>
        <p:nvPicPr>
          <p:cNvPr id="6" name="ts:picture-dither-strength#photo:1" descr="photo (bloc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286000"/>
            <a:ext cx="42672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age to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image-tool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858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Image tools</a:t>
            </a:r>
            <a:endParaRPr lang="en-US" sz="2640" dirty="0"/>
          </a:p>
        </p:txBody>
      </p:sp>
      <p:sp>
        <p:nvSpPr>
          <p:cNvPr id="3" name="ts:image-tools#h/text"/>
          <p:cNvSpPr txBox="1"/>
          <p:nvPr/>
        </p:nvSpPr>
        <p:spPr>
          <a:xfrm>
            <a:off x="1043940" y="985278"/>
            <a:ext cx="6876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Image tools</a:t>
            </a:r>
            <a:endParaRPr lang="en-US" sz="2640" dirty="0"/>
          </a:p>
        </p:txBody>
      </p:sp>
      <p:sp>
        <p:nvSpPr>
          <p:cNvPr id="4" name="ts:image-tool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20 / 28</a:t>
            </a:r>
            <a:endParaRPr lang="en-US" sz="780" dirty="0"/>
          </a:p>
        </p:txBody>
      </p:sp>
      <p:pic>
        <p:nvPicPr>
          <p:cNvPr id="5" name="ts:image-tools#trimmed:1" descr="trimmed (bloc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1981200"/>
            <a:ext cx="3048000" cy="1714500"/>
          </a:xfrm>
          <a:prstGeom prst="rect">
            <a:avLst/>
          </a:prstGeom>
        </p:spPr>
      </p:pic>
      <p:pic>
        <p:nvPicPr>
          <p:cNvPr id="6" name="ts:image-tools#masked:2" descr="masked (block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81200"/>
            <a:ext cx="3048000" cy="1714500"/>
          </a:xfrm>
          <a:prstGeom prst="rect">
            <a:avLst/>
          </a:prstGeom>
        </p:spPr>
      </p:pic>
      <p:pic>
        <p:nvPicPr>
          <p:cNvPr id="7" name="ts:image-tools#adjusted:3" descr="adjusted (block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060" y="1981200"/>
            <a:ext cx="3048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rged ce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table-merge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Merged cells</a:t>
            </a:r>
            <a:endParaRPr lang="en-US" sz="2640" dirty="0"/>
          </a:p>
        </p:txBody>
      </p:sp>
      <p:graphicFrame>
        <p:nvGraphicFramePr>
          <p:cNvPr id="3" name="ts:table-merge#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3940" y="2969438"/>
          <a:ext cx="10104120" cy="1706880"/>
        </p:xfrm>
        <a:graphic>
          <a:graphicData uri="http://schemas.openxmlformats.org/drawingml/2006/table">
            <a:tbl>
              <a:tblPr/>
              <a:tblGrid>
                <a:gridCol w="2526030"/>
                <a:gridCol w="2526030"/>
                <a:gridCol w="2526030"/>
                <a:gridCol w="2526030"/>
              </a:tblGrid>
              <a:tr h="42672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spc="-12" dirty="0">
                          <a:solidFill>
                            <a:srgbClr val="070707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Region</a:t>
                      </a:r>
                      <a:endParaRPr lang="en-US" sz="1200" dirty="0">
                        <a:latin typeface="GT Inter Text 20 Medium" charset="0"/>
                        <a:ea typeface="GT Inter Text 20 Medium" charset="0"/>
                        <a:cs typeface="GT Inter Text 20 Medium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2D2D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7070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spc="-12" dirty="0">
                          <a:solidFill>
                            <a:srgbClr val="070707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Q1</a:t>
                      </a:r>
                      <a:endParaRPr lang="en-US" sz="1200" dirty="0">
                        <a:latin typeface="GT Inter Text 20 Medium" charset="0"/>
                        <a:ea typeface="GT Inter Text 20 Medium" charset="0"/>
                        <a:cs typeface="GT Inter Text 20 Medium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2D2D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7070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spc="-12" dirty="0">
                          <a:solidFill>
                            <a:srgbClr val="070707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Q2</a:t>
                      </a:r>
                      <a:endParaRPr lang="en-US" sz="1200" dirty="0">
                        <a:latin typeface="GT Inter Text 20 Medium" charset="0"/>
                        <a:ea typeface="GT Inter Text 20 Medium" charset="0"/>
                        <a:cs typeface="GT Inter Text 20 Medium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2D2D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7070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spc="-12" dirty="0">
                          <a:solidFill>
                            <a:srgbClr val="070707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Q3</a:t>
                      </a:r>
                      <a:endParaRPr lang="en-US" sz="1200" dirty="0">
                        <a:latin typeface="GT Inter Text 20 Medium" charset="0"/>
                        <a:ea typeface="GT Inter Text 20 Medium" charset="0"/>
                        <a:cs typeface="GT Inter Text 20 Medium" charset="0"/>
                      </a:endParaRPr>
                    </a:p>
                  </a:txBody>
                  <a:tcPr marL="121920" marR="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2D2D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70707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North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One merged cell over four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1,200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South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980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West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410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460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2D2D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74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70707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520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0" marT="7371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s:table-merge#h/text"/>
          <p:cNvSpPr txBox="1"/>
          <p:nvPr/>
        </p:nvSpPr>
        <p:spPr>
          <a:xfrm>
            <a:off x="1043940" y="985278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Merged cells</a:t>
            </a:r>
            <a:endParaRPr lang="en-US" sz="2640" dirty="0"/>
          </a:p>
        </p:txBody>
      </p:sp>
      <p:sp>
        <p:nvSpPr>
          <p:cNvPr id="5" name="ts:table-merg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21 / 28</a:t>
            </a:r>
            <a:endParaRPr lang="en-US" sz="7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bar chart in a narrow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chart-bar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858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A bar chart in a narrow box</a:t>
            </a:r>
            <a:endParaRPr lang="en-US" sz="2640" dirty="0"/>
          </a:p>
        </p:txBody>
      </p:sp>
      <p:sp>
        <p:nvSpPr>
          <p:cNvPr id="3" name="ts:chart-bar#h/text"/>
          <p:cNvSpPr txBox="1"/>
          <p:nvPr/>
        </p:nvSpPr>
        <p:spPr>
          <a:xfrm>
            <a:off x="1043940" y="985278"/>
            <a:ext cx="6876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bar chart in a narrow box</a:t>
            </a:r>
            <a:endParaRPr lang="en-US" sz="2640" dirty="0"/>
          </a:p>
        </p:txBody>
      </p:sp>
      <p:sp>
        <p:nvSpPr>
          <p:cNvPr id="4" name="ts:chart-bar#chart/title"/>
          <p:cNvSpPr txBox="1"/>
          <p:nvPr/>
        </p:nvSpPr>
        <p:spPr>
          <a:xfrm>
            <a:off x="1104900" y="1805742"/>
            <a:ext cx="1955902" cy="184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200" spc="-12" dirty="0">
                <a:solidFill>
                  <a:srgbClr val="070707"/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Words translated per month</a:t>
            </a:r>
            <a:endParaRPr lang="en-US" sz="1200" dirty="0"/>
          </a:p>
        </p:txBody>
      </p:sp>
      <p:sp>
        <p:nvSpPr>
          <p:cNvPr id="5" name="ts:chart-bar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22 / 28</a:t>
            </a:r>
            <a:endParaRPr lang="en-US" sz="780" dirty="0"/>
          </a:p>
        </p:txBody>
      </p:sp>
      <p:graphicFrame>
        <p:nvGraphicFramePr>
          <p:cNvPr id="6" name="ts:chart-bar#chart" descr=""/>
          <p:cNvGraphicFramePr/>
          <p:nvPr/>
        </p:nvGraphicFramePr>
        <p:xfrm>
          <a:off x="1043940" y="174498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line chart with values sh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chart-line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A line chart with values shown</a:t>
            </a:r>
            <a:endParaRPr lang="en-US" sz="2640" dirty="0"/>
          </a:p>
        </p:txBody>
      </p:sp>
      <p:sp>
        <p:nvSpPr>
          <p:cNvPr id="3" name="ts:chart-line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line chart with values shown</a:t>
            </a:r>
            <a:endParaRPr lang="en-US" sz="2640" dirty="0"/>
          </a:p>
        </p:txBody>
      </p:sp>
      <p:sp>
        <p:nvSpPr>
          <p:cNvPr id="4" name="ts:chart-lin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23 / 28</a:t>
            </a:r>
            <a:endParaRPr lang="en-US" sz="780" dirty="0"/>
          </a:p>
        </p:txBody>
      </p:sp>
      <p:graphicFrame>
        <p:nvGraphicFramePr>
          <p:cNvPr id="5" name="ts:chart-line#chart" descr=""/>
          <p:cNvGraphicFramePr/>
          <p:nvPr/>
        </p:nvGraphicFramePr>
        <p:xfrm>
          <a:off x="1043940" y="1656512"/>
          <a:ext cx="10104120" cy="3505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pie chart with percent lab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chart-pie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A pie chart with percent labels</a:t>
            </a:r>
            <a:endParaRPr lang="en-US" sz="2640" dirty="0"/>
          </a:p>
        </p:txBody>
      </p:sp>
      <p:sp>
        <p:nvSpPr>
          <p:cNvPr id="3" name="ts:chart-pie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pie chart with percent labels</a:t>
            </a:r>
            <a:endParaRPr lang="en-US" sz="2640" dirty="0"/>
          </a:p>
        </p:txBody>
      </p:sp>
      <p:sp>
        <p:nvSpPr>
          <p:cNvPr id="4" name="ts:chart-pi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24 / 28</a:t>
            </a:r>
            <a:endParaRPr lang="en-US" sz="780" dirty="0"/>
          </a:p>
        </p:txBody>
      </p:sp>
      <p:graphicFrame>
        <p:nvGraphicFramePr>
          <p:cNvPr id="5" name="ts:chart-pie#chart" descr=""/>
          <p:cNvGraphicFramePr/>
          <p:nvPr/>
        </p:nvGraphicFramePr>
        <p:xfrm>
          <a:off x="1043940" y="1656512"/>
          <a:ext cx="10104120" cy="3505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process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diagram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858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A process diagram</a:t>
            </a:r>
            <a:endParaRPr lang="en-US" sz="2640" dirty="0"/>
          </a:p>
        </p:txBody>
      </p:sp>
      <p:grpSp>
        <p:nvGrpSpPr>
          <p:cNvPr id="3" name="g:process"/>
          <p:cNvGrpSpPr/>
          <p:nvPr/>
        </p:nvGrpSpPr>
        <p:grpSpPr>
          <a:xfrm>
            <a:off x="2438400" y="2785118"/>
            <a:ext cx="7333412" cy="1247767"/>
            <a:chOff x="2438400" y="2785118"/>
            <a:chExt cx="7333412" cy="1247767"/>
          </a:xfrm>
        </p:grpSpPr>
        <p:sp>
          <p:nvSpPr>
            <p:cNvPr id="4" name="ts:diagram#step-1@g:process"/>
            <p:cNvSpPr/>
            <p:nvPr/>
          </p:nvSpPr>
          <p:spPr>
            <a:xfrm>
              <a:off x="2444115" y="2825115"/>
              <a:ext cx="1488186" cy="1207770"/>
            </a:xfrm>
            <a:prstGeom prst="roundRect">
              <a:avLst/>
            </a:prstGeom>
            <a:solidFill>
              <a:srgbClr val="F6F6F6"/>
            </a:solidFill>
            <a:ln w="11430">
              <a:solidFill>
                <a:srgbClr val="F6F6F6"/>
              </a:solidFill>
              <a:prstDash val="solid"/>
            </a:ln>
          </p:spPr>
        </p:sp>
        <p:sp>
          <p:nvSpPr>
            <p:cNvPr id="5" name="ts:diagram#step-2@g:process"/>
            <p:cNvSpPr/>
            <p:nvPr/>
          </p:nvSpPr>
          <p:spPr>
            <a:xfrm>
              <a:off x="4382567" y="2825115"/>
              <a:ext cx="1488186" cy="1207770"/>
            </a:xfrm>
            <a:prstGeom prst="roundRect">
              <a:avLst/>
            </a:prstGeom>
            <a:solidFill>
              <a:srgbClr val="F6F6F6"/>
            </a:solidFill>
            <a:ln w="11430">
              <a:solidFill>
                <a:srgbClr val="F6F6F6"/>
              </a:solidFill>
              <a:prstDash val="solid"/>
            </a:ln>
          </p:spPr>
        </p:sp>
        <p:sp>
          <p:nvSpPr>
            <p:cNvPr id="6" name="ts:diagram#step-3@g:process"/>
            <p:cNvSpPr/>
            <p:nvPr/>
          </p:nvSpPr>
          <p:spPr>
            <a:xfrm>
              <a:off x="6321171" y="2825115"/>
              <a:ext cx="1488186" cy="1207770"/>
            </a:xfrm>
            <a:prstGeom prst="roundRect">
              <a:avLst/>
            </a:prstGeom>
            <a:solidFill>
              <a:srgbClr val="F6F6F6"/>
            </a:solidFill>
            <a:ln w="11430">
              <a:solidFill>
                <a:srgbClr val="F6F6F6"/>
              </a:solidFill>
              <a:prstDash val="solid"/>
            </a:ln>
          </p:spPr>
        </p:sp>
        <p:sp>
          <p:nvSpPr>
            <p:cNvPr id="7" name="ts:diagram#step-4@g:process"/>
            <p:cNvSpPr/>
            <p:nvPr/>
          </p:nvSpPr>
          <p:spPr>
            <a:xfrm>
              <a:off x="8259623" y="2825115"/>
              <a:ext cx="1488186" cy="1207770"/>
            </a:xfrm>
            <a:prstGeom prst="roundRect">
              <a:avLst/>
            </a:prstGeom>
            <a:solidFill>
              <a:srgbClr val="F6F6F6"/>
            </a:solidFill>
            <a:ln w="11430">
              <a:solidFill>
                <a:srgbClr val="F6F6F6"/>
              </a:solidFill>
              <a:prstDash val="solid"/>
            </a:ln>
          </p:spPr>
        </p:sp>
        <p:cxnSp>
          <p:nvCxnSpPr>
            <p:cNvPr id="8" name="ts:diagram#link-1@g:process"/>
            <p:cNvCxnSpPr>
              <a:stCxn id="4" idx="3"/>
              <a:endCxn id="5" idx="1"/>
            </p:cNvCxnSpPr>
            <p:nvPr/>
          </p:nvCxnSpPr>
          <p:spPr>
            <a:xfrm>
              <a:off x="3938016" y="3429000"/>
              <a:ext cx="438074" cy="0"/>
            </a:xfrm>
            <a:prstGeom prst="line">
              <a:avLst/>
            </a:prstGeom>
            <a:noFill/>
            <a:ln w="11430">
              <a:solidFill>
                <a:srgbClr val="070707"/>
              </a:solidFill>
              <a:prstDash val="solid"/>
              <a:tailEnd type="triangle"/>
            </a:ln>
          </p:spPr>
        </p:cxnSp>
        <p:cxnSp>
          <p:nvCxnSpPr>
            <p:cNvPr id="9" name="ts:diagram#link-2@g:process"/>
            <p:cNvCxnSpPr>
              <a:stCxn id="5" idx="3"/>
              <a:endCxn id="6" idx="1"/>
            </p:cNvCxnSpPr>
            <p:nvPr/>
          </p:nvCxnSpPr>
          <p:spPr>
            <a:xfrm>
              <a:off x="5876468" y="3429000"/>
              <a:ext cx="438074" cy="0"/>
            </a:xfrm>
            <a:prstGeom prst="line">
              <a:avLst/>
            </a:prstGeom>
            <a:noFill/>
            <a:ln w="11430">
              <a:solidFill>
                <a:srgbClr val="070707"/>
              </a:solidFill>
              <a:prstDash val="solid"/>
              <a:tailEnd type="triangle"/>
            </a:ln>
          </p:spPr>
        </p:cxnSp>
        <p:cxnSp>
          <p:nvCxnSpPr>
            <p:cNvPr id="10" name="ts:diagram#link-3@g:process"/>
            <p:cNvCxnSpPr>
              <a:stCxn id="6" idx="3"/>
              <a:endCxn id="7" idx="1"/>
            </p:cNvCxnSpPr>
            <p:nvPr/>
          </p:nvCxnSpPr>
          <p:spPr>
            <a:xfrm>
              <a:off x="7814996" y="3429000"/>
              <a:ext cx="438150" cy="0"/>
            </a:xfrm>
            <a:prstGeom prst="line">
              <a:avLst/>
            </a:prstGeom>
            <a:noFill/>
            <a:ln w="11430">
              <a:solidFill>
                <a:srgbClr val="070707"/>
              </a:solidFill>
              <a:prstDash val="solid"/>
              <a:tailEnd type="triangle"/>
            </a:ln>
          </p:spPr>
        </p:cxnSp>
        <p:sp>
          <p:nvSpPr>
            <p:cNvPr id="11" name="ts:diagram#label-1/text@g:process"/>
            <p:cNvSpPr txBox="1"/>
            <p:nvPr/>
          </p:nvSpPr>
          <p:spPr>
            <a:xfrm>
              <a:off x="2438400" y="2785118"/>
              <a:ext cx="1517904" cy="1219200"/>
            </a:xfrm>
            <a:prstGeom prst="rect">
              <a:avLst/>
            </a:prstGeom>
            <a:noFill/>
            <a:ln/>
          </p:spPr>
          <p:txBody>
            <a:bodyPr wrap="square" lIns="121920" tIns="121920" rIns="121920" bIns="121920" rtlCol="0" anchor="ctr"/>
            <a:lstStyle/>
            <a:p>
              <a:pPr algn="ctr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070707"/>
                  </a:solidFill>
                  <a:latin typeface="GT Inter Text 22 Medium" pitchFamily="34" charset="0"/>
                  <a:ea typeface="GT Inter Text 22 Medium" pitchFamily="34" charset="-122"/>
                  <a:cs typeface="GT Inter Text 22 Medium" pitchFamily="34" charset="-120"/>
                </a:rPr>
                <a:t>Step 1</a:t>
              </a:r>
              <a:endParaRPr lang="en-US" sz="1320" dirty="0"/>
            </a:p>
          </p:txBody>
        </p:sp>
        <p:sp>
          <p:nvSpPr>
            <p:cNvPr id="12" name="ts:diagram#label-2/text@g:process"/>
            <p:cNvSpPr txBox="1"/>
            <p:nvPr/>
          </p:nvSpPr>
          <p:spPr>
            <a:xfrm>
              <a:off x="4376852" y="2785118"/>
              <a:ext cx="1517904" cy="1219200"/>
            </a:xfrm>
            <a:prstGeom prst="rect">
              <a:avLst/>
            </a:prstGeom>
            <a:noFill/>
            <a:ln/>
          </p:spPr>
          <p:txBody>
            <a:bodyPr wrap="square" lIns="121920" tIns="121920" rIns="121920" bIns="121920" rtlCol="0" anchor="ctr"/>
            <a:lstStyle/>
            <a:p>
              <a:pPr algn="ctr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070707"/>
                  </a:solidFill>
                  <a:latin typeface="GT Inter Text 22 Medium" pitchFamily="34" charset="0"/>
                  <a:ea typeface="GT Inter Text 22 Medium" pitchFamily="34" charset="-122"/>
                  <a:cs typeface="GT Inter Text 22 Medium" pitchFamily="34" charset="-120"/>
                </a:rPr>
                <a:t>Step 2</a:t>
              </a:r>
              <a:endParaRPr lang="en-US" sz="1320" dirty="0"/>
            </a:p>
          </p:txBody>
        </p:sp>
        <p:sp>
          <p:nvSpPr>
            <p:cNvPr id="13" name="ts:diagram#label-3/text@g:process"/>
            <p:cNvSpPr txBox="1"/>
            <p:nvPr/>
          </p:nvSpPr>
          <p:spPr>
            <a:xfrm>
              <a:off x="6315456" y="2785118"/>
              <a:ext cx="1517904" cy="1219200"/>
            </a:xfrm>
            <a:prstGeom prst="rect">
              <a:avLst/>
            </a:prstGeom>
            <a:noFill/>
            <a:ln/>
          </p:spPr>
          <p:txBody>
            <a:bodyPr wrap="square" lIns="121920" tIns="121920" rIns="121920" bIns="121920" rtlCol="0" anchor="ctr"/>
            <a:lstStyle/>
            <a:p>
              <a:pPr algn="ctr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070707"/>
                  </a:solidFill>
                  <a:latin typeface="GT Inter Text 22 Medium" pitchFamily="34" charset="0"/>
                  <a:ea typeface="GT Inter Text 22 Medium" pitchFamily="34" charset="-122"/>
                  <a:cs typeface="GT Inter Text 22 Medium" pitchFamily="34" charset="-120"/>
                </a:rPr>
                <a:t>Step 3</a:t>
              </a:r>
              <a:endParaRPr lang="en-US" sz="1320" dirty="0"/>
            </a:p>
          </p:txBody>
        </p:sp>
        <p:sp>
          <p:nvSpPr>
            <p:cNvPr id="14" name="ts:diagram#label-4/text@g:process"/>
            <p:cNvSpPr txBox="1"/>
            <p:nvPr/>
          </p:nvSpPr>
          <p:spPr>
            <a:xfrm>
              <a:off x="8253908" y="2785118"/>
              <a:ext cx="1517904" cy="1219200"/>
            </a:xfrm>
            <a:prstGeom prst="rect">
              <a:avLst/>
            </a:prstGeom>
            <a:noFill/>
            <a:ln/>
          </p:spPr>
          <p:txBody>
            <a:bodyPr wrap="square" lIns="121920" tIns="121920" rIns="121920" bIns="121920" rtlCol="0" anchor="ctr"/>
            <a:lstStyle/>
            <a:p>
              <a:pPr algn="ctr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070707"/>
                  </a:solidFill>
                  <a:latin typeface="GT Inter Text 22 Medium" pitchFamily="34" charset="0"/>
                  <a:ea typeface="GT Inter Text 22 Medium" pitchFamily="34" charset="-122"/>
                  <a:cs typeface="GT Inter Text 22 Medium" pitchFamily="34" charset="-120"/>
                </a:rPr>
                <a:t>Step 4</a:t>
              </a:r>
              <a:endParaRPr lang="en-US" sz="1320" dirty="0"/>
            </a:p>
          </p:txBody>
        </p:sp>
      </p:grpSp>
      <p:sp>
        <p:nvSpPr>
          <p:cNvPr id="15" name="ts:diagram#h/text"/>
          <p:cNvSpPr txBox="1"/>
          <p:nvPr/>
        </p:nvSpPr>
        <p:spPr>
          <a:xfrm>
            <a:off x="1043940" y="985278"/>
            <a:ext cx="6876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process diagram</a:t>
            </a:r>
            <a:endParaRPr lang="en-US" sz="2640" dirty="0"/>
          </a:p>
        </p:txBody>
      </p:sp>
      <p:sp>
        <p:nvSpPr>
          <p:cNvPr id="16" name="ts:diagram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25 / 28</a:t>
            </a:r>
            <a:endParaRPr lang="en-US" sz="7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ullets and numb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bullets#title" hidden="1"/>
          <p:cNvSpPr txBox="1">
            <a:spLocks noGrp="1"/>
          </p:cNvSpPr>
          <p:nvPr>
            <p:ph type="title"/>
          </p:nvPr>
        </p:nvSpPr>
        <p:spPr>
          <a:xfrm>
            <a:off x="1043940" y="2193874"/>
            <a:ext cx="477774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Bullets and numbering</a:t>
            </a:r>
            <a:endParaRPr lang="en-US" sz="2640" dirty="0"/>
          </a:p>
        </p:txBody>
      </p:sp>
      <p:sp>
        <p:nvSpPr>
          <p:cNvPr id="3" name="ts:bullets#rule/0"/>
          <p:cNvSpPr/>
          <p:nvPr/>
        </p:nvSpPr>
        <p:spPr>
          <a:xfrm>
            <a:off x="1043940" y="2872740"/>
            <a:ext cx="4777740" cy="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grpSp>
        <p:nvGrpSpPr>
          <p:cNvPr id="4" name="bullets/item/0"/>
          <p:cNvGrpSpPr/>
          <p:nvPr/>
        </p:nvGrpSpPr>
        <p:grpSpPr>
          <a:xfrm>
            <a:off x="1043940" y="2939799"/>
            <a:ext cx="4796028" cy="379397"/>
            <a:chOff x="1043940" y="2939799"/>
            <a:chExt cx="4796028" cy="379397"/>
          </a:xfrm>
        </p:grpSpPr>
        <p:sp>
          <p:nvSpPr>
            <p:cNvPr id="5" name="ts:bullets#rule/1@bullets/item/0"/>
            <p:cNvSpPr/>
            <p:nvPr/>
          </p:nvSpPr>
          <p:spPr>
            <a:xfrm>
              <a:off x="1043940" y="3319196"/>
              <a:ext cx="4777740" cy="0"/>
            </a:xfrm>
            <a:prstGeom prst="line">
              <a:avLst/>
            </a:prstGeom>
            <a:noFill/>
            <a:ln w="7620">
              <a:solidFill>
                <a:srgbClr val="E9E9E9"/>
              </a:solidFill>
              <a:prstDash val="solid"/>
            </a:ln>
          </p:spPr>
        </p:sp>
        <p:sp>
          <p:nvSpPr>
            <p:cNvPr id="6" name="ts:bullets#bullets/items/0/text@bullets/item/0"/>
            <p:cNvSpPr txBox="1"/>
            <p:nvPr/>
          </p:nvSpPr>
          <p:spPr>
            <a:xfrm>
              <a:off x="1043940" y="2939799"/>
              <a:ext cx="47960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274320" indent="-274320">
                <a:lnSpc>
                  <a:spcPts val="2016"/>
                </a:lnSpc>
                <a:buSzPct val="100000"/>
                <a:buChar char="●"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Level one, a disc</a:t>
              </a:r>
              <a:endParaRPr lang="en-US" sz="1440" dirty="0"/>
            </a:p>
          </p:txBody>
        </p:sp>
      </p:grpSp>
      <p:grpSp>
        <p:nvGrpSpPr>
          <p:cNvPr id="7" name="bullets/item/1"/>
          <p:cNvGrpSpPr/>
          <p:nvPr/>
        </p:nvGrpSpPr>
        <p:grpSpPr>
          <a:xfrm>
            <a:off x="1043940" y="3386255"/>
            <a:ext cx="4796028" cy="379473"/>
            <a:chOff x="1043940" y="3386255"/>
            <a:chExt cx="4796028" cy="379473"/>
          </a:xfrm>
        </p:grpSpPr>
        <p:sp>
          <p:nvSpPr>
            <p:cNvPr id="8" name="ts:bullets#rule/2@bullets/item/1"/>
            <p:cNvSpPr/>
            <p:nvPr/>
          </p:nvSpPr>
          <p:spPr>
            <a:xfrm>
              <a:off x="1043940" y="3765728"/>
              <a:ext cx="4777740" cy="0"/>
            </a:xfrm>
            <a:prstGeom prst="line">
              <a:avLst/>
            </a:prstGeom>
            <a:noFill/>
            <a:ln w="7620">
              <a:solidFill>
                <a:srgbClr val="E9E9E9"/>
              </a:solidFill>
              <a:prstDash val="solid"/>
            </a:ln>
          </p:spPr>
        </p:sp>
        <p:sp>
          <p:nvSpPr>
            <p:cNvPr id="9" name="ts:bullets#bullets/items/1/text@bullets/item/1"/>
            <p:cNvSpPr txBox="1"/>
            <p:nvPr/>
          </p:nvSpPr>
          <p:spPr>
            <a:xfrm>
              <a:off x="1043940" y="3386255"/>
              <a:ext cx="47960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lvl="1" marL="548640" indent="-274320">
                <a:lnSpc>
                  <a:spcPts val="2016"/>
                </a:lnSpc>
                <a:buSzPct val="100000"/>
                <a:buChar char="○"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Level two, a circle</a:t>
              </a:r>
              <a:endParaRPr lang="en-US" sz="1440" dirty="0"/>
            </a:p>
          </p:txBody>
        </p:sp>
      </p:grpSp>
      <p:grpSp>
        <p:nvGrpSpPr>
          <p:cNvPr id="10" name="bullets/item/2"/>
          <p:cNvGrpSpPr/>
          <p:nvPr/>
        </p:nvGrpSpPr>
        <p:grpSpPr>
          <a:xfrm>
            <a:off x="1043940" y="3832787"/>
            <a:ext cx="4796028" cy="379397"/>
            <a:chOff x="1043940" y="3832787"/>
            <a:chExt cx="4796028" cy="379397"/>
          </a:xfrm>
        </p:grpSpPr>
        <p:sp>
          <p:nvSpPr>
            <p:cNvPr id="11" name="ts:bullets#rule/3@bullets/item/2"/>
            <p:cNvSpPr/>
            <p:nvPr/>
          </p:nvSpPr>
          <p:spPr>
            <a:xfrm>
              <a:off x="1043940" y="4212184"/>
              <a:ext cx="4777740" cy="0"/>
            </a:xfrm>
            <a:prstGeom prst="line">
              <a:avLst/>
            </a:prstGeom>
            <a:noFill/>
            <a:ln w="7620">
              <a:solidFill>
                <a:srgbClr val="E9E9E9"/>
              </a:solidFill>
              <a:prstDash val="solid"/>
            </a:ln>
          </p:spPr>
        </p:sp>
        <p:sp>
          <p:nvSpPr>
            <p:cNvPr id="12" name="ts:bullets#bullets/items/2/text@bullets/item/2"/>
            <p:cNvSpPr txBox="1"/>
            <p:nvPr/>
          </p:nvSpPr>
          <p:spPr>
            <a:xfrm>
              <a:off x="1043940" y="3832787"/>
              <a:ext cx="47960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lvl="2" marL="822960" indent="-274320">
                <a:lnSpc>
                  <a:spcPts val="2016"/>
                </a:lnSpc>
                <a:buSzPct val="100000"/>
                <a:buChar char="■"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Level three, a square</a:t>
              </a:r>
              <a:endParaRPr lang="en-US" sz="1440" dirty="0"/>
            </a:p>
          </p:txBody>
        </p:sp>
      </p:grpSp>
      <p:grpSp>
        <p:nvGrpSpPr>
          <p:cNvPr id="13" name="bullets/item/3"/>
          <p:cNvGrpSpPr/>
          <p:nvPr/>
        </p:nvGrpSpPr>
        <p:grpSpPr>
          <a:xfrm>
            <a:off x="1043940" y="4279243"/>
            <a:ext cx="4796028" cy="379473"/>
            <a:chOff x="1043940" y="4279243"/>
            <a:chExt cx="4796028" cy="379473"/>
          </a:xfrm>
        </p:grpSpPr>
        <p:sp>
          <p:nvSpPr>
            <p:cNvPr id="14" name="ts:bullets#rule/4@bullets/item/3"/>
            <p:cNvSpPr/>
            <p:nvPr/>
          </p:nvSpPr>
          <p:spPr>
            <a:xfrm>
              <a:off x="1043940" y="4658716"/>
              <a:ext cx="4777740" cy="0"/>
            </a:xfrm>
            <a:prstGeom prst="line">
              <a:avLst/>
            </a:prstGeom>
            <a:noFill/>
            <a:ln w="7620">
              <a:solidFill>
                <a:srgbClr val="D2D2D2"/>
              </a:solidFill>
              <a:prstDash val="solid"/>
            </a:ln>
          </p:spPr>
        </p:sp>
        <p:sp>
          <p:nvSpPr>
            <p:cNvPr id="15" name="ts:bullets#bullets/items/3/text@bullets/item/3"/>
            <p:cNvSpPr txBox="1"/>
            <p:nvPr/>
          </p:nvSpPr>
          <p:spPr>
            <a:xfrm>
              <a:off x="1043940" y="4279243"/>
              <a:ext cx="47960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lvl="3" marL="1097280" indent="-274320">
                <a:lnSpc>
                  <a:spcPts val="2016"/>
                </a:lnSpc>
                <a:buSzPct val="100000"/>
                <a:buChar char="●"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Level four, the glyph cycle starts again</a:t>
              </a:r>
              <a:endParaRPr lang="en-US" sz="1440" dirty="0"/>
            </a:p>
          </p:txBody>
        </p:sp>
      </p:grpSp>
      <p:sp>
        <p:nvSpPr>
          <p:cNvPr id="16" name="ts:bullets#rule/5"/>
          <p:cNvSpPr/>
          <p:nvPr/>
        </p:nvSpPr>
        <p:spPr>
          <a:xfrm>
            <a:off x="6370320" y="2001926"/>
            <a:ext cx="4777740" cy="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grpSp>
        <p:nvGrpSpPr>
          <p:cNvPr id="17" name="numbers/item/0"/>
          <p:cNvGrpSpPr/>
          <p:nvPr/>
        </p:nvGrpSpPr>
        <p:grpSpPr>
          <a:xfrm>
            <a:off x="6370320" y="2068985"/>
            <a:ext cx="4796028" cy="379397"/>
            <a:chOff x="6370320" y="2068985"/>
            <a:chExt cx="4796028" cy="379397"/>
          </a:xfrm>
        </p:grpSpPr>
        <p:sp>
          <p:nvSpPr>
            <p:cNvPr id="18" name="ts:bullets#rule/6@numbers/item/0"/>
            <p:cNvSpPr/>
            <p:nvPr/>
          </p:nvSpPr>
          <p:spPr>
            <a:xfrm>
              <a:off x="6370320" y="2448382"/>
              <a:ext cx="4777740" cy="0"/>
            </a:xfrm>
            <a:prstGeom prst="line">
              <a:avLst/>
            </a:prstGeom>
            <a:noFill/>
            <a:ln w="7620">
              <a:solidFill>
                <a:srgbClr val="E9E9E9"/>
              </a:solidFill>
              <a:prstDash val="solid"/>
            </a:ln>
          </p:spPr>
        </p:sp>
        <p:sp>
          <p:nvSpPr>
            <p:cNvPr id="19" name="ts:bullets#numbers/items/0/text@numbers/item/0"/>
            <p:cNvSpPr txBox="1"/>
            <p:nvPr/>
          </p:nvSpPr>
          <p:spPr>
            <a:xfrm>
              <a:off x="6370320" y="2068985"/>
              <a:ext cx="47960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274320" indent="-274320">
                <a:lnSpc>
                  <a:spcPts val="2016"/>
                </a:lnSpc>
                <a:buSzPct val="100000"/>
                <a:buFont typeface="+mj-lt"/>
                <a:buAutoNum type="arabicPeriod" startAt="1"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A digit at level one</a:t>
              </a:r>
              <a:endParaRPr lang="en-US" sz="1440" dirty="0"/>
            </a:p>
          </p:txBody>
        </p:sp>
      </p:grpSp>
      <p:grpSp>
        <p:nvGrpSpPr>
          <p:cNvPr id="20" name="numbers/item/1"/>
          <p:cNvGrpSpPr/>
          <p:nvPr/>
        </p:nvGrpSpPr>
        <p:grpSpPr>
          <a:xfrm>
            <a:off x="6370320" y="2515441"/>
            <a:ext cx="4796028" cy="379473"/>
            <a:chOff x="6370320" y="2515441"/>
            <a:chExt cx="4796028" cy="379473"/>
          </a:xfrm>
        </p:grpSpPr>
        <p:sp>
          <p:nvSpPr>
            <p:cNvPr id="21" name="ts:bullets#rule/7@numbers/item/1"/>
            <p:cNvSpPr/>
            <p:nvPr/>
          </p:nvSpPr>
          <p:spPr>
            <a:xfrm>
              <a:off x="6370320" y="2894914"/>
              <a:ext cx="4777740" cy="0"/>
            </a:xfrm>
            <a:prstGeom prst="line">
              <a:avLst/>
            </a:prstGeom>
            <a:noFill/>
            <a:ln w="7620">
              <a:solidFill>
                <a:srgbClr val="E9E9E9"/>
              </a:solidFill>
              <a:prstDash val="solid"/>
            </a:ln>
          </p:spPr>
        </p:sp>
        <p:sp>
          <p:nvSpPr>
            <p:cNvPr id="22" name="ts:bullets#numbers/items/1/text@numbers/item/1"/>
            <p:cNvSpPr txBox="1"/>
            <p:nvPr/>
          </p:nvSpPr>
          <p:spPr>
            <a:xfrm>
              <a:off x="6370320" y="2515441"/>
              <a:ext cx="47960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lvl="1" marL="548640" indent="-274320">
                <a:lnSpc>
                  <a:spcPts val="2016"/>
                </a:lnSpc>
                <a:buSzPct val="100000"/>
                <a:buFont typeface="+mj-lt"/>
                <a:buAutoNum type="alphaLcPeriod" startAt="1"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A letter at level two</a:t>
              </a:r>
              <a:endParaRPr lang="en-US" sz="1440" dirty="0"/>
            </a:p>
          </p:txBody>
        </p:sp>
      </p:grpSp>
      <p:grpSp>
        <p:nvGrpSpPr>
          <p:cNvPr id="23" name="numbers/item/2"/>
          <p:cNvGrpSpPr/>
          <p:nvPr/>
        </p:nvGrpSpPr>
        <p:grpSpPr>
          <a:xfrm>
            <a:off x="6370320" y="2961973"/>
            <a:ext cx="4796028" cy="379397"/>
            <a:chOff x="6370320" y="2961973"/>
            <a:chExt cx="4796028" cy="379397"/>
          </a:xfrm>
        </p:grpSpPr>
        <p:sp>
          <p:nvSpPr>
            <p:cNvPr id="24" name="ts:bullets#rule/8@numbers/item/2"/>
            <p:cNvSpPr/>
            <p:nvPr/>
          </p:nvSpPr>
          <p:spPr>
            <a:xfrm>
              <a:off x="6370320" y="3341370"/>
              <a:ext cx="4777740" cy="0"/>
            </a:xfrm>
            <a:prstGeom prst="line">
              <a:avLst/>
            </a:prstGeom>
            <a:noFill/>
            <a:ln w="7620">
              <a:solidFill>
                <a:srgbClr val="E9E9E9"/>
              </a:solidFill>
              <a:prstDash val="solid"/>
            </a:ln>
          </p:spPr>
        </p:sp>
        <p:sp>
          <p:nvSpPr>
            <p:cNvPr id="25" name="ts:bullets#numbers/items/2/text@numbers/item/2"/>
            <p:cNvSpPr txBox="1"/>
            <p:nvPr/>
          </p:nvSpPr>
          <p:spPr>
            <a:xfrm>
              <a:off x="6370320" y="2961973"/>
              <a:ext cx="47960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lvl="2" marL="822960" indent="-274320">
                <a:lnSpc>
                  <a:spcPts val="2016"/>
                </a:lnSpc>
                <a:buSzPct val="100000"/>
                <a:buFont typeface="+mj-lt"/>
                <a:buAutoNum type="romanLcPeriod" startAt="1"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A roman numeral at level three</a:t>
              </a:r>
              <a:endParaRPr lang="en-US" sz="1440" dirty="0"/>
            </a:p>
          </p:txBody>
        </p:sp>
      </p:grpSp>
      <p:grpSp>
        <p:nvGrpSpPr>
          <p:cNvPr id="26" name="numbers/item/3"/>
          <p:cNvGrpSpPr/>
          <p:nvPr/>
        </p:nvGrpSpPr>
        <p:grpSpPr>
          <a:xfrm>
            <a:off x="6370320" y="3408429"/>
            <a:ext cx="4796028" cy="379397"/>
            <a:chOff x="6370320" y="3408429"/>
            <a:chExt cx="4796028" cy="379397"/>
          </a:xfrm>
        </p:grpSpPr>
        <p:sp>
          <p:nvSpPr>
            <p:cNvPr id="27" name="ts:bullets#rule/9@numbers/item/3"/>
            <p:cNvSpPr/>
            <p:nvPr/>
          </p:nvSpPr>
          <p:spPr>
            <a:xfrm>
              <a:off x="6370320" y="3787826"/>
              <a:ext cx="4777740" cy="0"/>
            </a:xfrm>
            <a:prstGeom prst="line">
              <a:avLst/>
            </a:prstGeom>
            <a:noFill/>
            <a:ln w="7620">
              <a:solidFill>
                <a:srgbClr val="D2D2D2"/>
              </a:solidFill>
              <a:prstDash val="solid"/>
            </a:ln>
          </p:spPr>
        </p:sp>
        <p:sp>
          <p:nvSpPr>
            <p:cNvPr id="28" name="ts:bullets#numbers/items/3/text@numbers/item/3"/>
            <p:cNvSpPr txBox="1"/>
            <p:nvPr/>
          </p:nvSpPr>
          <p:spPr>
            <a:xfrm>
              <a:off x="6370320" y="3408429"/>
              <a:ext cx="479602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274320" indent="-274320">
                <a:lnSpc>
                  <a:spcPts val="2016"/>
                </a:lnSpc>
                <a:buSzPct val="100000"/>
                <a:buFont typeface="+mj-lt"/>
                <a:buAutoNum type="arabicPeriod" startAt="2"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Back to a digit</a:t>
              </a:r>
              <a:endParaRPr lang="en-US" sz="1440" dirty="0"/>
            </a:p>
          </p:txBody>
        </p:sp>
      </p:grpSp>
      <p:sp>
        <p:nvSpPr>
          <p:cNvPr id="29" name="ts:bullets#rule/10"/>
          <p:cNvSpPr/>
          <p:nvPr/>
        </p:nvSpPr>
        <p:spPr>
          <a:xfrm>
            <a:off x="6370320" y="3963086"/>
            <a:ext cx="4777740" cy="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grpSp>
        <p:nvGrpSpPr>
          <p:cNvPr id="30" name="ruled/item/0"/>
          <p:cNvGrpSpPr/>
          <p:nvPr/>
        </p:nvGrpSpPr>
        <p:grpSpPr>
          <a:xfrm>
            <a:off x="6370320" y="4030145"/>
            <a:ext cx="4796028" cy="379473"/>
            <a:chOff x="6370320" y="4030145"/>
            <a:chExt cx="4796028" cy="379473"/>
          </a:xfrm>
        </p:grpSpPr>
        <p:sp>
          <p:nvSpPr>
            <p:cNvPr id="31" name="ts:bullets#rule/11@ruled/item/0"/>
            <p:cNvSpPr/>
            <p:nvPr/>
          </p:nvSpPr>
          <p:spPr>
            <a:xfrm>
              <a:off x="6370320" y="4409618"/>
              <a:ext cx="4777740" cy="0"/>
            </a:xfrm>
            <a:prstGeom prst="line">
              <a:avLst/>
            </a:prstGeom>
            <a:noFill/>
            <a:ln w="7620">
              <a:solidFill>
                <a:srgbClr val="E9E9E9"/>
              </a:solidFill>
              <a:prstDash val="solid"/>
            </a:ln>
          </p:spPr>
        </p:sp>
        <p:sp>
          <p:nvSpPr>
            <p:cNvPr id="32" name="ts:bullets#ruled/items/0/num@ruled/item/0"/>
            <p:cNvSpPr txBox="1"/>
            <p:nvPr/>
          </p:nvSpPr>
          <p:spPr>
            <a:xfrm>
              <a:off x="6370320" y="4030145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1</a:t>
              </a:r>
              <a:endParaRPr lang="en-US" sz="1440" dirty="0"/>
            </a:p>
          </p:txBody>
        </p:sp>
        <p:sp>
          <p:nvSpPr>
            <p:cNvPr id="33" name="ts:bullets#ruled/items/0/text@ruled/item/0"/>
            <p:cNvSpPr txBox="1"/>
            <p:nvPr/>
          </p:nvSpPr>
          <p:spPr>
            <a:xfrm>
              <a:off x="6644640" y="4030145"/>
              <a:ext cx="45217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The round one form</a:t>
              </a:r>
              <a:endParaRPr lang="en-US" sz="1440" dirty="0"/>
            </a:p>
          </p:txBody>
        </p:sp>
      </p:grpSp>
      <p:grpSp>
        <p:nvGrpSpPr>
          <p:cNvPr id="34" name="ruled/item/1"/>
          <p:cNvGrpSpPr/>
          <p:nvPr/>
        </p:nvGrpSpPr>
        <p:grpSpPr>
          <a:xfrm>
            <a:off x="6370320" y="4476677"/>
            <a:ext cx="4796028" cy="379397"/>
            <a:chOff x="6370320" y="4476677"/>
            <a:chExt cx="4796028" cy="379397"/>
          </a:xfrm>
        </p:grpSpPr>
        <p:sp>
          <p:nvSpPr>
            <p:cNvPr id="35" name="ts:bullets#rule/12@ruled/item/1"/>
            <p:cNvSpPr/>
            <p:nvPr/>
          </p:nvSpPr>
          <p:spPr>
            <a:xfrm>
              <a:off x="6370320" y="4856074"/>
              <a:ext cx="4777740" cy="0"/>
            </a:xfrm>
            <a:prstGeom prst="line">
              <a:avLst/>
            </a:prstGeom>
            <a:noFill/>
            <a:ln w="7620">
              <a:solidFill>
                <a:srgbClr val="D2D2D2"/>
              </a:solidFill>
              <a:prstDash val="solid"/>
            </a:ln>
          </p:spPr>
        </p:sp>
        <p:sp>
          <p:nvSpPr>
            <p:cNvPr id="36" name="ts:bullets#ruled/items/1/num@ruled/item/1"/>
            <p:cNvSpPr txBox="1"/>
            <p:nvPr/>
          </p:nvSpPr>
          <p:spPr>
            <a:xfrm>
              <a:off x="6370320" y="4476677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2</a:t>
              </a:r>
              <a:endParaRPr lang="en-US" sz="1440" dirty="0"/>
            </a:p>
          </p:txBody>
        </p:sp>
        <p:sp>
          <p:nvSpPr>
            <p:cNvPr id="37" name="ts:bullets#ruled/items/1/text@ruled/item/1"/>
            <p:cNvSpPr txBox="1"/>
            <p:nvPr/>
          </p:nvSpPr>
          <p:spPr>
            <a:xfrm>
              <a:off x="6644640" y="4476677"/>
              <a:ext cx="45217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A tabular numeral in the key position</a:t>
              </a:r>
              <a:endParaRPr lang="en-US" sz="1440" dirty="0"/>
            </a:p>
          </p:txBody>
        </p:sp>
      </p:grpSp>
      <p:sp>
        <p:nvSpPr>
          <p:cNvPr id="38" name="ts:bullets#h/text"/>
          <p:cNvSpPr txBox="1"/>
          <p:nvPr/>
        </p:nvSpPr>
        <p:spPr>
          <a:xfrm>
            <a:off x="1043940" y="2197696"/>
            <a:ext cx="479602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Bullets and numbering</a:t>
            </a:r>
            <a:endParaRPr lang="en-US" sz="2640" dirty="0"/>
          </a:p>
        </p:txBody>
      </p:sp>
      <p:sp>
        <p:nvSpPr>
          <p:cNvPr id="39" name="ts:bullet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26 / 28</a:t>
            </a:r>
            <a:endParaRPr lang="en-US" sz="7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pacing, columns and ind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spacing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Spacing, columns and indent</a:t>
            </a:r>
            <a:endParaRPr lang="en-US" sz="2640" dirty="0"/>
          </a:p>
        </p:txBody>
      </p:sp>
      <p:sp>
        <p:nvSpPr>
          <p:cNvPr id="3" name="ts:spacing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Spacing, columns and indent</a:t>
            </a:r>
            <a:endParaRPr lang="en-US" sz="2640" dirty="0"/>
          </a:p>
        </p:txBody>
      </p:sp>
      <p:sp>
        <p:nvSpPr>
          <p:cNvPr id="4" name="ts:spacing#spaced/text"/>
          <p:cNvSpPr txBox="1"/>
          <p:nvPr/>
        </p:nvSpPr>
        <p:spPr>
          <a:xfrm>
            <a:off x="1043940" y="1618419"/>
            <a:ext cx="10122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numCol="2" spcCol="304800"/>
          <a:lstStyle/>
          <a:p>
            <a:pPr algn="l" indent="0" marL="0">
              <a:lnSpc>
                <a:spcPts val="1980"/>
              </a:lnSpc>
              <a:spcAft>
                <a:spcPts val="720"/>
              </a:spcAft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first paragraph of a two column block at line spacing 1.5.</a:t>
            </a:r>
            <a:endParaRPr lang="en-US" sz="1320" dirty="0"/>
          </a:p>
          <a:p>
            <a:pPr algn="l" indent="0" marL="0">
              <a:lnSpc>
                <a:spcPts val="1980"/>
              </a:lnSpc>
              <a:spcBef>
                <a:spcPts val="720"/>
              </a:spcBef>
              <a:spcAft>
                <a:spcPts val="720"/>
              </a:spcAft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second paragraph follows 12 px of space before it and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leaves 12 px after.</a:t>
            </a:r>
            <a:endParaRPr lang="en-US" sz="1320" dirty="0"/>
          </a:p>
          <a:p>
            <a:pPr algn="l" indent="0" marL="0">
              <a:lnSpc>
                <a:spcPts val="1980"/>
              </a:lnSpc>
              <a:spcBef>
                <a:spcPts val="720"/>
              </a:spcBef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third paragraph fills the second column when the first is full.</a:t>
            </a:r>
            <a:endParaRPr lang="en-US" sz="1320" dirty="0"/>
          </a:p>
        </p:txBody>
      </p:sp>
      <p:sp>
        <p:nvSpPr>
          <p:cNvPr id="5" name="ts:spacing#indented/text"/>
          <p:cNvSpPr txBox="1"/>
          <p:nvPr/>
        </p:nvSpPr>
        <p:spPr>
          <a:xfrm>
            <a:off x="1531620" y="2860479"/>
            <a:ext cx="537956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An indented paragraph, 64 px in from the left edge of the block.</a:t>
            </a:r>
            <a:endParaRPr lang="en-US" sz="1320" dirty="0"/>
          </a:p>
        </p:txBody>
      </p:sp>
      <p:sp>
        <p:nvSpPr>
          <p:cNvPr id="6" name="ts:spacing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27 / 28</a:t>
            </a:r>
            <a:endParaRPr lang="en-US" sz="7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heading long enough that shrink text on overflow steps its size..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autofit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737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A heading long enough that shrink text on overflow steps its size...</a:t>
            </a:r>
            <a:endParaRPr lang="en-US" sz="2640" dirty="0"/>
          </a:p>
        </p:txBody>
      </p:sp>
      <p:sp>
        <p:nvSpPr>
          <p:cNvPr id="3" name="ts:autofit#h/text"/>
          <p:cNvSpPr txBox="1"/>
          <p:nvPr/>
        </p:nvSpPr>
        <p:spPr>
          <a:xfrm>
            <a:off x="1043940" y="985278"/>
            <a:ext cx="10122408" cy="7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heading long enough that shrink text on overflow</a:t>
            </a:r>
            <a:br/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steps its size down the ladder before it wraps a third time</a:t>
            </a:r>
            <a:endParaRPr lang="en-US" sz="2640" dirty="0"/>
          </a:p>
        </p:txBody>
      </p:sp>
      <p:sp>
        <p:nvSpPr>
          <p:cNvPr id="4" name="ts:autofit#p1/text"/>
          <p:cNvSpPr txBox="1"/>
          <p:nvPr/>
        </p:nvSpPr>
        <p:spPr>
          <a:xfrm>
            <a:off x="1043940" y="1987151"/>
            <a:ext cx="586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heading above carries autofit shrink without a position box: the fit runs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in the flow layout.</a:t>
            </a:r>
            <a:endParaRPr lang="en-US" sz="1320" dirty="0"/>
          </a:p>
        </p:txBody>
      </p:sp>
      <p:sp>
        <p:nvSpPr>
          <p:cNvPr id="5" name="ts:autofit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28 / 28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Export fixture</vt:lpstr>
      <vt:lpstr>Paragraph breaks and slide links</vt:lpstr>
      <vt:lpstr>Pricing table</vt:lpstr>
      <vt:lpstr>Rollout steps</vt:lpstr>
      <vt:lpstr>Block links</vt:lpstr>
      <vt:lpstr>Slide 6</vt:lpstr>
      <vt:lpstr>Text styles</vt:lpstr>
      <vt:lpstr>A title slide as a canvas</vt:lpstr>
      <vt:lpstr>Canvas</vt:lpstr>
      <vt:lpstr>Rotated and flipped objects</vt:lpstr>
      <vt:lpstr>A group of four objects</vt:lpstr>
      <vt:lpstr>Shape presets</vt:lpstr>
      <vt:lpstr>Lines and connectors</vt:lpstr>
      <vt:lpstr>Word art</vt:lpstr>
      <vt:lpstr>Drop shadows</vt:lpstr>
      <vt:lpstr>A plate background</vt:lpstr>
      <vt:lpstr>A picture behind a title</vt:lpstr>
      <vt:lpstr>Dithered background</vt:lpstr>
      <vt:lpstr>A dithered picture at a box</vt:lpstr>
      <vt:lpstr>Image tools</vt:lpstr>
      <vt:lpstr>Merged cells</vt:lpstr>
      <vt:lpstr>A bar chart in a narrow box</vt:lpstr>
      <vt:lpstr>A line chart with values shown</vt:lpstr>
      <vt:lpstr>A pie chart with percent labels</vt:lpstr>
      <vt:lpstr>A process diagram</vt:lpstr>
      <vt:lpstr>Bullets and numbering</vt:lpstr>
      <vt:lpstr>Spacing, columns and indent</vt:lpstr>
      <vt:lpstr>A heading long enough that shrink text on overflow steps its size...</vt:lpstr>
    </vt:vector>
  </TitlesOfParts>
  <Company>General Translation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fixture (light)</dc:title>
  <dc:subject>Turboslide export, revision 2, native mode</dc:subject>
  <dc:creator>Turboslide</dc:creator>
  <cp:lastModifiedBy>Turboslide</cp:lastModifiedBy>
  <cp:revision>1</cp:revision>
  <dcterms:created xsi:type="dcterms:W3CDTF">2026-09-15T16:01:12Z</dcterms:created>
  <dcterms:modified xsi:type="dcterms:W3CDTF">2026-09-15T16:01:12Z</dcterms:modified>
</cp:coreProperties>
</file>