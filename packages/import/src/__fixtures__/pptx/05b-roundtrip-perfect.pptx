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APER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master#frame/0"/>
          <p:cNvSpPr/>
          <p:nvPr/>
        </p:nvSpPr>
        <p:spPr>
          <a:xfrm>
            <a:off x="430530" y="0"/>
            <a:ext cx="0" cy="685800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3" name="ts:master#frame/1"/>
          <p:cNvSpPr/>
          <p:nvPr/>
        </p:nvSpPr>
        <p:spPr>
          <a:xfrm>
            <a:off x="11761470" y="0"/>
            <a:ext cx="0" cy="685800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4" name="ts:master#frame/2"/>
          <p:cNvSpPr/>
          <p:nvPr/>
        </p:nvSpPr>
        <p:spPr>
          <a:xfrm>
            <a:off x="0" y="430530"/>
            <a:ext cx="12192000" cy="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5" name="ts:master#frame/3"/>
          <p:cNvSpPr/>
          <p:nvPr/>
        </p:nvSpPr>
        <p:spPr>
          <a:xfrm>
            <a:off x="0" y="6427470"/>
            <a:ext cx="12192000" cy="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6" name="ts:master#cross/0/v"/>
          <p:cNvSpPr/>
          <p:nvPr/>
        </p:nvSpPr>
        <p:spPr>
          <a:xfrm>
            <a:off x="430530" y="38862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7" name="ts:master#cross/0/h"/>
          <p:cNvSpPr/>
          <p:nvPr/>
        </p:nvSpPr>
        <p:spPr>
          <a:xfrm>
            <a:off x="388620" y="43053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8" name="ts:master#cross/1/v"/>
          <p:cNvSpPr/>
          <p:nvPr/>
        </p:nvSpPr>
        <p:spPr>
          <a:xfrm>
            <a:off x="11761470" y="38862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9" name="ts:master#cross/1/h"/>
          <p:cNvSpPr/>
          <p:nvPr/>
        </p:nvSpPr>
        <p:spPr>
          <a:xfrm>
            <a:off x="11719560" y="43053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0" name="ts:master#cross/2/v"/>
          <p:cNvSpPr/>
          <p:nvPr/>
        </p:nvSpPr>
        <p:spPr>
          <a:xfrm>
            <a:off x="430530" y="638556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1" name="ts:master#cross/2/h"/>
          <p:cNvSpPr/>
          <p:nvPr/>
        </p:nvSpPr>
        <p:spPr>
          <a:xfrm>
            <a:off x="388620" y="642747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2" name="ts:master#cross/3/v"/>
          <p:cNvSpPr/>
          <p:nvPr/>
        </p:nvSpPr>
        <p:spPr>
          <a:xfrm>
            <a:off x="11761470" y="638556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3" name="ts:master#cross/3/h"/>
          <p:cNvSpPr/>
          <p:nvPr/>
        </p:nvSpPr>
        <p:spPr>
          <a:xfrm>
            <a:off x="11719560" y="642747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pic>
        <p:nvPicPr>
          <p:cNvPr id="14" name="ts:master#wordmark" descr="GT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0"/>
            <a:ext cx="213360" cy="137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ICTURE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28.xml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5" Type="http://schemas.openxmlformats.org/officeDocument/2006/relationships/slide" Target="slide1.xml"/><Relationship Id="rId6" Type="http://schemas.openxmlformats.org/officeDocument/2006/relationships/hyperlink" Target="https://generaltranslation.com" TargetMode="External"/><Relationship Id="rId7" Type="http://schemas.openxmlformats.org/officeDocument/2006/relationships/slide" Target="slide3.xml"/><Relationship Id="rId4" Type="http://schemas.openxmlformats.org/officeDocument/2006/relationships/image" Target="../media/image-5-1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port fix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title#title" hidden="1"/>
          <p:cNvSpPr txBox="1">
            <a:spLocks noGrp="1"/>
          </p:cNvSpPr>
          <p:nvPr>
            <p:ph type="title"/>
          </p:nvPr>
        </p:nvSpPr>
        <p:spPr>
          <a:xfrm>
            <a:off x="1043940" y="3197047"/>
            <a:ext cx="10104120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Export fixture</a:t>
            </a:r>
            <a:endParaRPr lang="en-US" sz="5280" dirty="0"/>
          </a:p>
        </p:txBody>
      </p:sp>
      <p:sp>
        <p:nvSpPr>
          <p:cNvPr id="2" name="ts:title#heading/text"/>
          <p:cNvSpPr txBox="1"/>
          <p:nvPr/>
        </p:nvSpPr>
        <p:spPr>
          <a:xfrm>
            <a:off x="1043940" y="3227558"/>
            <a:ext cx="1012240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Export fixture</a:t>
            </a:r>
            <a:endParaRPr lang="en-US" sz="5280" dirty="0"/>
          </a:p>
        </p:txBody>
      </p:sp>
      <p:sp>
        <p:nvSpPr>
          <p:cNvPr id="3" name="ts:title#lead/text"/>
          <p:cNvSpPr txBox="1"/>
          <p:nvPr/>
        </p:nvSpPr>
        <p:spPr>
          <a:xfrm>
            <a:off x="1043940" y="4052630"/>
            <a:ext cx="6887337" cy="5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3A3D44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One of every object the Google Slides parity round added, for both export</a:t>
            </a:r>
            <a:br/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3A3D44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modes.</a:t>
            </a:r>
            <a:endParaRPr lang="en-US" sz="1560" dirty="0"/>
          </a:p>
        </p:txBody>
      </p:sp>
      <p:sp>
        <p:nvSpPr>
          <p:cNvPr id="4" name="ts:tit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01 / 28</a:t>
            </a:r>
            <a:endParaRPr lang="en-US" sz="780" dirty="0"/>
          </a:p>
        </p:txBody>
      </p:sp>
      <p:pic>
        <p:nvPicPr>
          <p:cNvPr id="5" name="ts:title#sheet" descr="Export fixture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ragraph breaks and slide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break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737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Paragraph breaks and slide links</a:t>
            </a:r>
            <a:endParaRPr lang="en-US" sz="2640" dirty="0"/>
          </a:p>
        </p:txBody>
      </p:sp>
      <p:sp>
        <p:nvSpPr>
          <p:cNvPr id="2" name="ts:breaks#h/text"/>
          <p:cNvSpPr txBox="1"/>
          <p:nvPr/>
        </p:nvSpPr>
        <p:spPr>
          <a:xfrm>
            <a:off x="1043940" y="985278"/>
            <a:ext cx="3203448" cy="7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Paragraph breaks</a:t>
            </a:r>
            <a:br/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and slide links</a:t>
            </a:r>
            <a:endParaRPr lang="en-US" sz="2640" dirty="0"/>
          </a:p>
        </p:txBody>
      </p:sp>
      <p:sp>
        <p:nvSpPr>
          <p:cNvPr id="3" name="ts:breaks#p1/text"/>
          <p:cNvSpPr txBox="1"/>
          <p:nvPr/>
        </p:nvSpPr>
        <p:spPr>
          <a:xfrm>
            <a:off x="4777740" y="944888"/>
            <a:ext cx="586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first paragraph of the head.</a:t>
            </a:r>
            <a:endParaRPr lang="en-US" sz="132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second paragraph follows a line break.</a:t>
            </a:r>
            <a:endParaRPr lang="en-US" sz="1320" dirty="0"/>
          </a:p>
        </p:txBody>
      </p:sp>
      <p:sp>
        <p:nvSpPr>
          <p:cNvPr id="4" name="ts:breaks#p2/text"/>
          <p:cNvSpPr txBox="1"/>
          <p:nvPr/>
        </p:nvSpPr>
        <p:spPr>
          <a:xfrm>
            <a:off x="1043940" y="3721539"/>
            <a:ext cx="586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table is on </a:t>
            </a:r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next slide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 and the </a:t>
            </a:r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last slide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 holds an empty placeholder.</a:t>
            </a:r>
            <a:endParaRPr lang="en-US" sz="132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third paragraph closes the body.</a:t>
            </a:r>
            <a:endParaRPr lang="en-US" sz="1320" dirty="0"/>
          </a:p>
        </p:txBody>
      </p:sp>
      <p:sp>
        <p:nvSpPr>
          <p:cNvPr id="5" name="ts:break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02 / 28</a:t>
            </a:r>
            <a:endParaRPr lang="en-US" sz="780" dirty="0"/>
          </a:p>
        </p:txBody>
      </p:sp>
      <p:pic>
        <p:nvPicPr>
          <p:cNvPr id="6" name="ts:breaks#sheet" descr="Paragraph breaks and slide links (light), the sheet at 2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icing 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s:table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Pricing table</a:t>
            </a:r>
            <a:endParaRPr lang="en-US" sz="2640" dirty="0"/>
          </a:p>
        </p:txBody>
      </p:sp>
      <p:sp>
        <p:nvSpPr>
          <p:cNvPr id="2" name="ts:table#h/text"/>
          <p:cNvSpPr txBox="1"/>
          <p:nvPr/>
        </p:nvSpPr>
        <p:spPr>
          <a:xfrm>
            <a:off x="1043940" y="985278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Pricing table</a:t>
            </a:r>
            <a:endParaRPr lang="en-US" sz="2640" dirty="0"/>
          </a:p>
        </p:txBody>
      </p:sp>
      <p:grpSp>
        <p:nvGrpSpPr>
          <p:cNvPr id="21" name="table/row/0"/>
          <p:cNvGrpSpPr/>
          <p:nvPr/>
        </p:nvGrpSpPr>
        <p:grpSpPr>
          <a:xfrm>
            <a:off x="1043940" y="3069824"/>
            <a:ext cx="10122408" cy="220980"/>
            <a:chOff x="1043940" y="3069824"/>
            <a:chExt cx="10122408" cy="220980"/>
          </a:xfrm>
        </p:grpSpPr>
        <p:sp>
          <p:nvSpPr>
            <p:cNvPr id="3" name="ts:table#table/rows/0/cells/0@table/row/0"/>
            <p:cNvSpPr txBox="1"/>
            <p:nvPr/>
          </p:nvSpPr>
          <p:spPr>
            <a:xfrm>
              <a:off x="1043940" y="306982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070707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Plan</a:t>
              </a:r>
              <a:endParaRPr lang="en-US" sz="1200" dirty="0"/>
            </a:p>
          </p:txBody>
        </p:sp>
        <p:sp>
          <p:nvSpPr>
            <p:cNvPr id="4" name="ts:table#table/rows/0/cells/1@table/row/0"/>
            <p:cNvSpPr txBox="1"/>
            <p:nvPr/>
          </p:nvSpPr>
          <p:spPr>
            <a:xfrm>
              <a:off x="3569970" y="306982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070707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Seats</a:t>
              </a:r>
              <a:endParaRPr lang="en-US" sz="1200" dirty="0"/>
            </a:p>
          </p:txBody>
        </p:sp>
        <p:sp>
          <p:nvSpPr>
            <p:cNvPr id="5" name="ts:table#table/rows/0/cells/2@table/row/0"/>
            <p:cNvSpPr txBox="1"/>
            <p:nvPr/>
          </p:nvSpPr>
          <p:spPr>
            <a:xfrm>
              <a:off x="6096000" y="306982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070707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Locales</a:t>
              </a:r>
              <a:endParaRPr lang="en-US" sz="1200" dirty="0"/>
            </a:p>
          </p:txBody>
        </p:sp>
        <p:sp>
          <p:nvSpPr>
            <p:cNvPr id="6" name="ts:table#table/rows/0/cells/3@table/row/0"/>
            <p:cNvSpPr txBox="1"/>
            <p:nvPr/>
          </p:nvSpPr>
          <p:spPr>
            <a:xfrm>
              <a:off x="8622030" y="306982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070707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Price</a:t>
              </a:r>
              <a:endParaRPr lang="en-US" sz="1200" dirty="0"/>
            </a:p>
          </p:txBody>
        </p:sp>
      </p:grpSp>
      <p:grpSp>
        <p:nvGrpSpPr>
          <p:cNvPr id="22" name="table/row/1"/>
          <p:cNvGrpSpPr/>
          <p:nvPr/>
        </p:nvGrpSpPr>
        <p:grpSpPr>
          <a:xfrm>
            <a:off x="1043940" y="3481304"/>
            <a:ext cx="10122408" cy="220980"/>
            <a:chOff x="1043940" y="3481304"/>
            <a:chExt cx="10122408" cy="220980"/>
          </a:xfrm>
        </p:grpSpPr>
        <p:sp>
          <p:nvSpPr>
            <p:cNvPr id="7" name="ts:table#table/rows/1/cells/0@table/row/1"/>
            <p:cNvSpPr txBox="1"/>
            <p:nvPr/>
          </p:nvSpPr>
          <p:spPr>
            <a:xfrm>
              <a:off x="1043940" y="348130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Starter</a:t>
              </a:r>
              <a:endParaRPr lang="en-US" sz="1200" dirty="0"/>
            </a:p>
          </p:txBody>
        </p:sp>
        <p:sp>
          <p:nvSpPr>
            <p:cNvPr id="8" name="ts:table#table/rows/1/cells/1@table/row/1"/>
            <p:cNvSpPr txBox="1"/>
            <p:nvPr/>
          </p:nvSpPr>
          <p:spPr>
            <a:xfrm>
              <a:off x="3569970" y="348130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5</a:t>
              </a:r>
              <a:endParaRPr lang="en-US" sz="1200" dirty="0"/>
            </a:p>
          </p:txBody>
        </p:sp>
        <p:sp>
          <p:nvSpPr>
            <p:cNvPr id="9" name="ts:table#table/rows/1/cells/2@table/row/1"/>
            <p:cNvSpPr txBox="1"/>
            <p:nvPr/>
          </p:nvSpPr>
          <p:spPr>
            <a:xfrm>
              <a:off x="6096000" y="348130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2</a:t>
              </a:r>
              <a:endParaRPr lang="en-US" sz="1200" dirty="0"/>
            </a:p>
          </p:txBody>
        </p:sp>
        <p:sp>
          <p:nvSpPr>
            <p:cNvPr id="10" name="ts:table#table/rows/1/cells/3@table/row/1"/>
            <p:cNvSpPr txBox="1"/>
            <p:nvPr/>
          </p:nvSpPr>
          <p:spPr>
            <a:xfrm>
              <a:off x="8622030" y="348130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$0</a:t>
              </a:r>
              <a:endParaRPr lang="en-US" sz="1200" dirty="0"/>
            </a:p>
          </p:txBody>
        </p:sp>
      </p:grpSp>
      <p:grpSp>
        <p:nvGrpSpPr>
          <p:cNvPr id="23" name="table/row/2"/>
          <p:cNvGrpSpPr/>
          <p:nvPr/>
        </p:nvGrpSpPr>
        <p:grpSpPr>
          <a:xfrm>
            <a:off x="1043940" y="3892784"/>
            <a:ext cx="10122408" cy="220980"/>
            <a:chOff x="1043940" y="3892784"/>
            <a:chExt cx="10122408" cy="220980"/>
          </a:xfrm>
        </p:grpSpPr>
        <p:sp>
          <p:nvSpPr>
            <p:cNvPr id="11" name="ts:table#table/rows/2/cells/0@table/row/2"/>
            <p:cNvSpPr txBox="1"/>
            <p:nvPr/>
          </p:nvSpPr>
          <p:spPr>
            <a:xfrm>
              <a:off x="1043940" y="389278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Team</a:t>
              </a:r>
              <a:endParaRPr lang="en-US" sz="1200" dirty="0"/>
            </a:p>
          </p:txBody>
        </p:sp>
        <p:sp>
          <p:nvSpPr>
            <p:cNvPr id="12" name="ts:table#table/rows/2/cells/1@table/row/2"/>
            <p:cNvSpPr txBox="1"/>
            <p:nvPr/>
          </p:nvSpPr>
          <p:spPr>
            <a:xfrm>
              <a:off x="3569970" y="389278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25</a:t>
              </a:r>
              <a:endParaRPr lang="en-US" sz="1200" dirty="0"/>
            </a:p>
          </p:txBody>
        </p:sp>
        <p:sp>
          <p:nvSpPr>
            <p:cNvPr id="13" name="ts:table#table/rows/2/cells/2@table/row/2"/>
            <p:cNvSpPr txBox="1"/>
            <p:nvPr/>
          </p:nvSpPr>
          <p:spPr>
            <a:xfrm>
              <a:off x="6096000" y="389278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10</a:t>
              </a:r>
              <a:endParaRPr lang="en-US" sz="1200" dirty="0"/>
            </a:p>
          </p:txBody>
        </p:sp>
        <p:sp>
          <p:nvSpPr>
            <p:cNvPr id="14" name="ts:table#table/rows/2/cells/3@table/row/2"/>
            <p:cNvSpPr txBox="1"/>
            <p:nvPr/>
          </p:nvSpPr>
          <p:spPr>
            <a:xfrm>
              <a:off x="8622030" y="389278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$99</a:t>
              </a:r>
              <a:endParaRPr lang="en-US" sz="1200" dirty="0"/>
            </a:p>
          </p:txBody>
        </p:sp>
      </p:grpSp>
      <p:grpSp>
        <p:nvGrpSpPr>
          <p:cNvPr id="24" name="table/row/3"/>
          <p:cNvGrpSpPr/>
          <p:nvPr/>
        </p:nvGrpSpPr>
        <p:grpSpPr>
          <a:xfrm>
            <a:off x="1043940" y="4304264"/>
            <a:ext cx="10122408" cy="220980"/>
            <a:chOff x="1043940" y="4304264"/>
            <a:chExt cx="10122408" cy="220980"/>
          </a:xfrm>
        </p:grpSpPr>
        <p:sp>
          <p:nvSpPr>
            <p:cNvPr id="15" name="ts:table#table/rows/3/cells/0@table/row/3"/>
            <p:cNvSpPr txBox="1"/>
            <p:nvPr/>
          </p:nvSpPr>
          <p:spPr>
            <a:xfrm>
              <a:off x="1043940" y="430426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Enterprise</a:t>
              </a:r>
              <a:endParaRPr lang="en-US" sz="1200" dirty="0"/>
            </a:p>
          </p:txBody>
        </p:sp>
        <p:sp>
          <p:nvSpPr>
            <p:cNvPr id="16" name="ts:table#table/rows/3/cells/1@table/row/3"/>
            <p:cNvSpPr txBox="1"/>
            <p:nvPr/>
          </p:nvSpPr>
          <p:spPr>
            <a:xfrm>
              <a:off x="3569970" y="430426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Unlimited</a:t>
              </a:r>
              <a:endParaRPr lang="en-US" sz="1200" dirty="0"/>
            </a:p>
          </p:txBody>
        </p:sp>
        <p:sp>
          <p:nvSpPr>
            <p:cNvPr id="17" name="ts:table#table/rows/3/cells/2@table/row/3"/>
            <p:cNvSpPr txBox="1"/>
            <p:nvPr/>
          </p:nvSpPr>
          <p:spPr>
            <a:xfrm>
              <a:off x="6096000" y="430426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Every locale</a:t>
              </a:r>
              <a:endParaRPr lang="en-US" sz="1200" dirty="0"/>
            </a:p>
          </p:txBody>
        </p:sp>
        <p:sp>
          <p:nvSpPr>
            <p:cNvPr id="18" name="ts:table#table/rows/3/cells/3@table/row/3"/>
            <p:cNvSpPr txBox="1"/>
            <p:nvPr/>
          </p:nvSpPr>
          <p:spPr>
            <a:xfrm>
              <a:off x="8622030" y="430426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Contact sales</a:t>
              </a:r>
              <a:endParaRPr lang="en-US" sz="1200" dirty="0"/>
            </a:p>
          </p:txBody>
        </p:sp>
      </p:grpSp>
      <p:sp>
        <p:nvSpPr>
          <p:cNvPr id="19" name="ts:tab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03 / 28</a:t>
            </a:r>
            <a:endParaRPr lang="en-US" sz="780" dirty="0"/>
          </a:p>
        </p:txBody>
      </p:sp>
      <p:pic>
        <p:nvPicPr>
          <p:cNvPr id="20" name="ts:table#sheet" descr="Pricing table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llout step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s:numbered#title" hidden="1"/>
          <p:cNvSpPr txBox="1">
            <a:spLocks noGrp="1"/>
          </p:cNvSpPr>
          <p:nvPr>
            <p:ph type="title"/>
          </p:nvPr>
        </p:nvSpPr>
        <p:spPr>
          <a:xfrm>
            <a:off x="1043940" y="2839212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Rollout steps</a:t>
            </a:r>
            <a:endParaRPr lang="en-US" sz="2640" dirty="0"/>
          </a:p>
        </p:txBody>
      </p:sp>
      <p:sp>
        <p:nvSpPr>
          <p:cNvPr id="2" name="ts:numbered#h/text"/>
          <p:cNvSpPr txBox="1"/>
          <p:nvPr/>
        </p:nvSpPr>
        <p:spPr>
          <a:xfrm>
            <a:off x="1043940" y="2843034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Rollout steps</a:t>
            </a:r>
            <a:endParaRPr lang="en-US" sz="2640" dirty="0"/>
          </a:p>
        </p:txBody>
      </p:sp>
      <p:sp>
        <p:nvSpPr>
          <p:cNvPr id="3" name="ts:numbered#p1/text"/>
          <p:cNvSpPr txBox="1"/>
          <p:nvPr/>
        </p:nvSpPr>
        <p:spPr>
          <a:xfrm>
            <a:off x="1043940" y="3476175"/>
            <a:ext cx="3999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numbered list with a tabular numeral in the key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position.</a:t>
            </a:r>
            <a:endParaRPr lang="en-US" sz="1320" dirty="0"/>
          </a:p>
        </p:txBody>
      </p:sp>
      <p:grpSp>
        <p:nvGrpSpPr>
          <p:cNvPr id="12" name="list/item/0"/>
          <p:cNvGrpSpPr/>
          <p:nvPr/>
        </p:nvGrpSpPr>
        <p:grpSpPr>
          <a:xfrm>
            <a:off x="5574030" y="2826337"/>
            <a:ext cx="5592318" cy="256032"/>
            <a:chOff x="5574030" y="2826337"/>
            <a:chExt cx="5592318" cy="256032"/>
          </a:xfrm>
        </p:grpSpPr>
        <p:sp>
          <p:nvSpPr>
            <p:cNvPr id="4" name="ts:numbered#list/items/0/num@list/item/0"/>
            <p:cNvSpPr txBox="1"/>
            <p:nvPr/>
          </p:nvSpPr>
          <p:spPr>
            <a:xfrm>
              <a:off x="5574030" y="2826337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1</a:t>
              </a:r>
              <a:endParaRPr lang="en-US" sz="1440" dirty="0"/>
            </a:p>
          </p:txBody>
        </p:sp>
        <p:sp>
          <p:nvSpPr>
            <p:cNvPr id="5" name="ts:numbered#list/items/0/text@list/item/0"/>
            <p:cNvSpPr txBox="1"/>
            <p:nvPr/>
          </p:nvSpPr>
          <p:spPr>
            <a:xfrm>
              <a:off x="5848350" y="2826337"/>
              <a:ext cx="531799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Connect the repository</a:t>
              </a:r>
              <a:endParaRPr lang="en-US" sz="1440" dirty="0"/>
            </a:p>
          </p:txBody>
        </p:sp>
      </p:grpSp>
      <p:grpSp>
        <p:nvGrpSpPr>
          <p:cNvPr id="13" name="list/item/1"/>
          <p:cNvGrpSpPr/>
          <p:nvPr/>
        </p:nvGrpSpPr>
        <p:grpSpPr>
          <a:xfrm>
            <a:off x="5574030" y="3272793"/>
            <a:ext cx="5592318" cy="256032"/>
            <a:chOff x="5574030" y="3272793"/>
            <a:chExt cx="5592318" cy="256032"/>
          </a:xfrm>
        </p:grpSpPr>
        <p:sp>
          <p:nvSpPr>
            <p:cNvPr id="6" name="ts:numbered#list/items/1/num@list/item/1"/>
            <p:cNvSpPr txBox="1"/>
            <p:nvPr/>
          </p:nvSpPr>
          <p:spPr>
            <a:xfrm>
              <a:off x="5574030" y="3272793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2</a:t>
              </a:r>
              <a:endParaRPr lang="en-US" sz="1440" dirty="0"/>
            </a:p>
          </p:txBody>
        </p:sp>
        <p:sp>
          <p:nvSpPr>
            <p:cNvPr id="7" name="ts:numbered#list/items/1/text@list/item/1"/>
            <p:cNvSpPr txBox="1"/>
            <p:nvPr/>
          </p:nvSpPr>
          <p:spPr>
            <a:xfrm>
              <a:off x="5848350" y="3272793"/>
              <a:ext cx="531799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Pick the locales</a:t>
              </a:r>
              <a:endParaRPr lang="en-US" sz="1440" dirty="0"/>
            </a:p>
          </p:txBody>
        </p:sp>
      </p:grpSp>
      <p:grpSp>
        <p:nvGrpSpPr>
          <p:cNvPr id="14" name="list/item/2"/>
          <p:cNvGrpSpPr/>
          <p:nvPr/>
        </p:nvGrpSpPr>
        <p:grpSpPr>
          <a:xfrm>
            <a:off x="5574030" y="3719325"/>
            <a:ext cx="5592318" cy="256032"/>
            <a:chOff x="5574030" y="3719325"/>
            <a:chExt cx="5592318" cy="256032"/>
          </a:xfrm>
        </p:grpSpPr>
        <p:sp>
          <p:nvSpPr>
            <p:cNvPr id="8" name="ts:numbered#list/items/2/num@list/item/2"/>
            <p:cNvSpPr txBox="1"/>
            <p:nvPr/>
          </p:nvSpPr>
          <p:spPr>
            <a:xfrm>
              <a:off x="5574030" y="3719325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3</a:t>
              </a:r>
              <a:endParaRPr lang="en-US" sz="1440" dirty="0"/>
            </a:p>
          </p:txBody>
        </p:sp>
        <p:sp>
          <p:nvSpPr>
            <p:cNvPr id="9" name="ts:numbered#list/items/2/text@list/item/2"/>
            <p:cNvSpPr txBox="1"/>
            <p:nvPr/>
          </p:nvSpPr>
          <p:spPr>
            <a:xfrm>
              <a:off x="5848350" y="3719325"/>
              <a:ext cx="531799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Ship the first release</a:t>
              </a:r>
              <a:endParaRPr lang="en-US" sz="1440" dirty="0"/>
            </a:p>
          </p:txBody>
        </p:sp>
      </p:grpSp>
      <p:sp>
        <p:nvSpPr>
          <p:cNvPr id="10" name="ts:numbered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04 / 28</a:t>
            </a:r>
            <a:endParaRPr lang="en-US" sz="780" dirty="0"/>
          </a:p>
        </p:txBody>
      </p:sp>
      <p:pic>
        <p:nvPicPr>
          <p:cNvPr id="11" name="ts:numbered#sheet" descr="Rollout steps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lock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s:link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096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Block links</a:t>
            </a:r>
            <a:endParaRPr lang="en-US" sz="2640" dirty="0"/>
          </a:p>
        </p:txBody>
      </p:sp>
      <p:sp>
        <p:nvSpPr>
          <p:cNvPr id="2" name="ts:links#h/text"/>
          <p:cNvSpPr txBox="1"/>
          <p:nvPr/>
        </p:nvSpPr>
        <p:spPr>
          <a:xfrm>
            <a:off x="1043940" y="985278"/>
            <a:ext cx="6114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Block links</a:t>
            </a:r>
            <a:endParaRPr lang="en-US" sz="2640" dirty="0"/>
          </a:p>
        </p:txBody>
      </p:sp>
      <p:sp>
        <p:nvSpPr>
          <p:cNvPr id="3" name="ts:links#box/text"/>
          <p:cNvSpPr txBox="1"/>
          <p:nvPr/>
        </p:nvSpPr>
        <p:spPr>
          <a:xfrm>
            <a:off x="1173480" y="1927868"/>
            <a:ext cx="4026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box linked to the first slide.</a:t>
            </a:r>
            <a:endParaRPr lang="en-US" sz="132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Two paragraphs inside the box.</a:t>
            </a:r>
            <a:endParaRPr lang="en-US" sz="1320" dirty="0"/>
          </a:p>
        </p:txBody>
      </p:sp>
      <p:sp>
        <p:nvSpPr>
          <p:cNvPr id="4" name="ts:links#t1/text"/>
          <p:cNvSpPr txBox="1"/>
          <p:nvPr/>
        </p:nvSpPr>
        <p:spPr>
          <a:xfrm>
            <a:off x="1043940" y="3383288"/>
            <a:ext cx="42854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text box linked to the table slide.</a:t>
            </a:r>
            <a:endParaRPr lang="en-US" sz="1320" dirty="0"/>
          </a:p>
        </p:txBody>
      </p:sp>
      <p:sp>
        <p:nvSpPr>
          <p:cNvPr id="5" name="ts:link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05 / 28</a:t>
            </a:r>
            <a:endParaRPr lang="en-US" sz="780" dirty="0"/>
          </a:p>
        </p:txBody>
      </p:sp>
      <p:pic>
        <p:nvPicPr>
          <p:cNvPr id="6" name="ts:links#sheet" descr="Block links (light), the sheet at 2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  <p:sp>
        <p:nvSpPr>
          <p:cNvPr id="7" name="ts:links#box/link">
            <a:hlinkClick r:id="rId5" tooltip="" action="ppaction://hlinksldjump"/>
          </p:cNvPr>
          <p:cNvSpPr/>
          <p:nvPr/>
        </p:nvSpPr>
        <p:spPr>
          <a:xfrm>
            <a:off x="1043940" y="1836420"/>
            <a:ext cx="4267200" cy="1219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s:links#shape/link">
            <a:hlinkClick r:id="rId6" tooltip=""/>
          </p:cNvPr>
          <p:cNvSpPr/>
          <p:nvPr/>
        </p:nvSpPr>
        <p:spPr>
          <a:xfrm>
            <a:off x="5798820" y="1836420"/>
            <a:ext cx="3048000" cy="1219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s:links#t1/link">
            <a:hlinkClick r:id="rId7" tooltip="" action="ppaction://hlinksldjump"/>
          </p:cNvPr>
          <p:cNvSpPr/>
          <p:nvPr/>
        </p:nvSpPr>
        <p:spPr>
          <a:xfrm>
            <a:off x="1043940" y="3421380"/>
            <a:ext cx="4267200" cy="2514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s:prompt#title" hidden="1"/>
          <p:cNvSpPr txBox="1">
            <a:spLocks noGrp="1"/>
          </p:cNvSpPr>
          <p:nvPr>
            <p:ph type="title"/>
          </p:nvPr>
        </p:nvSpPr>
        <p:spPr>
          <a:xfrm>
            <a:off x="1043940" y="1043940"/>
            <a:ext cx="101041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Slide 6</a:t>
            </a:r>
            <a:endParaRPr lang="en-US" sz="2640" dirty="0"/>
          </a:p>
        </p:txBody>
      </p:sp>
      <p:sp>
        <p:nvSpPr>
          <p:cNvPr id="2" name="ts:prompt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06 / 28</a:t>
            </a:r>
            <a:endParaRPr lang="en-US" sz="780" dirty="0"/>
          </a:p>
        </p:txBody>
      </p:sp>
      <p:pic>
        <p:nvPicPr>
          <p:cNvPr id="3" name="ts:prompt#sheet" descr="Slide 6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xt styl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style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Text styles</a:t>
            </a:r>
            <a:endParaRPr lang="en-US" sz="2640" dirty="0"/>
          </a:p>
        </p:txBody>
      </p:sp>
      <p:sp>
        <p:nvSpPr>
          <p:cNvPr id="2" name="ts:styles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Text styles</a:t>
            </a:r>
            <a:endParaRPr lang="en-US" sz="2640" dirty="0"/>
          </a:p>
        </p:txBody>
      </p:sp>
      <p:sp>
        <p:nvSpPr>
          <p:cNvPr id="3" name="ts:styles#p1/text"/>
          <p:cNvSpPr txBox="1"/>
          <p:nvPr/>
        </p:nvSpPr>
        <p:spPr>
          <a:xfrm>
            <a:off x="1043940" y="1621086"/>
            <a:ext cx="5867248" cy="500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run in </a:t>
            </a:r>
            <a:pPr algn="l" indent="0" marL="0">
              <a:lnSpc>
                <a:spcPts val="1980"/>
              </a:lnSpc>
              <a:buNone/>
            </a:pPr>
            <a:r>
              <a:rPr lang="en-US" sz="1320" i="1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italic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, one </a:t>
            </a:r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underlined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, one </a:t>
            </a:r>
            <a:pPr algn="l" indent="0" marL="0">
              <a:lnSpc>
                <a:spcPts val="1980"/>
              </a:lnSpc>
              <a:buNone/>
            </a:pPr>
            <a:r>
              <a:rPr lang="en-US" sz="1320" strike="sngStrike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struck through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, E = mc</a:t>
            </a:r>
            <a:pPr algn="l" indent="0" marL="0">
              <a:lnSpc>
                <a:spcPts val="1980"/>
              </a:lnSpc>
              <a:buNone/>
            </a:pPr>
            <a:r>
              <a:rPr lang="en-US" sz="858" baseline="30000" dirty="0">
                <a:solidFill>
                  <a:srgbClr val="070707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, H</a:t>
            </a:r>
            <a:pPr algn="l" indent="0" marL="0">
              <a:lnSpc>
                <a:spcPts val="1980"/>
              </a:lnSpc>
              <a:buNone/>
            </a:pPr>
            <a:r>
              <a:rPr lang="en-US" sz="858" baseline="-40000" dirty="0">
                <a:solidFill>
                  <a:srgbClr val="070707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O, a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A37A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coloured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run and a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highlighted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 run.</a:t>
            </a:r>
            <a:endParaRPr lang="en-US" sz="1320" dirty="0"/>
          </a:p>
        </p:txBody>
      </p:sp>
      <p:sp>
        <p:nvSpPr>
          <p:cNvPr id="4" name="ts:styles#justified/text"/>
          <p:cNvSpPr txBox="1"/>
          <p:nvPr/>
        </p:nvSpPr>
        <p:spPr>
          <a:xfrm>
            <a:off x="1043940" y="2426139"/>
            <a:ext cx="10122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justified text box sets every line but the last to the full measure. The word spaces stretch so both edges of the block are straight,</a:t>
            </a:r>
            <a:br/>
            <a:pPr algn="just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which is what Google Slides does for the fourth alignment button.</a:t>
            </a:r>
            <a:endParaRPr lang="en-US" sz="1320" dirty="0"/>
          </a:p>
        </p:txBody>
      </p:sp>
      <p:sp>
        <p:nvSpPr>
          <p:cNvPr id="5" name="ts:style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07 / 28</a:t>
            </a:r>
            <a:endParaRPr lang="en-US" sz="780" dirty="0"/>
          </a:p>
        </p:txBody>
      </p:sp>
      <p:pic>
        <p:nvPicPr>
          <p:cNvPr id="6" name="ts:styles#sheet" descr="Text styles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title slide as a canv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s:canvas-title#title" hidden="1"/>
          <p:cNvSpPr txBox="1">
            <a:spLocks noGrp="1"/>
          </p:cNvSpPr>
          <p:nvPr>
            <p:ph type="title"/>
          </p:nvPr>
        </p:nvSpPr>
        <p:spPr>
          <a:xfrm>
            <a:off x="1043940" y="3193694"/>
            <a:ext cx="10104120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title slide as a canvas</a:t>
            </a:r>
            <a:endParaRPr lang="en-US" sz="5280" dirty="0"/>
          </a:p>
        </p:txBody>
      </p:sp>
      <p:sp>
        <p:nvSpPr>
          <p:cNvPr id="2" name="ts:canvas-title#heading/text"/>
          <p:cNvSpPr txBox="1"/>
          <p:nvPr/>
        </p:nvSpPr>
        <p:spPr>
          <a:xfrm>
            <a:off x="1043940" y="3224205"/>
            <a:ext cx="1012240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title slide as a canvas</a:t>
            </a:r>
            <a:endParaRPr lang="en-US" sz="5280" dirty="0"/>
          </a:p>
        </p:txBody>
      </p:sp>
      <p:sp>
        <p:nvSpPr>
          <p:cNvPr id="3" name="ts:canvas-title#lead/text"/>
          <p:cNvSpPr txBox="1"/>
          <p:nvPr/>
        </p:nvSpPr>
        <p:spPr>
          <a:xfrm>
            <a:off x="1043940" y="4051182"/>
            <a:ext cx="6883908" cy="5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3A3D44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The mark, the heading and this lead are objects; a text box grows, another</a:t>
            </a:r>
            <a:br/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3A3D44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shrinks, a shape holds padded text and an icon sits beside it.</a:t>
            </a:r>
            <a:endParaRPr lang="en-US" sz="1560" dirty="0"/>
          </a:p>
        </p:txBody>
      </p:sp>
      <p:sp>
        <p:nvSpPr>
          <p:cNvPr id="4" name="ts:canvas-title#grow/text"/>
          <p:cNvSpPr txBox="1"/>
          <p:nvPr/>
        </p:nvSpPr>
        <p:spPr>
          <a:xfrm>
            <a:off x="1043940" y="4842518"/>
            <a:ext cx="3980688" cy="457200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text box that resizes to fit its text</a:t>
            </a:r>
            <a:endParaRPr lang="en-US" sz="1320" dirty="0"/>
          </a:p>
        </p:txBody>
      </p:sp>
      <p:sp>
        <p:nvSpPr>
          <p:cNvPr id="5" name="ts:canvas-title#shrink/text"/>
          <p:cNvSpPr txBox="1"/>
          <p:nvPr/>
        </p:nvSpPr>
        <p:spPr>
          <a:xfrm>
            <a:off x="5334000" y="4841376"/>
            <a:ext cx="3218688" cy="609600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070707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A text box with shrink text on</a:t>
            </a:r>
            <a:br/>
            <a:pPr algn="l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070707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overflow: the copy is long</a:t>
            </a:r>
            <a:br/>
            <a:pPr algn="l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070707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enough at 26 px that the fit steps</a:t>
            </a:r>
            <a:br/>
            <a:pPr algn="l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070707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the size down the ladder to 24 or</a:t>
            </a:r>
            <a:br/>
            <a:pPr algn="l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070707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22 before it fits the box it was</a:t>
            </a:r>
            <a:br/>
            <a:pPr algn="l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070707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given.</a:t>
            </a:r>
            <a:endParaRPr lang="en-US" sz="1560" dirty="0"/>
          </a:p>
        </p:txBody>
      </p:sp>
      <p:sp>
        <p:nvSpPr>
          <p:cNvPr id="6" name="ts:canvas-title#padded/text"/>
          <p:cNvSpPr txBox="1"/>
          <p:nvPr/>
        </p:nvSpPr>
        <p:spPr>
          <a:xfrm>
            <a:off x="8883701" y="4734618"/>
            <a:ext cx="2214982" cy="825094"/>
          </a:xfrm>
          <a:prstGeom prst="rect">
            <a:avLst/>
          </a:prstGeom>
          <a:noFill/>
          <a:ln/>
        </p:spPr>
        <p:txBody>
          <a:bodyPr wrap="square" lIns="182880" tIns="60960" rIns="182880" bIns="60960" rtlCol="0" anchor="ctr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Padded, middle aligned</a:t>
            </a:r>
            <a:endParaRPr lang="en-US" sz="1320" dirty="0"/>
          </a:p>
        </p:txBody>
      </p:sp>
      <p:sp>
        <p:nvSpPr>
          <p:cNvPr id="7" name="ts:canvas-tit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08 / 28</a:t>
            </a:r>
            <a:endParaRPr lang="en-US" sz="780" dirty="0"/>
          </a:p>
        </p:txBody>
      </p:sp>
      <p:pic>
        <p:nvPicPr>
          <p:cNvPr id="8" name="ts:canvas-title#sheet" descr="A title slide as a canvas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nv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s:canvas-opener#title" hidden="1"/>
          <p:cNvSpPr txBox="1">
            <a:spLocks noGrp="1"/>
          </p:cNvSpPr>
          <p:nvPr>
            <p:ph type="title"/>
          </p:nvPr>
        </p:nvSpPr>
        <p:spPr>
          <a:xfrm>
            <a:off x="1272540" y="4018331"/>
            <a:ext cx="5242560" cy="5815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432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Canvas</a:t>
            </a:r>
            <a:endParaRPr lang="en-US" sz="4320" dirty="0"/>
          </a:p>
        </p:txBody>
      </p:sp>
      <p:grpSp>
        <p:nvGrpSpPr>
          <p:cNvPr id="7" name="g:plate"/>
          <p:cNvGrpSpPr/>
          <p:nvPr/>
        </p:nvGrpSpPr>
        <p:grpSpPr>
          <a:xfrm>
            <a:off x="1200150" y="4046311"/>
            <a:ext cx="5333238" cy="1656348"/>
            <a:chOff x="1200150" y="4046311"/>
            <a:chExt cx="5333238" cy="1656348"/>
          </a:xfrm>
        </p:grpSpPr>
        <p:sp>
          <p:nvSpPr>
            <p:cNvPr id="2" name="ts:canvas-opener#big/text@g:plate"/>
            <p:cNvSpPr txBox="1"/>
            <p:nvPr/>
          </p:nvSpPr>
          <p:spPr>
            <a:xfrm rot="180000">
              <a:off x="1272540" y="4046311"/>
              <a:ext cx="5260848" cy="5815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579"/>
                </a:lnSpc>
                <a:buNone/>
              </a:pPr>
              <a:r>
                <a:rPr lang="en-US" sz="4320" spc="-108" dirty="0">
                  <a:solidFill>
                    <a:srgbClr val="070707">
                      <a:alpha val="0"/>
                    </a:srgbClr>
                  </a:solidFill>
                  <a:latin typeface="GT Inter Display" pitchFamily="34" charset="0"/>
                  <a:ea typeface="GT Inter Display" pitchFamily="34" charset="-122"/>
                  <a:cs typeface="GT Inter Display" pitchFamily="34" charset="-120"/>
                </a:rPr>
                <a:t>Canvas</a:t>
              </a:r>
              <a:endParaRPr lang="en-US" sz="4320" dirty="0"/>
            </a:p>
          </p:txBody>
        </p:sp>
        <p:sp>
          <p:nvSpPr>
            <p:cNvPr id="3" name="ts:canvas-opener#p/text@g:plate"/>
            <p:cNvSpPr txBox="1"/>
            <p:nvPr/>
          </p:nvSpPr>
          <p:spPr>
            <a:xfrm rot="180000">
              <a:off x="1230630" y="4671068"/>
              <a:ext cx="5260848" cy="754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070707">
                      <a:alpha val="0"/>
                    </a:srgbClr>
                  </a:solidFill>
                  <a:latin typeface="GT Inter Text 22" pitchFamily="34" charset="0"/>
                  <a:ea typeface="GT Inter Text 22" pitchFamily="34" charset="-122"/>
                  <a:cs typeface="GT Inter Text 22" pitchFamily="34" charset="-120"/>
                </a:rPr>
                <a:t>A section header as a canvas: the photograph is the picture object at</a:t>
              </a:r>
              <a:br/>
              <a:pPr algn="l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070707">
                      <a:alpha val="0"/>
                    </a:srgbClr>
                  </a:solidFill>
                  <a:latin typeface="GT Inter Text 22" pitchFamily="34" charset="0"/>
                  <a:ea typeface="GT Inter Text 22" pitchFamily="34" charset="-122"/>
                  <a:cs typeface="GT Inter Text 22" pitchFamily="34" charset="-120"/>
                </a:rPr>
                <a:t>the bottom of the stack, moved and trimmed; the plate group is</a:t>
              </a:r>
              <a:br/>
              <a:pPr algn="l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070707">
                      <a:alpha val="0"/>
                    </a:srgbClr>
                  </a:solidFill>
                  <a:latin typeface="GT Inter Text 22" pitchFamily="34" charset="0"/>
                  <a:ea typeface="GT Inter Text 22" pitchFamily="34" charset="-122"/>
                  <a:cs typeface="GT Inter Text 22" pitchFamily="34" charset="-120"/>
                </a:rPr>
                <a:t>rotated 3 degrees.</a:t>
              </a:r>
              <a:endParaRPr lang="en-US" sz="1320" dirty="0"/>
            </a:p>
          </p:txBody>
        </p:sp>
        <p:sp>
          <p:nvSpPr>
            <p:cNvPr id="4" name="ts:canvas-opener#credit/text@g:plate"/>
            <p:cNvSpPr txBox="1"/>
            <p:nvPr/>
          </p:nvSpPr>
          <p:spPr>
            <a:xfrm rot="180000">
              <a:off x="1200150" y="5536924"/>
              <a:ext cx="5260848" cy="1657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305"/>
                </a:lnSpc>
                <a:buNone/>
              </a:pPr>
              <a:r>
                <a:rPr lang="en-US" sz="900" spc="9" dirty="0">
                  <a:solidFill>
                    <a:srgbClr val="8A8F98">
                      <a:alpha val="0"/>
                    </a:srgbClr>
                  </a:solidFill>
                  <a:latin typeface="GT Inter Text 15" pitchFamily="34" charset="0"/>
                  <a:ea typeface="GT Inter Text 15" pitchFamily="34" charset="-122"/>
                  <a:cs typeface="GT Inter Text 15" pitchFamily="34" charset="-120"/>
                </a:rPr>
                <a:t>Picture: fixture geometry, drawn for this deck</a:t>
              </a:r>
              <a:endParaRPr lang="en-US" sz="900" dirty="0"/>
            </a:p>
          </p:txBody>
        </p:sp>
      </p:grpSp>
      <p:sp>
        <p:nvSpPr>
          <p:cNvPr id="5" name="ts:canvas-opener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09 / 28</a:t>
            </a:r>
            <a:endParaRPr lang="en-US" sz="780" dirty="0"/>
          </a:p>
        </p:txBody>
      </p:sp>
      <p:pic>
        <p:nvPicPr>
          <p:cNvPr id="6" name="ts:canvas-opener#sheet" descr="Canvas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tated and flipped objec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rotated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858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Rotated and flipped objects</a:t>
            </a:r>
            <a:endParaRPr lang="en-US" sz="2640" dirty="0"/>
          </a:p>
        </p:txBody>
      </p:sp>
      <p:sp>
        <p:nvSpPr>
          <p:cNvPr id="2" name="ts:rotated#h/text"/>
          <p:cNvSpPr txBox="1"/>
          <p:nvPr/>
        </p:nvSpPr>
        <p:spPr>
          <a:xfrm>
            <a:off x="1043940" y="985278"/>
            <a:ext cx="6876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Rotated and flipped objects</a:t>
            </a:r>
            <a:endParaRPr lang="en-US" sz="2640" dirty="0"/>
          </a:p>
        </p:txBody>
      </p:sp>
      <p:sp>
        <p:nvSpPr>
          <p:cNvPr id="3" name="ts:rotated#tilted/text"/>
          <p:cNvSpPr txBox="1"/>
          <p:nvPr/>
        </p:nvSpPr>
        <p:spPr>
          <a:xfrm rot="2220000">
            <a:off x="1524000" y="2404118"/>
            <a:ext cx="3675888" cy="487680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text box rotated 37 degrees</a:t>
            </a:r>
            <a:endParaRPr lang="en-US" sz="1320" dirty="0"/>
          </a:p>
        </p:txBody>
      </p:sp>
      <p:sp>
        <p:nvSpPr>
          <p:cNvPr id="4" name="ts:rotated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10 / 28</a:t>
            </a:r>
            <a:endParaRPr lang="en-US" sz="780" dirty="0"/>
          </a:p>
        </p:txBody>
      </p:sp>
      <p:pic>
        <p:nvPicPr>
          <p:cNvPr id="5" name="ts:rotated#sheet" descr="Rotated and flipped objects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group of four objec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grouped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858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group of four objects</a:t>
            </a:r>
            <a:endParaRPr lang="en-US" sz="2640" dirty="0"/>
          </a:p>
        </p:txBody>
      </p:sp>
      <p:sp>
        <p:nvSpPr>
          <p:cNvPr id="2" name="ts:grouped#h/text"/>
          <p:cNvSpPr txBox="1"/>
          <p:nvPr/>
        </p:nvSpPr>
        <p:spPr>
          <a:xfrm>
            <a:off x="1043940" y="985278"/>
            <a:ext cx="6876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group of four objects</a:t>
            </a:r>
            <a:endParaRPr lang="en-US" sz="2640" dirty="0"/>
          </a:p>
        </p:txBody>
      </p:sp>
      <p:sp>
        <p:nvSpPr>
          <p:cNvPr id="3" name="ts:grouped#label/text@g:four"/>
          <p:cNvSpPr txBox="1"/>
          <p:nvPr/>
        </p:nvSpPr>
        <p:spPr>
          <a:xfrm>
            <a:off x="1828800" y="3775718"/>
            <a:ext cx="6114288" cy="365760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One group tag on three shapes and this text box</a:t>
            </a:r>
            <a:endParaRPr lang="en-US" sz="1320" dirty="0"/>
          </a:p>
        </p:txBody>
      </p:sp>
      <p:sp>
        <p:nvSpPr>
          <p:cNvPr id="4" name="ts:grouped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11 / 28</a:t>
            </a:r>
            <a:endParaRPr lang="en-US" sz="780" dirty="0"/>
          </a:p>
        </p:txBody>
      </p:sp>
      <p:pic>
        <p:nvPicPr>
          <p:cNvPr id="5" name="ts:grouped#sheet" descr="A group of four objects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hape prese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s:shape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858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Shape presets</a:t>
            </a:r>
            <a:endParaRPr lang="en-US" sz="2640" dirty="0"/>
          </a:p>
        </p:txBody>
      </p:sp>
      <p:sp>
        <p:nvSpPr>
          <p:cNvPr id="2" name="ts:shapes#h/text"/>
          <p:cNvSpPr txBox="1"/>
          <p:nvPr/>
        </p:nvSpPr>
        <p:spPr>
          <a:xfrm>
            <a:off x="1043940" y="985278"/>
            <a:ext cx="6876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Shape presets</a:t>
            </a:r>
            <a:endParaRPr lang="en-US" sz="2640" dirty="0"/>
          </a:p>
        </p:txBody>
      </p:sp>
      <p:sp>
        <p:nvSpPr>
          <p:cNvPr id="3" name="ts:shapes#hex/text"/>
          <p:cNvSpPr txBox="1"/>
          <p:nvPr/>
        </p:nvSpPr>
        <p:spPr>
          <a:xfrm>
            <a:off x="1374115" y="2189005"/>
            <a:ext cx="1643863" cy="1192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Hexagon</a:t>
            </a:r>
            <a:endParaRPr lang="en-US" sz="1320" dirty="0"/>
          </a:p>
        </p:txBody>
      </p:sp>
      <p:sp>
        <p:nvSpPr>
          <p:cNvPr id="4" name="ts:shapes#right/text"/>
          <p:cNvSpPr txBox="1"/>
          <p:nvPr/>
        </p:nvSpPr>
        <p:spPr>
          <a:xfrm>
            <a:off x="3634740" y="2518418"/>
            <a:ext cx="20375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Right arrow</a:t>
            </a:r>
            <a:endParaRPr lang="en-US" sz="1320" dirty="0"/>
          </a:p>
        </p:txBody>
      </p:sp>
      <p:sp>
        <p:nvSpPr>
          <p:cNvPr id="5" name="ts:shapes#callout/text"/>
          <p:cNvSpPr txBox="1"/>
          <p:nvPr/>
        </p:nvSpPr>
        <p:spPr>
          <a:xfrm>
            <a:off x="6225540" y="1946918"/>
            <a:ext cx="2609088" cy="1371600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callout with its wedge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moved</a:t>
            </a:r>
            <a:endParaRPr lang="en-US" sz="1320" dirty="0"/>
          </a:p>
        </p:txBody>
      </p:sp>
      <p:sp>
        <p:nvSpPr>
          <p:cNvPr id="6" name="ts:shapes#snip/text"/>
          <p:cNvSpPr txBox="1"/>
          <p:nvPr/>
        </p:nvSpPr>
        <p:spPr>
          <a:xfrm>
            <a:off x="1043940" y="4194818"/>
            <a:ext cx="3104388" cy="1257300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Snipped corner</a:t>
            </a:r>
            <a:endParaRPr lang="en-US" sz="1320" dirty="0"/>
          </a:p>
        </p:txBody>
      </p:sp>
      <p:sp>
        <p:nvSpPr>
          <p:cNvPr id="7" name="ts:shape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12 / 28</a:t>
            </a:r>
            <a:endParaRPr lang="en-US" sz="780" dirty="0"/>
          </a:p>
        </p:txBody>
      </p:sp>
      <p:pic>
        <p:nvPicPr>
          <p:cNvPr id="8" name="ts:shapes#sheet" descr="Shape presets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nes and connector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line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858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Lines and connectors</a:t>
            </a:r>
            <a:endParaRPr lang="en-US" sz="2640" dirty="0"/>
          </a:p>
        </p:txBody>
      </p:sp>
      <p:sp>
        <p:nvSpPr>
          <p:cNvPr id="2" name="ts:lines#h/text"/>
          <p:cNvSpPr txBox="1"/>
          <p:nvPr/>
        </p:nvSpPr>
        <p:spPr>
          <a:xfrm>
            <a:off x="1043940" y="985278"/>
            <a:ext cx="6876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Lines and connectors</a:t>
            </a:r>
            <a:endParaRPr lang="en-US" sz="2640" dirty="0"/>
          </a:p>
        </p:txBody>
      </p:sp>
      <p:sp>
        <p:nvSpPr>
          <p:cNvPr id="3" name="ts:lines#a/text"/>
          <p:cNvSpPr txBox="1"/>
          <p:nvPr/>
        </p:nvSpPr>
        <p:spPr>
          <a:xfrm>
            <a:off x="1043940" y="2251718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</a:t>
            </a:r>
            <a:endParaRPr lang="en-US" sz="1320" dirty="0"/>
          </a:p>
        </p:txBody>
      </p:sp>
      <p:sp>
        <p:nvSpPr>
          <p:cNvPr id="4" name="ts:lines#b/text"/>
          <p:cNvSpPr txBox="1"/>
          <p:nvPr/>
        </p:nvSpPr>
        <p:spPr>
          <a:xfrm>
            <a:off x="5334000" y="3775718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B</a:t>
            </a:r>
            <a:endParaRPr lang="en-US" sz="1320" dirty="0"/>
          </a:p>
        </p:txBody>
      </p:sp>
      <p:sp>
        <p:nvSpPr>
          <p:cNvPr id="5" name="ts:line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13 / 28</a:t>
            </a:r>
            <a:endParaRPr lang="en-US" sz="780" dirty="0"/>
          </a:p>
        </p:txBody>
      </p:sp>
      <p:pic>
        <p:nvPicPr>
          <p:cNvPr id="6" name="ts:lines#sheet" descr="Lines and connectors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d 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word-art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858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Word art</a:t>
            </a:r>
            <a:endParaRPr lang="en-US" sz="2640" dirty="0"/>
          </a:p>
        </p:txBody>
      </p:sp>
      <p:sp>
        <p:nvSpPr>
          <p:cNvPr id="2" name="ts:word-art#h/text"/>
          <p:cNvSpPr txBox="1"/>
          <p:nvPr/>
        </p:nvSpPr>
        <p:spPr>
          <a:xfrm>
            <a:off x="1043940" y="985278"/>
            <a:ext cx="6876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Word art</a:t>
            </a:r>
            <a:endParaRPr lang="en-US" sz="2640" dirty="0"/>
          </a:p>
        </p:txBody>
      </p:sp>
      <p:sp>
        <p:nvSpPr>
          <p:cNvPr id="3" name="ts:word-art#art/text"/>
          <p:cNvSpPr txBox="1"/>
          <p:nvPr/>
        </p:nvSpPr>
        <p:spPr>
          <a:xfrm>
            <a:off x="1043940" y="2384176"/>
            <a:ext cx="101224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920"/>
              </a:lnSpc>
              <a:buNone/>
            </a:pPr>
            <a:r>
              <a:rPr lang="en-US" sz="5280" dirty="0">
                <a:solidFill>
                  <a:srgbClr val="FFFFFF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Outlined at 88</a:t>
            </a:r>
            <a:endParaRPr lang="en-US" sz="5280" dirty="0"/>
          </a:p>
        </p:txBody>
      </p:sp>
      <p:sp>
        <p:nvSpPr>
          <p:cNvPr id="4" name="ts:word-art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14 / 28</a:t>
            </a:r>
            <a:endParaRPr lang="en-US" sz="780" dirty="0"/>
          </a:p>
        </p:txBody>
      </p:sp>
      <p:pic>
        <p:nvPicPr>
          <p:cNvPr id="5" name="ts:word-art#sheet" descr="Word art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op shadow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shadow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858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Drop shadows</a:t>
            </a:r>
            <a:endParaRPr lang="en-US" sz="2640" dirty="0"/>
          </a:p>
        </p:txBody>
      </p:sp>
      <p:sp>
        <p:nvSpPr>
          <p:cNvPr id="2" name="ts:shadow#h/text"/>
          <p:cNvSpPr txBox="1"/>
          <p:nvPr/>
        </p:nvSpPr>
        <p:spPr>
          <a:xfrm>
            <a:off x="1043940" y="985278"/>
            <a:ext cx="6876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Drop shadows</a:t>
            </a:r>
            <a:endParaRPr lang="en-US" sz="2640" dirty="0"/>
          </a:p>
        </p:txBody>
      </p:sp>
      <p:sp>
        <p:nvSpPr>
          <p:cNvPr id="3" name="ts:shadow#box/text"/>
          <p:cNvSpPr txBox="1"/>
          <p:nvPr/>
        </p:nvSpPr>
        <p:spPr>
          <a:xfrm>
            <a:off x="1173480" y="2377448"/>
            <a:ext cx="2807208" cy="251460"/>
          </a:xfrm>
          <a:prstGeom prst="rect">
            <a:avLst/>
          </a:prstGeom>
          <a:noFill/>
          <a:ln/>
          <a:effectLst>
            <a:outerShdw sx="100000" sy="100000" kx="0" ky="0" algn="bl" rotWithShape="0" blurRad="91440" dist="60960" dir="2700000">
              <a:srgbClr val="070707">
                <a:alpha val="3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box with the default shadow</a:t>
            </a:r>
            <a:endParaRPr lang="en-US" sz="1320" dirty="0"/>
          </a:p>
        </p:txBody>
      </p:sp>
      <p:sp>
        <p:nvSpPr>
          <p:cNvPr id="4" name="ts:shadow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15 / 28</a:t>
            </a:r>
            <a:endParaRPr lang="en-US" sz="780" dirty="0"/>
          </a:p>
        </p:txBody>
      </p:sp>
      <p:pic>
        <p:nvPicPr>
          <p:cNvPr id="5" name="ts:shadow#sheet" descr="Drop shadows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plate backgrou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background-color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plate background</a:t>
            </a:r>
            <a:endParaRPr lang="en-US" sz="2640" dirty="0"/>
          </a:p>
        </p:txBody>
      </p:sp>
      <p:sp>
        <p:nvSpPr>
          <p:cNvPr id="2" name="ts:background-color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plate background</a:t>
            </a:r>
            <a:endParaRPr lang="en-US" sz="2640" dirty="0"/>
          </a:p>
        </p:txBody>
      </p:sp>
      <p:sp>
        <p:nvSpPr>
          <p:cNvPr id="3" name="ts:background-color#p1/text"/>
          <p:cNvSpPr txBox="1"/>
          <p:nvPr/>
        </p:nvSpPr>
        <p:spPr>
          <a:xfrm>
            <a:off x="1043940" y="1618419"/>
            <a:ext cx="586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This slide carries background.color plate; the Editable text export writes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colour as the slide background.</a:t>
            </a:r>
            <a:endParaRPr lang="en-US" sz="1320" dirty="0"/>
          </a:p>
        </p:txBody>
      </p:sp>
      <p:sp>
        <p:nvSpPr>
          <p:cNvPr id="4" name="ts:background-color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16 / 28</a:t>
            </a:r>
            <a:endParaRPr lang="en-US" sz="780" dirty="0"/>
          </a:p>
        </p:txBody>
      </p:sp>
      <p:pic>
        <p:nvPicPr>
          <p:cNvPr id="5" name="ts:background-color#sheet" descr="A plate background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picture behind a 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background-picture#title" hidden="1"/>
          <p:cNvSpPr txBox="1">
            <a:spLocks noGrp="1"/>
          </p:cNvSpPr>
          <p:nvPr>
            <p:ph type="title"/>
          </p:nvPr>
        </p:nvSpPr>
        <p:spPr>
          <a:xfrm>
            <a:off x="1043940" y="3193694"/>
            <a:ext cx="6865620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picture behind a title</a:t>
            </a:r>
            <a:endParaRPr lang="en-US" sz="5280" dirty="0"/>
          </a:p>
        </p:txBody>
      </p:sp>
      <p:sp>
        <p:nvSpPr>
          <p:cNvPr id="2" name="ts:background-picture#heading/text"/>
          <p:cNvSpPr txBox="1"/>
          <p:nvPr/>
        </p:nvSpPr>
        <p:spPr>
          <a:xfrm>
            <a:off x="1043940" y="3224205"/>
            <a:ext cx="688390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picture behind a title</a:t>
            </a:r>
            <a:endParaRPr lang="en-US" sz="5280" dirty="0"/>
          </a:p>
        </p:txBody>
      </p:sp>
      <p:sp>
        <p:nvSpPr>
          <p:cNvPr id="3" name="ts:background-picture#lead/text"/>
          <p:cNvSpPr txBox="1"/>
          <p:nvPr/>
        </p:nvSpPr>
        <p:spPr>
          <a:xfrm>
            <a:off x="1043940" y="4051182"/>
            <a:ext cx="6883908" cy="5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3A3D44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Change background, Choose image: the picture object sits at the bottom of</a:t>
            </a:r>
            <a:br/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3A3D44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the stack under the mark, the heading and the lead.</a:t>
            </a:r>
            <a:endParaRPr lang="en-US" sz="1560" dirty="0"/>
          </a:p>
        </p:txBody>
      </p:sp>
      <p:sp>
        <p:nvSpPr>
          <p:cNvPr id="4" name="ts:background-pictur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17 / 28</a:t>
            </a:r>
            <a:endParaRPr lang="en-US" sz="780" dirty="0"/>
          </a:p>
        </p:txBody>
      </p:sp>
      <p:pic>
        <p:nvPicPr>
          <p:cNvPr id="5" name="ts:background-picture#sheet" descr="A picture behind a title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thered backgrou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background-dither#title" hidden="1"/>
          <p:cNvSpPr txBox="1">
            <a:spLocks noGrp="1"/>
          </p:cNvSpPr>
          <p:nvPr>
            <p:ph type="title"/>
          </p:nvPr>
        </p:nvSpPr>
        <p:spPr>
          <a:xfrm>
            <a:off x="1242060" y="4018331"/>
            <a:ext cx="5242560" cy="5815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432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Dithered background</a:t>
            </a:r>
            <a:endParaRPr lang="en-US" sz="4320" dirty="0"/>
          </a:p>
        </p:txBody>
      </p:sp>
      <p:grpSp>
        <p:nvGrpSpPr>
          <p:cNvPr id="6" name="g:plate"/>
          <p:cNvGrpSpPr/>
          <p:nvPr/>
        </p:nvGrpSpPr>
        <p:grpSpPr>
          <a:xfrm>
            <a:off x="1242060" y="4046311"/>
            <a:ext cx="5260848" cy="1127677"/>
            <a:chOff x="1242060" y="4046311"/>
            <a:chExt cx="5260848" cy="1127677"/>
          </a:xfrm>
        </p:grpSpPr>
        <p:sp>
          <p:nvSpPr>
            <p:cNvPr id="2" name="ts:background-dither#big/text@g:plate"/>
            <p:cNvSpPr txBox="1"/>
            <p:nvPr/>
          </p:nvSpPr>
          <p:spPr>
            <a:xfrm>
              <a:off x="1242060" y="4046311"/>
              <a:ext cx="5260848" cy="5815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579"/>
                </a:lnSpc>
                <a:buNone/>
              </a:pPr>
              <a:r>
                <a:rPr lang="en-US" sz="4320" spc="-108" dirty="0">
                  <a:solidFill>
                    <a:srgbClr val="070707">
                      <a:alpha val="0"/>
                    </a:srgbClr>
                  </a:solidFill>
                  <a:latin typeface="GT Inter Display" pitchFamily="34" charset="0"/>
                  <a:ea typeface="GT Inter Display" pitchFamily="34" charset="-122"/>
                  <a:cs typeface="GT Inter Display" pitchFamily="34" charset="-120"/>
                </a:rPr>
                <a:t>Dithered background</a:t>
              </a:r>
              <a:endParaRPr lang="en-US" sz="4320" dirty="0"/>
            </a:p>
          </p:txBody>
        </p:sp>
        <p:sp>
          <p:nvSpPr>
            <p:cNvPr id="3" name="ts:background-dither#p/text@g:plate"/>
            <p:cNvSpPr txBox="1"/>
            <p:nvPr/>
          </p:nvSpPr>
          <p:spPr>
            <a:xfrm>
              <a:off x="1242060" y="4671068"/>
              <a:ext cx="52608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070707">
                      <a:alpha val="0"/>
                    </a:srgbClr>
                  </a:solidFill>
                  <a:latin typeface="GT Inter Text 22" pitchFamily="34" charset="0"/>
                  <a:ea typeface="GT Inter Text 22" pitchFamily="34" charset="-122"/>
                  <a:cs typeface="GT Inter Text 22" pitchFamily="34" charset="-120"/>
                </a:rPr>
                <a:t>A covering picture with the Photograph numbers of the Background</a:t>
              </a:r>
              <a:br/>
              <a:pPr algn="l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070707">
                      <a:alpha val="0"/>
                    </a:srgbClr>
                  </a:solidFill>
                  <a:latin typeface="GT Inter Text 22" pitchFamily="34" charset="0"/>
                  <a:ea typeface="GT Inter Text 22" pitchFamily="34" charset="-122"/>
                  <a:cs typeface="GT Inter Text 22" pitchFamily="34" charset="-120"/>
                </a:rPr>
                <a:t>dialog, and a plate group over it.</a:t>
              </a:r>
              <a:endParaRPr lang="en-US" sz="1320" dirty="0"/>
            </a:p>
          </p:txBody>
        </p:sp>
      </p:grpSp>
      <p:sp>
        <p:nvSpPr>
          <p:cNvPr id="4" name="ts:background-dither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18 / 28</a:t>
            </a:r>
            <a:endParaRPr lang="en-US" sz="780" dirty="0"/>
          </a:p>
        </p:txBody>
      </p:sp>
      <p:pic>
        <p:nvPicPr>
          <p:cNvPr id="5" name="ts:background-dither#sheet" descr="Dithered background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dithered picture at a box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picture-dither-strength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5334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dithered picture at a box</a:t>
            </a:r>
            <a:endParaRPr lang="en-US" sz="2640" dirty="0"/>
          </a:p>
        </p:txBody>
      </p:sp>
      <p:sp>
        <p:nvSpPr>
          <p:cNvPr id="2" name="ts:picture-dither-strength#h/text"/>
          <p:cNvSpPr txBox="1"/>
          <p:nvPr/>
        </p:nvSpPr>
        <p:spPr>
          <a:xfrm>
            <a:off x="1043940" y="985278"/>
            <a:ext cx="5352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dithered picture at a box</a:t>
            </a:r>
            <a:endParaRPr lang="en-US" sz="2640" dirty="0"/>
          </a:p>
        </p:txBody>
      </p:sp>
      <p:sp>
        <p:nvSpPr>
          <p:cNvPr id="3" name="ts:picture-dither-strength#p/text"/>
          <p:cNvSpPr txBox="1"/>
          <p:nvPr/>
        </p:nvSpPr>
        <p:spPr>
          <a:xfrm>
            <a:off x="1043940" y="1562108"/>
            <a:ext cx="5352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two tone plane is composited at 60 percent over the continuous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picture, so the tones show through the screen.</a:t>
            </a:r>
            <a:endParaRPr lang="en-US" sz="1320" dirty="0"/>
          </a:p>
        </p:txBody>
      </p:sp>
      <p:sp>
        <p:nvSpPr>
          <p:cNvPr id="4" name="ts:picture-dither-strength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19 / 28</a:t>
            </a:r>
            <a:endParaRPr lang="en-US" sz="780" dirty="0"/>
          </a:p>
        </p:txBody>
      </p:sp>
      <p:pic>
        <p:nvPicPr>
          <p:cNvPr id="5" name="ts:picture-dither-strength#sheet" descr="A dithered picture at a box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age to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s:image-tool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858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Image tools</a:t>
            </a:r>
            <a:endParaRPr lang="en-US" sz="2640" dirty="0"/>
          </a:p>
        </p:txBody>
      </p:sp>
      <p:sp>
        <p:nvSpPr>
          <p:cNvPr id="2" name="ts:image-tools#h/text"/>
          <p:cNvSpPr txBox="1"/>
          <p:nvPr/>
        </p:nvSpPr>
        <p:spPr>
          <a:xfrm>
            <a:off x="1043940" y="985278"/>
            <a:ext cx="6876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Image tools</a:t>
            </a:r>
            <a:endParaRPr lang="en-US" sz="2640" dirty="0"/>
          </a:p>
        </p:txBody>
      </p:sp>
      <p:sp>
        <p:nvSpPr>
          <p:cNvPr id="3" name="ts:image-tool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20 / 28</a:t>
            </a:r>
            <a:endParaRPr lang="en-US" sz="780" dirty="0"/>
          </a:p>
        </p:txBody>
      </p:sp>
      <p:pic>
        <p:nvPicPr>
          <p:cNvPr id="4" name="ts:image-tools#sheet" descr="Image tools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rged cel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s:table-merge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Merged cells</a:t>
            </a:r>
            <a:endParaRPr lang="en-US" sz="2640" dirty="0"/>
          </a:p>
        </p:txBody>
      </p:sp>
      <p:sp>
        <p:nvSpPr>
          <p:cNvPr id="2" name="ts:table-merge#h/text"/>
          <p:cNvSpPr txBox="1"/>
          <p:nvPr/>
        </p:nvSpPr>
        <p:spPr>
          <a:xfrm>
            <a:off x="1043940" y="985278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Merged cells</a:t>
            </a:r>
            <a:endParaRPr lang="en-US" sz="2640" dirty="0"/>
          </a:p>
        </p:txBody>
      </p:sp>
      <p:grpSp>
        <p:nvGrpSpPr>
          <p:cNvPr id="18" name="table/row/0"/>
          <p:cNvGrpSpPr/>
          <p:nvPr/>
        </p:nvGrpSpPr>
        <p:grpSpPr>
          <a:xfrm>
            <a:off x="1043940" y="3039344"/>
            <a:ext cx="10122408" cy="220980"/>
            <a:chOff x="1043940" y="3039344"/>
            <a:chExt cx="10122408" cy="220980"/>
          </a:xfrm>
        </p:grpSpPr>
        <p:sp>
          <p:nvSpPr>
            <p:cNvPr id="3" name="ts:table-merge#table/rows/0/cells/0@table/row/0"/>
            <p:cNvSpPr txBox="1"/>
            <p:nvPr/>
          </p:nvSpPr>
          <p:spPr>
            <a:xfrm>
              <a:off x="1043940" y="303934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070707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Region</a:t>
              </a:r>
              <a:endParaRPr lang="en-US" sz="1200" dirty="0"/>
            </a:p>
          </p:txBody>
        </p:sp>
        <p:sp>
          <p:nvSpPr>
            <p:cNvPr id="4" name="ts:table-merge#table/rows/0/cells/1@table/row/0"/>
            <p:cNvSpPr txBox="1"/>
            <p:nvPr/>
          </p:nvSpPr>
          <p:spPr>
            <a:xfrm>
              <a:off x="3569970" y="303934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070707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Q1</a:t>
              </a:r>
              <a:endParaRPr lang="en-US" sz="1200" dirty="0"/>
            </a:p>
          </p:txBody>
        </p:sp>
        <p:sp>
          <p:nvSpPr>
            <p:cNvPr id="5" name="ts:table-merge#table/rows/0/cells/2@table/row/0"/>
            <p:cNvSpPr txBox="1"/>
            <p:nvPr/>
          </p:nvSpPr>
          <p:spPr>
            <a:xfrm>
              <a:off x="6096000" y="303934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070707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Q2</a:t>
              </a:r>
              <a:endParaRPr lang="en-US" sz="1200" dirty="0"/>
            </a:p>
          </p:txBody>
        </p:sp>
        <p:sp>
          <p:nvSpPr>
            <p:cNvPr id="6" name="ts:table-merge#table/rows/0/cells/3@table/row/0"/>
            <p:cNvSpPr txBox="1"/>
            <p:nvPr/>
          </p:nvSpPr>
          <p:spPr>
            <a:xfrm>
              <a:off x="8622030" y="303934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070707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Q3</a:t>
              </a:r>
              <a:endParaRPr lang="en-US" sz="1200" dirty="0"/>
            </a:p>
          </p:txBody>
        </p:sp>
      </p:grpSp>
      <p:grpSp>
        <p:nvGrpSpPr>
          <p:cNvPr id="19" name="table/row/1"/>
          <p:cNvGrpSpPr/>
          <p:nvPr/>
        </p:nvGrpSpPr>
        <p:grpSpPr>
          <a:xfrm>
            <a:off x="1043940" y="3466064"/>
            <a:ext cx="10122408" cy="220980"/>
            <a:chOff x="1043940" y="3466064"/>
            <a:chExt cx="10122408" cy="220980"/>
          </a:xfrm>
        </p:grpSpPr>
        <p:sp>
          <p:nvSpPr>
            <p:cNvPr id="7" name="ts:table-merge#table/rows/1/cells/0@table/row/1"/>
            <p:cNvSpPr txBox="1"/>
            <p:nvPr/>
          </p:nvSpPr>
          <p:spPr>
            <a:xfrm>
              <a:off x="1043940" y="346606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North</a:t>
              </a:r>
              <a:endParaRPr lang="en-US" sz="1200" dirty="0"/>
            </a:p>
          </p:txBody>
        </p:sp>
        <p:sp>
          <p:nvSpPr>
            <p:cNvPr id="8" name="ts:table-merge#table/rows/1/cells/1@table/row/1"/>
            <p:cNvSpPr txBox="1"/>
            <p:nvPr/>
          </p:nvSpPr>
          <p:spPr>
            <a:xfrm>
              <a:off x="3569970" y="3466064"/>
              <a:ext cx="507034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One merged cell over four</a:t>
              </a:r>
              <a:endParaRPr lang="en-US" sz="1200" dirty="0"/>
            </a:p>
          </p:txBody>
        </p:sp>
        <p:sp>
          <p:nvSpPr>
            <p:cNvPr id="9" name="ts:table-merge#table/rows/1/cells/3@table/row/1"/>
            <p:cNvSpPr txBox="1"/>
            <p:nvPr/>
          </p:nvSpPr>
          <p:spPr>
            <a:xfrm>
              <a:off x="8622030" y="346606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1,200</a:t>
              </a:r>
              <a:endParaRPr lang="en-US" sz="1200" dirty="0"/>
            </a:p>
          </p:txBody>
        </p:sp>
      </p:grpSp>
      <p:grpSp>
        <p:nvGrpSpPr>
          <p:cNvPr id="20" name="table/row/2"/>
          <p:cNvGrpSpPr/>
          <p:nvPr/>
        </p:nvGrpSpPr>
        <p:grpSpPr>
          <a:xfrm>
            <a:off x="1043940" y="3892784"/>
            <a:ext cx="10122408" cy="220980"/>
            <a:chOff x="1043940" y="3892784"/>
            <a:chExt cx="10122408" cy="220980"/>
          </a:xfrm>
        </p:grpSpPr>
        <p:sp>
          <p:nvSpPr>
            <p:cNvPr id="10" name="ts:table-merge#table/rows/2/cells/0@table/row/2"/>
            <p:cNvSpPr txBox="1"/>
            <p:nvPr/>
          </p:nvSpPr>
          <p:spPr>
            <a:xfrm>
              <a:off x="1043940" y="389278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South</a:t>
              </a:r>
              <a:endParaRPr lang="en-US" sz="1200" dirty="0"/>
            </a:p>
          </p:txBody>
        </p:sp>
        <p:sp>
          <p:nvSpPr>
            <p:cNvPr id="11" name="ts:table-merge#table/rows/2/cells/3@table/row/2"/>
            <p:cNvSpPr txBox="1"/>
            <p:nvPr/>
          </p:nvSpPr>
          <p:spPr>
            <a:xfrm>
              <a:off x="8622030" y="389278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980</a:t>
              </a:r>
              <a:endParaRPr lang="en-US" sz="1200" dirty="0"/>
            </a:p>
          </p:txBody>
        </p:sp>
      </p:grpSp>
      <p:grpSp>
        <p:nvGrpSpPr>
          <p:cNvPr id="21" name="table/row/3"/>
          <p:cNvGrpSpPr/>
          <p:nvPr/>
        </p:nvGrpSpPr>
        <p:grpSpPr>
          <a:xfrm>
            <a:off x="1043940" y="4319504"/>
            <a:ext cx="10122408" cy="220980"/>
            <a:chOff x="1043940" y="4319504"/>
            <a:chExt cx="10122408" cy="220980"/>
          </a:xfrm>
        </p:grpSpPr>
        <p:sp>
          <p:nvSpPr>
            <p:cNvPr id="12" name="ts:table-merge#table/rows/3/cells/0@table/row/3"/>
            <p:cNvSpPr txBox="1"/>
            <p:nvPr/>
          </p:nvSpPr>
          <p:spPr>
            <a:xfrm>
              <a:off x="1043940" y="431950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West</a:t>
              </a:r>
              <a:endParaRPr lang="en-US" sz="1200" dirty="0"/>
            </a:p>
          </p:txBody>
        </p:sp>
        <p:sp>
          <p:nvSpPr>
            <p:cNvPr id="13" name="ts:table-merge#table/rows/3/cells/1@table/row/3"/>
            <p:cNvSpPr txBox="1"/>
            <p:nvPr/>
          </p:nvSpPr>
          <p:spPr>
            <a:xfrm>
              <a:off x="3569970" y="431950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410</a:t>
              </a:r>
              <a:endParaRPr lang="en-US" sz="1200" dirty="0"/>
            </a:p>
          </p:txBody>
        </p:sp>
        <p:sp>
          <p:nvSpPr>
            <p:cNvPr id="14" name="ts:table-merge#table/rows/3/cells/2@table/row/3"/>
            <p:cNvSpPr txBox="1"/>
            <p:nvPr/>
          </p:nvSpPr>
          <p:spPr>
            <a:xfrm>
              <a:off x="6096000" y="431950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460</a:t>
              </a:r>
              <a:endParaRPr lang="en-US" sz="1200" dirty="0"/>
            </a:p>
          </p:txBody>
        </p:sp>
        <p:sp>
          <p:nvSpPr>
            <p:cNvPr id="15" name="ts:table-merge#table/rows/3/cells/3@table/row/3"/>
            <p:cNvSpPr txBox="1"/>
            <p:nvPr/>
          </p:nvSpPr>
          <p:spPr>
            <a:xfrm>
              <a:off x="8622030" y="431950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520</a:t>
              </a:r>
              <a:endParaRPr lang="en-US" sz="1200" dirty="0"/>
            </a:p>
          </p:txBody>
        </p:sp>
      </p:grpSp>
      <p:sp>
        <p:nvSpPr>
          <p:cNvPr id="16" name="ts:table-merg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21 / 28</a:t>
            </a:r>
            <a:endParaRPr lang="en-US" sz="780" dirty="0"/>
          </a:p>
        </p:txBody>
      </p:sp>
      <p:pic>
        <p:nvPicPr>
          <p:cNvPr id="17" name="ts:table-merge#sheet" descr="Merged cells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bar chart in a narrow box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chart-bar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858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bar chart in a narrow box</a:t>
            </a:r>
            <a:endParaRPr lang="en-US" sz="2640" dirty="0"/>
          </a:p>
        </p:txBody>
      </p:sp>
      <p:sp>
        <p:nvSpPr>
          <p:cNvPr id="2" name="ts:chart-bar#h/text"/>
          <p:cNvSpPr txBox="1"/>
          <p:nvPr/>
        </p:nvSpPr>
        <p:spPr>
          <a:xfrm>
            <a:off x="1043940" y="985278"/>
            <a:ext cx="6876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bar chart in a narrow box</a:t>
            </a:r>
            <a:endParaRPr lang="en-US" sz="2640" dirty="0"/>
          </a:p>
        </p:txBody>
      </p:sp>
      <p:sp>
        <p:nvSpPr>
          <p:cNvPr id="3" name="ts:chart-bar#chart/title"/>
          <p:cNvSpPr txBox="1"/>
          <p:nvPr/>
        </p:nvSpPr>
        <p:spPr>
          <a:xfrm>
            <a:off x="1104900" y="1805742"/>
            <a:ext cx="1955902" cy="184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200" spc="-12" dirty="0">
                <a:solidFill>
                  <a:srgbClr val="070707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Words translated per month</a:t>
            </a:r>
            <a:endParaRPr lang="en-US" sz="1200" dirty="0"/>
          </a:p>
        </p:txBody>
      </p:sp>
      <p:sp>
        <p:nvSpPr>
          <p:cNvPr id="4" name="ts:chart-bar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22 / 28</a:t>
            </a:r>
            <a:endParaRPr lang="en-US" sz="780" dirty="0"/>
          </a:p>
        </p:txBody>
      </p:sp>
      <p:pic>
        <p:nvPicPr>
          <p:cNvPr id="5" name="ts:chart-bar#sheet" descr="A bar chart in a narrow box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line chart with values show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s:chart-line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line chart with values shown</a:t>
            </a:r>
            <a:endParaRPr lang="en-US" sz="2640" dirty="0"/>
          </a:p>
        </p:txBody>
      </p:sp>
      <p:sp>
        <p:nvSpPr>
          <p:cNvPr id="2" name="ts:chart-line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line chart with values shown</a:t>
            </a:r>
            <a:endParaRPr lang="en-US" sz="2640" dirty="0"/>
          </a:p>
        </p:txBody>
      </p:sp>
      <p:sp>
        <p:nvSpPr>
          <p:cNvPr id="3" name="ts:chart-lin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23 / 28</a:t>
            </a:r>
            <a:endParaRPr lang="en-US" sz="780" dirty="0"/>
          </a:p>
        </p:txBody>
      </p:sp>
      <p:pic>
        <p:nvPicPr>
          <p:cNvPr id="4" name="ts:chart-line#sheet" descr="A line chart with values shown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pie chart with percent labe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s:chart-pie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pie chart with percent labels</a:t>
            </a:r>
            <a:endParaRPr lang="en-US" sz="2640" dirty="0"/>
          </a:p>
        </p:txBody>
      </p:sp>
      <p:sp>
        <p:nvSpPr>
          <p:cNvPr id="2" name="ts:chart-pie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pie chart with percent labels</a:t>
            </a:r>
            <a:endParaRPr lang="en-US" sz="2640" dirty="0"/>
          </a:p>
        </p:txBody>
      </p:sp>
      <p:sp>
        <p:nvSpPr>
          <p:cNvPr id="3" name="ts:chart-pi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24 / 28</a:t>
            </a:r>
            <a:endParaRPr lang="en-US" sz="780" dirty="0"/>
          </a:p>
        </p:txBody>
      </p:sp>
      <p:pic>
        <p:nvPicPr>
          <p:cNvPr id="4" name="ts:chart-pie#sheet" descr="A pie chart with percent labels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process 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s:diagram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858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process diagram</a:t>
            </a:r>
            <a:endParaRPr lang="en-US" sz="2640" dirty="0"/>
          </a:p>
        </p:txBody>
      </p:sp>
      <p:sp>
        <p:nvSpPr>
          <p:cNvPr id="2" name="ts:diagram#h/text"/>
          <p:cNvSpPr txBox="1"/>
          <p:nvPr/>
        </p:nvSpPr>
        <p:spPr>
          <a:xfrm>
            <a:off x="1043940" y="985278"/>
            <a:ext cx="6876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process diagram</a:t>
            </a:r>
            <a:endParaRPr lang="en-US" sz="2640" dirty="0"/>
          </a:p>
        </p:txBody>
      </p:sp>
      <p:grpSp>
        <p:nvGrpSpPr>
          <p:cNvPr id="9" name="g:process"/>
          <p:cNvGrpSpPr/>
          <p:nvPr/>
        </p:nvGrpSpPr>
        <p:grpSpPr>
          <a:xfrm>
            <a:off x="2438400" y="2785118"/>
            <a:ext cx="7333412" cy="1219200"/>
            <a:chOff x="2438400" y="2785118"/>
            <a:chExt cx="7333412" cy="1219200"/>
          </a:xfrm>
        </p:grpSpPr>
        <p:sp>
          <p:nvSpPr>
            <p:cNvPr id="3" name="ts:diagram#label-1/text@g:process"/>
            <p:cNvSpPr txBox="1"/>
            <p:nvPr/>
          </p:nvSpPr>
          <p:spPr>
            <a:xfrm>
              <a:off x="2438400" y="2785118"/>
              <a:ext cx="1517904" cy="1219200"/>
            </a:xfrm>
            <a:prstGeom prst="rect">
              <a:avLst/>
            </a:prstGeom>
            <a:noFill/>
            <a:ln/>
          </p:spPr>
          <p:txBody>
            <a:bodyPr wrap="square" lIns="121920" tIns="121920" rIns="121920" bIns="121920" rtlCol="0" anchor="ctr"/>
            <a:lstStyle/>
            <a:p>
              <a:pPr algn="ctr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070707">
                      <a:alpha val="0"/>
                    </a:srgbClr>
                  </a:solidFill>
                  <a:latin typeface="GT Inter Text 22 Medium" pitchFamily="34" charset="0"/>
                  <a:ea typeface="GT Inter Text 22 Medium" pitchFamily="34" charset="-122"/>
                  <a:cs typeface="GT Inter Text 22 Medium" pitchFamily="34" charset="-120"/>
                </a:rPr>
                <a:t>Step 1</a:t>
              </a:r>
              <a:endParaRPr lang="en-US" sz="1320" dirty="0"/>
            </a:p>
          </p:txBody>
        </p:sp>
        <p:sp>
          <p:nvSpPr>
            <p:cNvPr id="4" name="ts:diagram#label-2/text@g:process"/>
            <p:cNvSpPr txBox="1"/>
            <p:nvPr/>
          </p:nvSpPr>
          <p:spPr>
            <a:xfrm>
              <a:off x="4376852" y="2785118"/>
              <a:ext cx="1517904" cy="1219200"/>
            </a:xfrm>
            <a:prstGeom prst="rect">
              <a:avLst/>
            </a:prstGeom>
            <a:noFill/>
            <a:ln/>
          </p:spPr>
          <p:txBody>
            <a:bodyPr wrap="square" lIns="121920" tIns="121920" rIns="121920" bIns="121920" rtlCol="0" anchor="ctr"/>
            <a:lstStyle/>
            <a:p>
              <a:pPr algn="ctr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070707">
                      <a:alpha val="0"/>
                    </a:srgbClr>
                  </a:solidFill>
                  <a:latin typeface="GT Inter Text 22 Medium" pitchFamily="34" charset="0"/>
                  <a:ea typeface="GT Inter Text 22 Medium" pitchFamily="34" charset="-122"/>
                  <a:cs typeface="GT Inter Text 22 Medium" pitchFamily="34" charset="-120"/>
                </a:rPr>
                <a:t>Step 2</a:t>
              </a:r>
              <a:endParaRPr lang="en-US" sz="1320" dirty="0"/>
            </a:p>
          </p:txBody>
        </p:sp>
        <p:sp>
          <p:nvSpPr>
            <p:cNvPr id="5" name="ts:diagram#label-3/text@g:process"/>
            <p:cNvSpPr txBox="1"/>
            <p:nvPr/>
          </p:nvSpPr>
          <p:spPr>
            <a:xfrm>
              <a:off x="6315456" y="2785118"/>
              <a:ext cx="1517904" cy="1219200"/>
            </a:xfrm>
            <a:prstGeom prst="rect">
              <a:avLst/>
            </a:prstGeom>
            <a:noFill/>
            <a:ln/>
          </p:spPr>
          <p:txBody>
            <a:bodyPr wrap="square" lIns="121920" tIns="121920" rIns="121920" bIns="121920" rtlCol="0" anchor="ctr"/>
            <a:lstStyle/>
            <a:p>
              <a:pPr algn="ctr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070707">
                      <a:alpha val="0"/>
                    </a:srgbClr>
                  </a:solidFill>
                  <a:latin typeface="GT Inter Text 22 Medium" pitchFamily="34" charset="0"/>
                  <a:ea typeface="GT Inter Text 22 Medium" pitchFamily="34" charset="-122"/>
                  <a:cs typeface="GT Inter Text 22 Medium" pitchFamily="34" charset="-120"/>
                </a:rPr>
                <a:t>Step 3</a:t>
              </a:r>
              <a:endParaRPr lang="en-US" sz="1320" dirty="0"/>
            </a:p>
          </p:txBody>
        </p:sp>
        <p:sp>
          <p:nvSpPr>
            <p:cNvPr id="6" name="ts:diagram#label-4/text@g:process"/>
            <p:cNvSpPr txBox="1"/>
            <p:nvPr/>
          </p:nvSpPr>
          <p:spPr>
            <a:xfrm>
              <a:off x="8253908" y="2785118"/>
              <a:ext cx="1517904" cy="1219200"/>
            </a:xfrm>
            <a:prstGeom prst="rect">
              <a:avLst/>
            </a:prstGeom>
            <a:noFill/>
            <a:ln/>
          </p:spPr>
          <p:txBody>
            <a:bodyPr wrap="square" lIns="121920" tIns="121920" rIns="121920" bIns="121920" rtlCol="0" anchor="ctr"/>
            <a:lstStyle/>
            <a:p>
              <a:pPr algn="ctr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070707">
                      <a:alpha val="0"/>
                    </a:srgbClr>
                  </a:solidFill>
                  <a:latin typeface="GT Inter Text 22 Medium" pitchFamily="34" charset="0"/>
                  <a:ea typeface="GT Inter Text 22 Medium" pitchFamily="34" charset="-122"/>
                  <a:cs typeface="GT Inter Text 22 Medium" pitchFamily="34" charset="-120"/>
                </a:rPr>
                <a:t>Step 4</a:t>
              </a:r>
              <a:endParaRPr lang="en-US" sz="1320" dirty="0"/>
            </a:p>
          </p:txBody>
        </p:sp>
      </p:grpSp>
      <p:sp>
        <p:nvSpPr>
          <p:cNvPr id="7" name="ts:diagram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25 / 28</a:t>
            </a:r>
            <a:endParaRPr lang="en-US" sz="780" dirty="0"/>
          </a:p>
        </p:txBody>
      </p:sp>
      <p:pic>
        <p:nvPicPr>
          <p:cNvPr id="8" name="ts:diagram#sheet" descr="A process diagram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ullets and number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s:bullets#title" hidden="1"/>
          <p:cNvSpPr txBox="1">
            <a:spLocks noGrp="1"/>
          </p:cNvSpPr>
          <p:nvPr>
            <p:ph type="title"/>
          </p:nvPr>
        </p:nvSpPr>
        <p:spPr>
          <a:xfrm>
            <a:off x="1043940" y="2193874"/>
            <a:ext cx="477774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Bullets and numbering</a:t>
            </a:r>
            <a:endParaRPr lang="en-US" sz="2640" dirty="0"/>
          </a:p>
        </p:txBody>
      </p:sp>
      <p:sp>
        <p:nvSpPr>
          <p:cNvPr id="2" name="ts:bullets#h/text"/>
          <p:cNvSpPr txBox="1"/>
          <p:nvPr/>
        </p:nvSpPr>
        <p:spPr>
          <a:xfrm>
            <a:off x="1043940" y="2197696"/>
            <a:ext cx="479602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Bullets and numbering</a:t>
            </a:r>
            <a:endParaRPr lang="en-US" sz="2640" dirty="0"/>
          </a:p>
        </p:txBody>
      </p:sp>
      <p:sp>
        <p:nvSpPr>
          <p:cNvPr id="3" name="ts:bullets#bullets/items/0/text@bullets/item/0"/>
          <p:cNvSpPr txBox="1"/>
          <p:nvPr/>
        </p:nvSpPr>
        <p:spPr>
          <a:xfrm>
            <a:off x="1043940" y="2939799"/>
            <a:ext cx="4796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ts val="2016"/>
              </a:lnSpc>
              <a:buSzPct val="100000"/>
              <a:buChar char="●"/>
            </a:pPr>
            <a:r>
              <a:rPr lang="en-US" sz="1440" spc="-14" dirty="0">
                <a:solidFill>
                  <a:srgbClr val="070707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Level one, a disc</a:t>
            </a:r>
            <a:endParaRPr lang="en-US" sz="1440" dirty="0"/>
          </a:p>
        </p:txBody>
      </p:sp>
      <p:sp>
        <p:nvSpPr>
          <p:cNvPr id="4" name="ts:bullets#bullets/items/1/text@bullets/item/1"/>
          <p:cNvSpPr txBox="1"/>
          <p:nvPr/>
        </p:nvSpPr>
        <p:spPr>
          <a:xfrm>
            <a:off x="1043940" y="3386255"/>
            <a:ext cx="4796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548640" indent="-274320">
              <a:lnSpc>
                <a:spcPts val="2016"/>
              </a:lnSpc>
              <a:buSzPct val="100000"/>
              <a:buChar char="○"/>
            </a:pPr>
            <a:r>
              <a:rPr lang="en-US" sz="1440" spc="-14" dirty="0">
                <a:solidFill>
                  <a:srgbClr val="070707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Level two, a circle</a:t>
            </a:r>
            <a:endParaRPr lang="en-US" sz="1440" dirty="0"/>
          </a:p>
        </p:txBody>
      </p:sp>
      <p:sp>
        <p:nvSpPr>
          <p:cNvPr id="5" name="ts:bullets#bullets/items/2/text@bullets/item/2"/>
          <p:cNvSpPr txBox="1"/>
          <p:nvPr/>
        </p:nvSpPr>
        <p:spPr>
          <a:xfrm>
            <a:off x="1043940" y="3832787"/>
            <a:ext cx="4796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2" marL="822960" indent="-274320">
              <a:lnSpc>
                <a:spcPts val="2016"/>
              </a:lnSpc>
              <a:buSzPct val="100000"/>
              <a:buChar char="■"/>
            </a:pPr>
            <a:r>
              <a:rPr lang="en-US" sz="1440" spc="-14" dirty="0">
                <a:solidFill>
                  <a:srgbClr val="070707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Level three, a square</a:t>
            </a:r>
            <a:endParaRPr lang="en-US" sz="1440" dirty="0"/>
          </a:p>
        </p:txBody>
      </p:sp>
      <p:sp>
        <p:nvSpPr>
          <p:cNvPr id="6" name="ts:bullets#bullets/items/3/text@bullets/item/3"/>
          <p:cNvSpPr txBox="1"/>
          <p:nvPr/>
        </p:nvSpPr>
        <p:spPr>
          <a:xfrm>
            <a:off x="1043940" y="4279243"/>
            <a:ext cx="4796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3" marL="1097280" indent="-274320">
              <a:lnSpc>
                <a:spcPts val="2016"/>
              </a:lnSpc>
              <a:buSzPct val="100000"/>
              <a:buChar char="●"/>
            </a:pPr>
            <a:r>
              <a:rPr lang="en-US" sz="1440" spc="-14" dirty="0">
                <a:solidFill>
                  <a:srgbClr val="070707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Level four, the glyph cycle starts again</a:t>
            </a:r>
            <a:endParaRPr lang="en-US" sz="1440" dirty="0"/>
          </a:p>
        </p:txBody>
      </p:sp>
      <p:sp>
        <p:nvSpPr>
          <p:cNvPr id="7" name="ts:bullets#numbers/items/0/text@numbers/item/0"/>
          <p:cNvSpPr txBox="1"/>
          <p:nvPr/>
        </p:nvSpPr>
        <p:spPr>
          <a:xfrm>
            <a:off x="6370320" y="2068985"/>
            <a:ext cx="4796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ts val="2016"/>
              </a:lnSpc>
              <a:buSzPct val="100000"/>
              <a:buFont typeface="+mj-lt"/>
              <a:buAutoNum type="arabicPeriod" startAt="1"/>
            </a:pPr>
            <a:r>
              <a:rPr lang="en-US" sz="1440" spc="-14" dirty="0">
                <a:solidFill>
                  <a:srgbClr val="070707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A digit at level one</a:t>
            </a:r>
            <a:endParaRPr lang="en-US" sz="1440" dirty="0"/>
          </a:p>
        </p:txBody>
      </p:sp>
      <p:sp>
        <p:nvSpPr>
          <p:cNvPr id="8" name="ts:bullets#numbers/items/1/text@numbers/item/1"/>
          <p:cNvSpPr txBox="1"/>
          <p:nvPr/>
        </p:nvSpPr>
        <p:spPr>
          <a:xfrm>
            <a:off x="6370320" y="2515441"/>
            <a:ext cx="4796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548640" indent="-274320">
              <a:lnSpc>
                <a:spcPts val="2016"/>
              </a:lnSpc>
              <a:buSzPct val="100000"/>
              <a:buFont typeface="+mj-lt"/>
              <a:buAutoNum type="alphaLcPeriod" startAt="1"/>
            </a:pPr>
            <a:r>
              <a:rPr lang="en-US" sz="1440" spc="-14" dirty="0">
                <a:solidFill>
                  <a:srgbClr val="070707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A letter at level two</a:t>
            </a:r>
            <a:endParaRPr lang="en-US" sz="1440" dirty="0"/>
          </a:p>
        </p:txBody>
      </p:sp>
      <p:sp>
        <p:nvSpPr>
          <p:cNvPr id="9" name="ts:bullets#numbers/items/2/text@numbers/item/2"/>
          <p:cNvSpPr txBox="1"/>
          <p:nvPr/>
        </p:nvSpPr>
        <p:spPr>
          <a:xfrm>
            <a:off x="6370320" y="2961973"/>
            <a:ext cx="4796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2" marL="822960" indent="-274320">
              <a:lnSpc>
                <a:spcPts val="2016"/>
              </a:lnSpc>
              <a:buSzPct val="100000"/>
              <a:buFont typeface="+mj-lt"/>
              <a:buAutoNum type="romanLcPeriod" startAt="1"/>
            </a:pPr>
            <a:r>
              <a:rPr lang="en-US" sz="1440" spc="-14" dirty="0">
                <a:solidFill>
                  <a:srgbClr val="070707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A roman numeral at level three</a:t>
            </a:r>
            <a:endParaRPr lang="en-US" sz="1440" dirty="0"/>
          </a:p>
        </p:txBody>
      </p:sp>
      <p:sp>
        <p:nvSpPr>
          <p:cNvPr id="10" name="ts:bullets#numbers/items/3/text@numbers/item/3"/>
          <p:cNvSpPr txBox="1"/>
          <p:nvPr/>
        </p:nvSpPr>
        <p:spPr>
          <a:xfrm>
            <a:off x="6370320" y="3408429"/>
            <a:ext cx="4796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ts val="2016"/>
              </a:lnSpc>
              <a:buSzPct val="100000"/>
              <a:buFont typeface="+mj-lt"/>
              <a:buAutoNum type="arabicPeriod" startAt="2"/>
            </a:pPr>
            <a:r>
              <a:rPr lang="en-US" sz="1440" spc="-14" dirty="0">
                <a:solidFill>
                  <a:srgbClr val="070707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Back to a digit</a:t>
            </a:r>
            <a:endParaRPr lang="en-US" sz="1440" dirty="0"/>
          </a:p>
        </p:txBody>
      </p:sp>
      <p:grpSp>
        <p:nvGrpSpPr>
          <p:cNvPr id="17" name="ruled/item/0"/>
          <p:cNvGrpSpPr/>
          <p:nvPr/>
        </p:nvGrpSpPr>
        <p:grpSpPr>
          <a:xfrm>
            <a:off x="6370320" y="4030145"/>
            <a:ext cx="4796028" cy="256032"/>
            <a:chOff x="6370320" y="4030145"/>
            <a:chExt cx="4796028" cy="256032"/>
          </a:xfrm>
        </p:grpSpPr>
        <p:sp>
          <p:nvSpPr>
            <p:cNvPr id="11" name="ts:bullets#ruled/items/0/num@ruled/item/0"/>
            <p:cNvSpPr txBox="1"/>
            <p:nvPr/>
          </p:nvSpPr>
          <p:spPr>
            <a:xfrm>
              <a:off x="6370320" y="4030145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1</a:t>
              </a:r>
              <a:endParaRPr lang="en-US" sz="1440" dirty="0"/>
            </a:p>
          </p:txBody>
        </p:sp>
        <p:sp>
          <p:nvSpPr>
            <p:cNvPr id="12" name="ts:bullets#ruled/items/0/text@ruled/item/0"/>
            <p:cNvSpPr txBox="1"/>
            <p:nvPr/>
          </p:nvSpPr>
          <p:spPr>
            <a:xfrm>
              <a:off x="6644640" y="4030145"/>
              <a:ext cx="45217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The round one form</a:t>
              </a:r>
              <a:endParaRPr lang="en-US" sz="1440" dirty="0"/>
            </a:p>
          </p:txBody>
        </p:sp>
      </p:grpSp>
      <p:grpSp>
        <p:nvGrpSpPr>
          <p:cNvPr id="18" name="ruled/item/1"/>
          <p:cNvGrpSpPr/>
          <p:nvPr/>
        </p:nvGrpSpPr>
        <p:grpSpPr>
          <a:xfrm>
            <a:off x="6370320" y="4476677"/>
            <a:ext cx="4796028" cy="256032"/>
            <a:chOff x="6370320" y="4476677"/>
            <a:chExt cx="4796028" cy="256032"/>
          </a:xfrm>
        </p:grpSpPr>
        <p:sp>
          <p:nvSpPr>
            <p:cNvPr id="13" name="ts:bullets#ruled/items/1/num@ruled/item/1"/>
            <p:cNvSpPr txBox="1"/>
            <p:nvPr/>
          </p:nvSpPr>
          <p:spPr>
            <a:xfrm>
              <a:off x="6370320" y="4476677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2</a:t>
              </a:r>
              <a:endParaRPr lang="en-US" sz="1440" dirty="0"/>
            </a:p>
          </p:txBody>
        </p:sp>
        <p:sp>
          <p:nvSpPr>
            <p:cNvPr id="14" name="ts:bullets#ruled/items/1/text@ruled/item/1"/>
            <p:cNvSpPr txBox="1"/>
            <p:nvPr/>
          </p:nvSpPr>
          <p:spPr>
            <a:xfrm>
              <a:off x="6644640" y="4476677"/>
              <a:ext cx="45217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A tabular numeral in the key position</a:t>
              </a:r>
              <a:endParaRPr lang="en-US" sz="1440" dirty="0"/>
            </a:p>
          </p:txBody>
        </p:sp>
      </p:grpSp>
      <p:sp>
        <p:nvSpPr>
          <p:cNvPr id="15" name="ts:bullet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26 / 28</a:t>
            </a:r>
            <a:endParaRPr lang="en-US" sz="780" dirty="0"/>
          </a:p>
        </p:txBody>
      </p:sp>
      <p:pic>
        <p:nvPicPr>
          <p:cNvPr id="16" name="ts:bullets#sheet" descr="Bullets and numbering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pacing, columns and ind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spacing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Spacing, columns and indent</a:t>
            </a:r>
            <a:endParaRPr lang="en-US" sz="2640" dirty="0"/>
          </a:p>
        </p:txBody>
      </p:sp>
      <p:sp>
        <p:nvSpPr>
          <p:cNvPr id="2" name="ts:spacing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Spacing, columns and indent</a:t>
            </a:r>
            <a:endParaRPr lang="en-US" sz="2640" dirty="0"/>
          </a:p>
        </p:txBody>
      </p:sp>
      <p:sp>
        <p:nvSpPr>
          <p:cNvPr id="3" name="ts:spacing#spaced/text"/>
          <p:cNvSpPr txBox="1"/>
          <p:nvPr/>
        </p:nvSpPr>
        <p:spPr>
          <a:xfrm>
            <a:off x="1043940" y="1618419"/>
            <a:ext cx="10122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720"/>
              </a:spcAft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first paragraph of a two column block at line spacing 1.5.</a:t>
            </a:r>
            <a:endParaRPr lang="en-US" sz="1320" dirty="0"/>
          </a:p>
          <a:p>
            <a:pPr algn="l" indent="0" marL="0">
              <a:lnSpc>
                <a:spcPts val="1980"/>
              </a:lnSpc>
              <a:spcBef>
                <a:spcPts val="720"/>
              </a:spcBef>
              <a:spcAft>
                <a:spcPts val="720"/>
              </a:spcAft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second paragraph follows 12 px of space before it and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leaves 12 px after.</a:t>
            </a:r>
            <a:endParaRPr lang="en-US" sz="1320" dirty="0"/>
          </a:p>
          <a:p>
            <a:pPr algn="l" indent="0" marL="0">
              <a:lnSpc>
                <a:spcPts val="1980"/>
              </a:lnSpc>
              <a:spcBef>
                <a:spcPts val="720"/>
              </a:spcBef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third paragraph fills the second column when the first is full.</a:t>
            </a:r>
            <a:endParaRPr lang="en-US" sz="1320" dirty="0"/>
          </a:p>
        </p:txBody>
      </p:sp>
      <p:sp>
        <p:nvSpPr>
          <p:cNvPr id="4" name="ts:spacing#indented/text"/>
          <p:cNvSpPr txBox="1"/>
          <p:nvPr/>
        </p:nvSpPr>
        <p:spPr>
          <a:xfrm>
            <a:off x="1531620" y="2860479"/>
            <a:ext cx="537956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An indented paragraph, 64 px in from the left edge of the block.</a:t>
            </a:r>
            <a:endParaRPr lang="en-US" sz="1320" dirty="0"/>
          </a:p>
        </p:txBody>
      </p:sp>
      <p:sp>
        <p:nvSpPr>
          <p:cNvPr id="5" name="ts:spacing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27 / 28</a:t>
            </a:r>
            <a:endParaRPr lang="en-US" sz="780" dirty="0"/>
          </a:p>
        </p:txBody>
      </p:sp>
      <p:pic>
        <p:nvPicPr>
          <p:cNvPr id="6" name="ts:spacing#sheet" descr="Spacing, columns and indent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heading long enough that shrink text on overflow steps its size...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autofit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737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heading long enough that shrink text on overflow steps its size...</a:t>
            </a:r>
            <a:endParaRPr lang="en-US" sz="2640" dirty="0"/>
          </a:p>
        </p:txBody>
      </p:sp>
      <p:sp>
        <p:nvSpPr>
          <p:cNvPr id="2" name="ts:autofit#h/text"/>
          <p:cNvSpPr txBox="1"/>
          <p:nvPr/>
        </p:nvSpPr>
        <p:spPr>
          <a:xfrm>
            <a:off x="1043940" y="985278"/>
            <a:ext cx="10122408" cy="7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heading long enough that shrink text on overflow</a:t>
            </a:r>
            <a:br/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steps its size down the ladder before it wraps a third time</a:t>
            </a:r>
            <a:endParaRPr lang="en-US" sz="2640" dirty="0"/>
          </a:p>
        </p:txBody>
      </p:sp>
      <p:sp>
        <p:nvSpPr>
          <p:cNvPr id="3" name="ts:autofit#p1/text"/>
          <p:cNvSpPr txBox="1"/>
          <p:nvPr/>
        </p:nvSpPr>
        <p:spPr>
          <a:xfrm>
            <a:off x="1043940" y="1987151"/>
            <a:ext cx="586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heading above carries autofit shrink without a position box: the fit runs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in the flow layout.</a:t>
            </a:r>
            <a:endParaRPr lang="en-US" sz="1320" dirty="0"/>
          </a:p>
        </p:txBody>
      </p:sp>
      <p:sp>
        <p:nvSpPr>
          <p:cNvPr id="4" name="ts:autofit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28 / 28</a:t>
            </a:r>
            <a:endParaRPr lang="en-US" sz="780" dirty="0"/>
          </a:p>
        </p:txBody>
      </p:sp>
      <p:pic>
        <p:nvPicPr>
          <p:cNvPr id="5" name="ts:autofit#sheet" descr="A heading long enough that shrink text on overflow steps its size...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Export fixture</vt:lpstr>
      <vt:lpstr>Paragraph breaks and slide links</vt:lpstr>
      <vt:lpstr>Pricing table</vt:lpstr>
      <vt:lpstr>Rollout steps</vt:lpstr>
      <vt:lpstr>Block links</vt:lpstr>
      <vt:lpstr>Slide 6</vt:lpstr>
      <vt:lpstr>Text styles</vt:lpstr>
      <vt:lpstr>A title slide as a canvas</vt:lpstr>
      <vt:lpstr>Canvas</vt:lpstr>
      <vt:lpstr>Rotated and flipped objects</vt:lpstr>
      <vt:lpstr>A group of four objects</vt:lpstr>
      <vt:lpstr>Shape presets</vt:lpstr>
      <vt:lpstr>Lines and connectors</vt:lpstr>
      <vt:lpstr>Word art</vt:lpstr>
      <vt:lpstr>Drop shadows</vt:lpstr>
      <vt:lpstr>A plate background</vt:lpstr>
      <vt:lpstr>A picture behind a title</vt:lpstr>
      <vt:lpstr>Dithered background</vt:lpstr>
      <vt:lpstr>A dithered picture at a box</vt:lpstr>
      <vt:lpstr>Image tools</vt:lpstr>
      <vt:lpstr>Merged cells</vt:lpstr>
      <vt:lpstr>A bar chart in a narrow box</vt:lpstr>
      <vt:lpstr>A line chart with values shown</vt:lpstr>
      <vt:lpstr>A pie chart with percent labels</vt:lpstr>
      <vt:lpstr>A process diagram</vt:lpstr>
      <vt:lpstr>Bullets and numbering</vt:lpstr>
      <vt:lpstr>Spacing, columns and indent</vt:lpstr>
      <vt:lpstr>A heading long enough that shrink text on overflow steps its size...</vt:lpstr>
    </vt:vector>
  </TitlesOfParts>
  <Company>General Translation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fixture (light)</dc:title>
  <dc:subject>Turboslide export, revision 2, flatten mode</dc:subject>
  <dc:creator>Turboslide</dc:creator>
  <cp:lastModifiedBy>Turboslide</cp:lastModifiedBy>
  <cp:revision>1</cp:revision>
  <dcterms:created xsi:type="dcterms:W3CDTF">2026-09-15T16:01:32Z</dcterms:created>
  <dcterms:modified xsi:type="dcterms:W3CDTF">2026-09-15T16:01:32Z</dcterms:modified>
</cp:coreProperties>
</file>