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CK_PAPER_DARK">
    <p:bg>
      <p:bgPr>
        <a:solidFill>
          <a:srgbClr val="0707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s:master#frame/0"/>
          <p:cNvSpPr/>
          <p:nvPr/>
        </p:nvSpPr>
        <p:spPr>
          <a:xfrm>
            <a:off x="430530" y="0"/>
            <a:ext cx="0" cy="6858000"/>
          </a:xfrm>
          <a:prstGeom prst="line">
            <a:avLst/>
          </a:prstGeom>
          <a:noFill/>
          <a:ln w="7620">
            <a:solidFill>
              <a:srgbClr val="3B3B3A"/>
            </a:solidFill>
            <a:prstDash val="solid"/>
          </a:ln>
        </p:spPr>
      </p:sp>
      <p:sp>
        <p:nvSpPr>
          <p:cNvPr id="3" name="ts:master#frame/1"/>
          <p:cNvSpPr/>
          <p:nvPr/>
        </p:nvSpPr>
        <p:spPr>
          <a:xfrm>
            <a:off x="11761470" y="0"/>
            <a:ext cx="0" cy="6858000"/>
          </a:xfrm>
          <a:prstGeom prst="line">
            <a:avLst/>
          </a:prstGeom>
          <a:noFill/>
          <a:ln w="7620">
            <a:solidFill>
              <a:srgbClr val="3B3B3A"/>
            </a:solidFill>
            <a:prstDash val="solid"/>
          </a:ln>
        </p:spPr>
      </p:sp>
      <p:sp>
        <p:nvSpPr>
          <p:cNvPr id="4" name="ts:master#frame/2"/>
          <p:cNvSpPr/>
          <p:nvPr/>
        </p:nvSpPr>
        <p:spPr>
          <a:xfrm>
            <a:off x="0" y="430530"/>
            <a:ext cx="12192000" cy="0"/>
          </a:xfrm>
          <a:prstGeom prst="line">
            <a:avLst/>
          </a:prstGeom>
          <a:noFill/>
          <a:ln w="7620">
            <a:solidFill>
              <a:srgbClr val="3B3B3A"/>
            </a:solidFill>
            <a:prstDash val="solid"/>
          </a:ln>
        </p:spPr>
      </p:sp>
      <p:sp>
        <p:nvSpPr>
          <p:cNvPr id="5" name="ts:master#frame/3"/>
          <p:cNvSpPr/>
          <p:nvPr/>
        </p:nvSpPr>
        <p:spPr>
          <a:xfrm>
            <a:off x="0" y="6427470"/>
            <a:ext cx="12192000" cy="0"/>
          </a:xfrm>
          <a:prstGeom prst="line">
            <a:avLst/>
          </a:prstGeom>
          <a:noFill/>
          <a:ln w="7620">
            <a:solidFill>
              <a:srgbClr val="3B3B3A"/>
            </a:solidFill>
            <a:prstDash val="solid"/>
          </a:ln>
        </p:spPr>
      </p:sp>
      <p:sp>
        <p:nvSpPr>
          <p:cNvPr id="6" name="ts:master#cross/0/v"/>
          <p:cNvSpPr/>
          <p:nvPr/>
        </p:nvSpPr>
        <p:spPr>
          <a:xfrm>
            <a:off x="430530" y="388620"/>
            <a:ext cx="0" cy="83820"/>
          </a:xfrm>
          <a:prstGeom prst="line">
            <a:avLst/>
          </a:prstGeom>
          <a:noFill/>
          <a:ln w="7620">
            <a:solidFill>
              <a:srgbClr val="5B5B5B"/>
            </a:solidFill>
            <a:prstDash val="solid"/>
          </a:ln>
        </p:spPr>
      </p:sp>
      <p:sp>
        <p:nvSpPr>
          <p:cNvPr id="7" name="ts:master#cross/0/h"/>
          <p:cNvSpPr/>
          <p:nvPr/>
        </p:nvSpPr>
        <p:spPr>
          <a:xfrm>
            <a:off x="388620" y="430530"/>
            <a:ext cx="83820" cy="0"/>
          </a:xfrm>
          <a:prstGeom prst="line">
            <a:avLst/>
          </a:prstGeom>
          <a:noFill/>
          <a:ln w="7620">
            <a:solidFill>
              <a:srgbClr val="5B5B5B"/>
            </a:solidFill>
            <a:prstDash val="solid"/>
          </a:ln>
        </p:spPr>
      </p:sp>
      <p:sp>
        <p:nvSpPr>
          <p:cNvPr id="8" name="ts:master#cross/1/v"/>
          <p:cNvSpPr/>
          <p:nvPr/>
        </p:nvSpPr>
        <p:spPr>
          <a:xfrm>
            <a:off x="11761470" y="388620"/>
            <a:ext cx="0" cy="83820"/>
          </a:xfrm>
          <a:prstGeom prst="line">
            <a:avLst/>
          </a:prstGeom>
          <a:noFill/>
          <a:ln w="7620">
            <a:solidFill>
              <a:srgbClr val="5B5B5B"/>
            </a:solidFill>
            <a:prstDash val="solid"/>
          </a:ln>
        </p:spPr>
      </p:sp>
      <p:sp>
        <p:nvSpPr>
          <p:cNvPr id="9" name="ts:master#cross/1/h"/>
          <p:cNvSpPr/>
          <p:nvPr/>
        </p:nvSpPr>
        <p:spPr>
          <a:xfrm>
            <a:off x="11719560" y="430530"/>
            <a:ext cx="83820" cy="0"/>
          </a:xfrm>
          <a:prstGeom prst="line">
            <a:avLst/>
          </a:prstGeom>
          <a:noFill/>
          <a:ln w="7620">
            <a:solidFill>
              <a:srgbClr val="5B5B5B"/>
            </a:solidFill>
            <a:prstDash val="solid"/>
          </a:ln>
        </p:spPr>
      </p:sp>
      <p:sp>
        <p:nvSpPr>
          <p:cNvPr id="10" name="ts:master#cross/2/v"/>
          <p:cNvSpPr/>
          <p:nvPr/>
        </p:nvSpPr>
        <p:spPr>
          <a:xfrm>
            <a:off x="430530" y="6385560"/>
            <a:ext cx="0" cy="83820"/>
          </a:xfrm>
          <a:prstGeom prst="line">
            <a:avLst/>
          </a:prstGeom>
          <a:noFill/>
          <a:ln w="7620">
            <a:solidFill>
              <a:srgbClr val="5B5B5B"/>
            </a:solidFill>
            <a:prstDash val="solid"/>
          </a:ln>
        </p:spPr>
      </p:sp>
      <p:sp>
        <p:nvSpPr>
          <p:cNvPr id="11" name="ts:master#cross/2/h"/>
          <p:cNvSpPr/>
          <p:nvPr/>
        </p:nvSpPr>
        <p:spPr>
          <a:xfrm>
            <a:off x="388620" y="6427470"/>
            <a:ext cx="83820" cy="0"/>
          </a:xfrm>
          <a:prstGeom prst="line">
            <a:avLst/>
          </a:prstGeom>
          <a:noFill/>
          <a:ln w="7620">
            <a:solidFill>
              <a:srgbClr val="5B5B5B"/>
            </a:solidFill>
            <a:prstDash val="solid"/>
          </a:ln>
        </p:spPr>
      </p:sp>
      <p:sp>
        <p:nvSpPr>
          <p:cNvPr id="12" name="ts:master#cross/3/v"/>
          <p:cNvSpPr/>
          <p:nvPr/>
        </p:nvSpPr>
        <p:spPr>
          <a:xfrm>
            <a:off x="11761470" y="6385560"/>
            <a:ext cx="0" cy="83820"/>
          </a:xfrm>
          <a:prstGeom prst="line">
            <a:avLst/>
          </a:prstGeom>
          <a:noFill/>
          <a:ln w="7620">
            <a:solidFill>
              <a:srgbClr val="5B5B5B"/>
            </a:solidFill>
            <a:prstDash val="solid"/>
          </a:ln>
        </p:spPr>
      </p:sp>
      <p:sp>
        <p:nvSpPr>
          <p:cNvPr id="13" name="ts:master#cross/3/h"/>
          <p:cNvSpPr/>
          <p:nvPr/>
        </p:nvSpPr>
        <p:spPr>
          <a:xfrm>
            <a:off x="11719560" y="6427470"/>
            <a:ext cx="83820" cy="0"/>
          </a:xfrm>
          <a:prstGeom prst="line">
            <a:avLst/>
          </a:prstGeom>
          <a:noFill/>
          <a:ln w="7620">
            <a:solidFill>
              <a:srgbClr val="5B5B5B"/>
            </a:solidFill>
            <a:prstDash val="solid"/>
          </a:ln>
        </p:spPr>
      </p:sp>
      <p:pic>
        <p:nvPicPr>
          <p:cNvPr id="14" name="ts:master#wordmark" descr="GT wordmar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83680"/>
            <a:ext cx="213360" cy="1371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CK_PICTURE_DARK">
    <p:bg>
      <p:bgPr>
        <a:solidFill>
          <a:srgbClr val="0707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6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hyperlink" Target="https://generaltranslation.com" TargetMode="External"/><Relationship Id="rId3" Type="http://schemas.openxmlformats.org/officeDocument/2006/relationships/slide" Target="slide1.xml"/><Relationship Id="rId4" Type="http://schemas.openxmlformats.org/officeDocument/2006/relationships/slide" Target="slide1.xml"/><Relationship Id="rId5" Type="http://schemas.openxmlformats.org/officeDocument/2006/relationships/slide" Target="slide3.xml"/><Relationship Id="rId7" Type="http://schemas.openxmlformats.org/officeDocument/2006/relationships/hyperlink" Target="https://generaltranslation.com" TargetMode="External"/><Relationship Id="rId6" Type="http://schemas.openxmlformats.org/officeDocument/2006/relationships/image" Target="../media/image-5-1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xport fix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s:title#title" hidden="1"/>
          <p:cNvSpPr txBox="1">
            <a:spLocks noGrp="1"/>
          </p:cNvSpPr>
          <p:nvPr>
            <p:ph type="title"/>
          </p:nvPr>
        </p:nvSpPr>
        <p:spPr>
          <a:xfrm>
            <a:off x="1043940" y="3197047"/>
            <a:ext cx="6869049" cy="6839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5280" dirty="0">
                <a:solidFill>
                  <a:srgbClr val="F2F2F0">
                    <a:alpha val="0"/>
                  </a:srgbClr>
                </a:solidFill>
                <a:latin typeface="GT Inter Display"/>
              </a:rPr>
              <a:t>Export fixture</a:t>
            </a:r>
            <a:endParaRPr lang="en-US" sz="5280" dirty="0"/>
          </a:p>
        </p:txBody>
      </p:sp>
      <p:sp>
        <p:nvSpPr>
          <p:cNvPr id="2" name="ts:title#heading/text"/>
          <p:cNvSpPr txBox="1"/>
          <p:nvPr/>
        </p:nvSpPr>
        <p:spPr>
          <a:xfrm>
            <a:off x="1043940" y="3227558"/>
            <a:ext cx="6887337" cy="683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386"/>
              </a:lnSpc>
              <a:buNone/>
            </a:pPr>
            <a:r>
              <a:rPr lang="en-US" sz="5280" spc="-132" dirty="0">
                <a:solidFill>
                  <a:srgbClr val="F2F2F0"/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Export fixture</a:t>
            </a:r>
            <a:endParaRPr lang="en-US" sz="5280" dirty="0"/>
          </a:p>
        </p:txBody>
      </p:sp>
      <p:sp>
        <p:nvSpPr>
          <p:cNvPr id="3" name="ts:title#lead/text"/>
          <p:cNvSpPr txBox="1"/>
          <p:nvPr/>
        </p:nvSpPr>
        <p:spPr>
          <a:xfrm>
            <a:off x="1043940" y="4052630"/>
            <a:ext cx="6887337" cy="574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62"/>
              </a:lnSpc>
              <a:buNone/>
            </a:pPr>
            <a:r>
              <a:rPr lang="en-US" sz="1560" dirty="0">
                <a:solidFill>
                  <a:srgbClr val="B9BCC3"/>
                </a:solidFill>
                <a:latin typeface="GT Inter Text 26" pitchFamily="34" charset="0"/>
                <a:ea typeface="GT Inter Text 26" pitchFamily="34" charset="-122"/>
                <a:cs typeface="GT Inter Text 26" pitchFamily="34" charset="-120"/>
              </a:rPr>
              <a:t>One of every object the Google Slides parity round added, for both export</a:t>
            </a:r>
            <a:br/>
            <a:pPr algn="l" indent="0" marL="0">
              <a:lnSpc>
                <a:spcPts val="2262"/>
              </a:lnSpc>
              <a:buNone/>
            </a:pPr>
            <a:r>
              <a:rPr lang="en-US" sz="1560" dirty="0">
                <a:solidFill>
                  <a:srgbClr val="B9BCC3"/>
                </a:solidFill>
                <a:latin typeface="GT Inter Text 26" pitchFamily="34" charset="0"/>
                <a:ea typeface="GT Inter Text 26" pitchFamily="34" charset="-122"/>
                <a:cs typeface="GT Inter Text 26" pitchFamily="34" charset="-120"/>
              </a:rPr>
              <a:t>modes.</a:t>
            </a:r>
            <a:endParaRPr lang="en-US" sz="1560" dirty="0"/>
          </a:p>
        </p:txBody>
      </p:sp>
      <p:sp>
        <p:nvSpPr>
          <p:cNvPr id="4" name="ts:title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/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01 / 06</a:t>
            </a:r>
            <a:endParaRPr lang="en-US" sz="780" dirty="0"/>
          </a:p>
        </p:txBody>
      </p:sp>
      <p:pic>
        <p:nvPicPr>
          <p:cNvPr id="5" name="ts:title#mark:1" descr="mark (mark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3940" y="2194560"/>
            <a:ext cx="1005840" cy="6477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ragraph breaks and slide li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s:breaks#title" hidden="1"/>
          <p:cNvSpPr txBox="1">
            <a:spLocks noGrp="1"/>
          </p:cNvSpPr>
          <p:nvPr>
            <p:ph type="title"/>
          </p:nvPr>
        </p:nvSpPr>
        <p:spPr>
          <a:xfrm>
            <a:off x="1043940" y="981456"/>
            <a:ext cx="3185160" cy="7375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F2F2F0">
                    <a:alpha val="0"/>
                  </a:srgbClr>
                </a:solidFill>
                <a:latin typeface="GT Inter Display"/>
              </a:rPr>
              <a:t>Paragraph breaks and slide links</a:t>
            </a:r>
            <a:endParaRPr lang="en-US" sz="2640" dirty="0"/>
          </a:p>
        </p:txBody>
      </p:sp>
      <p:sp>
        <p:nvSpPr>
          <p:cNvPr id="2" name="ts:breaks#h/text"/>
          <p:cNvSpPr txBox="1"/>
          <p:nvPr/>
        </p:nvSpPr>
        <p:spPr>
          <a:xfrm>
            <a:off x="1043940" y="985278"/>
            <a:ext cx="3203448" cy="737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F2F2F0"/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Paragraph breaks</a:t>
            </a:r>
            <a:br/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F2F2F0"/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and slide links</a:t>
            </a:r>
            <a:endParaRPr lang="en-US" sz="2640" dirty="0"/>
          </a:p>
        </p:txBody>
      </p:sp>
      <p:sp>
        <p:nvSpPr>
          <p:cNvPr id="3" name="ts:breaks#p1/text"/>
          <p:cNvSpPr txBox="1"/>
          <p:nvPr/>
        </p:nvSpPr>
        <p:spPr>
          <a:xfrm>
            <a:off x="4777740" y="944888"/>
            <a:ext cx="5867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/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The first paragraph of the head.</a:t>
            </a:r>
            <a:endParaRPr lang="en-US" sz="1320" dirty="0"/>
          </a:p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/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The second paragraph follows a line break.</a:t>
            </a:r>
            <a:endParaRPr lang="en-US" sz="1320" dirty="0"/>
          </a:p>
        </p:txBody>
      </p:sp>
      <p:sp>
        <p:nvSpPr>
          <p:cNvPr id="4" name="ts:breaks#p2/text"/>
          <p:cNvSpPr txBox="1"/>
          <p:nvPr/>
        </p:nvSpPr>
        <p:spPr>
          <a:xfrm>
            <a:off x="1043940" y="3721539"/>
            <a:ext cx="5867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/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The table is on </a:t>
            </a:r>
            <a:pPr algn="l" indent="0" marL="0">
              <a:lnSpc>
                <a:spcPts val="1980"/>
              </a:lnSpc>
              <a:buNone/>
            </a:pPr>
            <a:r>
              <a:rPr lang="en-US" sz="1320" u="sng" dirty="0">
                <a:solidFill>
                  <a:srgbClr val="F2F2F0"/>
                </a:solidFill>
                <a:uFill>
                  <a:solidFill>
                    <a:srgbClr val="F2F2F0"/>
                  </a:solidFill>
                </a:uFill>
                <a:latin typeface="GT Inter Text 22" pitchFamily="34" charset="0"/>
                <a:ea typeface="GT Inter Text 22" pitchFamily="34" charset="-122"/>
                <a:cs typeface="GT Inter Text 22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next slide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/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 and the </a:t>
            </a:r>
            <a:pPr algn="l" indent="0" marL="0">
              <a:lnSpc>
                <a:spcPts val="1980"/>
              </a:lnSpc>
              <a:buNone/>
            </a:pPr>
            <a:r>
              <a:rPr lang="en-US" sz="1320" u="sng" dirty="0">
                <a:solidFill>
                  <a:srgbClr val="F2F2F0"/>
                </a:solidFill>
                <a:uFill>
                  <a:solidFill>
                    <a:srgbClr val="F2F2F0"/>
                  </a:solidFill>
                </a:uFill>
                <a:latin typeface="GT Inter Text 22" pitchFamily="34" charset="0"/>
                <a:ea typeface="GT Inter Text 22" pitchFamily="34" charset="-122"/>
                <a:cs typeface="GT Inter Text 22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last slide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/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 holds an empty placeholder.</a:t>
            </a:r>
            <a:endParaRPr lang="en-US" sz="1320" dirty="0"/>
          </a:p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/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A third paragraph closes the body.</a:t>
            </a:r>
            <a:endParaRPr lang="en-US" sz="1320" dirty="0"/>
          </a:p>
        </p:txBody>
      </p:sp>
      <p:sp>
        <p:nvSpPr>
          <p:cNvPr id="5" name="ts:breaks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/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02 / 06</a:t>
            </a:r>
            <a:endParaRPr lang="en-US" sz="7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icing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s:table#title" hidden="1"/>
          <p:cNvSpPr txBox="1">
            <a:spLocks noGrp="1"/>
          </p:cNvSpPr>
          <p:nvPr>
            <p:ph type="title"/>
          </p:nvPr>
        </p:nvSpPr>
        <p:spPr>
          <a:xfrm>
            <a:off x="1043940" y="981456"/>
            <a:ext cx="3185160" cy="3688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F2F2F0">
                    <a:alpha val="0"/>
                  </a:srgbClr>
                </a:solidFill>
                <a:latin typeface="GT Inter Display"/>
              </a:rPr>
              <a:t>Pricing table</a:t>
            </a:r>
            <a:endParaRPr lang="en-US" sz="2640" dirty="0"/>
          </a:p>
        </p:txBody>
      </p:sp>
      <p:graphicFrame>
        <p:nvGraphicFramePr>
          <p:cNvPr id="4" name="ts:table#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43940" y="2999918"/>
          <a:ext cx="10104120" cy="1645920"/>
        </p:xfrm>
        <a:graphic>
          <a:graphicData uri="http://schemas.openxmlformats.org/drawingml/2006/table">
            <a:tbl>
              <a:tblPr/>
              <a:tblGrid>
                <a:gridCol w="2526030"/>
                <a:gridCol w="2526030"/>
                <a:gridCol w="2526030"/>
                <a:gridCol w="252603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spc="-12" dirty="0">
                          <a:solidFill>
                            <a:srgbClr val="F2F2F0"/>
                          </a:solidFill>
                          <a:latin typeface="GT Inter Text 20 Medium" pitchFamily="34" charset="0"/>
                          <a:ea typeface="GT Inter Text 20 Medium" pitchFamily="34" charset="-122"/>
                          <a:cs typeface="GT Inter Text 20 Medium" pitchFamily="34" charset="-120"/>
                        </a:rPr>
                        <a:t>Plan</a:t>
                      </a:r>
                      <a:endParaRPr lang="en-US" sz="1200" dirty="0">
                        <a:latin typeface="GT Inter Text 20 Medium" charset="0"/>
                        <a:ea typeface="GT Inter Text 20 Medium" charset="0"/>
                        <a:cs typeface="GT Inter Text 20 Medium" charset="0"/>
                      </a:endParaRPr>
                    </a:p>
                  </a:txBody>
                  <a:tcPr marL="0" marR="121920" marT="66096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2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spc="-12" dirty="0">
                          <a:solidFill>
                            <a:srgbClr val="F2F2F0"/>
                          </a:solidFill>
                          <a:latin typeface="GT Inter Text 20 Medium" pitchFamily="34" charset="0"/>
                          <a:ea typeface="GT Inter Text 20 Medium" pitchFamily="34" charset="-122"/>
                          <a:cs typeface="GT Inter Text 20 Medium" pitchFamily="34" charset="-120"/>
                        </a:rPr>
                        <a:t>Seats</a:t>
                      </a:r>
                      <a:endParaRPr lang="en-US" sz="1200" dirty="0">
                        <a:latin typeface="GT Inter Text 20 Medium" charset="0"/>
                        <a:ea typeface="GT Inter Text 20 Medium" charset="0"/>
                        <a:cs typeface="GT Inter Text 20 Medium" charset="0"/>
                      </a:endParaRPr>
                    </a:p>
                  </a:txBody>
                  <a:tcPr marL="121920" marR="121920" marT="66096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2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spc="-12" dirty="0">
                          <a:solidFill>
                            <a:srgbClr val="F2F2F0"/>
                          </a:solidFill>
                          <a:latin typeface="GT Inter Text 20 Medium" pitchFamily="34" charset="0"/>
                          <a:ea typeface="GT Inter Text 20 Medium" pitchFamily="34" charset="-122"/>
                          <a:cs typeface="GT Inter Text 20 Medium" pitchFamily="34" charset="-120"/>
                        </a:rPr>
                        <a:t>Locales</a:t>
                      </a:r>
                      <a:endParaRPr lang="en-US" sz="1200" dirty="0">
                        <a:latin typeface="GT Inter Text 20 Medium" charset="0"/>
                        <a:ea typeface="GT Inter Text 20 Medium" charset="0"/>
                        <a:cs typeface="GT Inter Text 20 Medium" charset="0"/>
                      </a:endParaRPr>
                    </a:p>
                  </a:txBody>
                  <a:tcPr marL="121920" marR="121920" marT="66096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2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spc="-12" dirty="0">
                          <a:solidFill>
                            <a:srgbClr val="F2F2F0"/>
                          </a:solidFill>
                          <a:latin typeface="GT Inter Text 20 Medium" pitchFamily="34" charset="0"/>
                          <a:ea typeface="GT Inter Text 20 Medium" pitchFamily="34" charset="-122"/>
                          <a:cs typeface="GT Inter Text 20 Medium" pitchFamily="34" charset="-120"/>
                        </a:rPr>
                        <a:t>Price</a:t>
                      </a:r>
                      <a:endParaRPr lang="en-US" sz="1200" dirty="0">
                        <a:latin typeface="GT Inter Text 20 Medium" charset="0"/>
                        <a:ea typeface="GT Inter Text 20 Medium" charset="0"/>
                        <a:cs typeface="GT Inter Text 20 Medium" charset="0"/>
                      </a:endParaRPr>
                    </a:p>
                  </a:txBody>
                  <a:tcPr marL="121920" marR="0" marT="66096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F2F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2F2F0"/>
                          </a:solidFill>
                          <a:latin typeface="GT Inter Text 20" pitchFamily="34" charset="0"/>
                          <a:ea typeface="GT Inter Text 20" pitchFamily="34" charset="-122"/>
                          <a:cs typeface="GT Inter Text 20" pitchFamily="34" charset="-120"/>
                        </a:rPr>
                        <a:t>Starter</a:t>
                      </a:r>
                      <a:endParaRPr lang="en-US" sz="1200" dirty="0">
                        <a:latin typeface="GT Inter Text 20" charset="0"/>
                        <a:ea typeface="GT Inter Text 20" charset="0"/>
                        <a:cs typeface="GT Inter Text 20" charset="0"/>
                      </a:endParaRPr>
                    </a:p>
                  </a:txBody>
                  <a:tcPr marL="0" marR="121920" marT="66096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2F2F0"/>
                          </a:solidFill>
                          <a:latin typeface="GT Inter Text 20" pitchFamily="34" charset="0"/>
                          <a:ea typeface="GT Inter Text 20" pitchFamily="34" charset="-122"/>
                          <a:cs typeface="GT Inter Text 20" pitchFamily="34" charset="-120"/>
                        </a:rPr>
                        <a:t>5</a:t>
                      </a:r>
                      <a:endParaRPr lang="en-US" sz="1200" dirty="0">
                        <a:latin typeface="GT Inter Text 20" charset="0"/>
                        <a:ea typeface="GT Inter Text 20" charset="0"/>
                        <a:cs typeface="GT Inter Text 20" charset="0"/>
                      </a:endParaRPr>
                    </a:p>
                  </a:txBody>
                  <a:tcPr marL="121920" marR="121920" marT="66096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2F2F0"/>
                          </a:solidFill>
                          <a:latin typeface="GT Inter Text 20" pitchFamily="34" charset="0"/>
                          <a:ea typeface="GT Inter Text 20" pitchFamily="34" charset="-122"/>
                          <a:cs typeface="GT Inter Text 20" pitchFamily="34" charset="-120"/>
                        </a:rPr>
                        <a:t>2</a:t>
                      </a:r>
                      <a:endParaRPr lang="en-US" sz="1200" dirty="0">
                        <a:latin typeface="GT Inter Text 20" charset="0"/>
                        <a:ea typeface="GT Inter Text 20" charset="0"/>
                        <a:cs typeface="GT Inter Text 20" charset="0"/>
                      </a:endParaRPr>
                    </a:p>
                  </a:txBody>
                  <a:tcPr marL="121920" marR="121920" marT="66096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2F2F0"/>
                          </a:solidFill>
                          <a:latin typeface="GT Inter Text 20" pitchFamily="34" charset="0"/>
                          <a:ea typeface="GT Inter Text 20" pitchFamily="34" charset="-122"/>
                          <a:cs typeface="GT Inter Text 20" pitchFamily="34" charset="-120"/>
                        </a:rPr>
                        <a:t>$0</a:t>
                      </a:r>
                      <a:endParaRPr lang="en-US" sz="1200" dirty="0">
                        <a:latin typeface="GT Inter Text 20" charset="0"/>
                        <a:ea typeface="GT Inter Text 20" charset="0"/>
                        <a:cs typeface="GT Inter Text 20" charset="0"/>
                      </a:endParaRPr>
                    </a:p>
                  </a:txBody>
                  <a:tcPr marL="121920" marR="0" marT="66096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2F2F0"/>
                          </a:solidFill>
                          <a:latin typeface="GT Inter Text 20" pitchFamily="34" charset="0"/>
                          <a:ea typeface="GT Inter Text 20" pitchFamily="34" charset="-122"/>
                          <a:cs typeface="GT Inter Text 20" pitchFamily="34" charset="-120"/>
                        </a:rPr>
                        <a:t>Team</a:t>
                      </a:r>
                      <a:endParaRPr lang="en-US" sz="1200" dirty="0">
                        <a:latin typeface="GT Inter Text 20" charset="0"/>
                        <a:ea typeface="GT Inter Text 20" charset="0"/>
                        <a:cs typeface="GT Inter Text 20" charset="0"/>
                      </a:endParaRPr>
                    </a:p>
                  </a:txBody>
                  <a:tcPr marL="0" marR="121920" marT="66096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2F2F0"/>
                          </a:solidFill>
                          <a:latin typeface="GT Inter Text 20" pitchFamily="34" charset="0"/>
                          <a:ea typeface="GT Inter Text 20" pitchFamily="34" charset="-122"/>
                          <a:cs typeface="GT Inter Text 20" pitchFamily="34" charset="-120"/>
                        </a:rPr>
                        <a:t>25</a:t>
                      </a:r>
                      <a:endParaRPr lang="en-US" sz="1200" dirty="0">
                        <a:latin typeface="GT Inter Text 20" charset="0"/>
                        <a:ea typeface="GT Inter Text 20" charset="0"/>
                        <a:cs typeface="GT Inter Text 20" charset="0"/>
                      </a:endParaRPr>
                    </a:p>
                  </a:txBody>
                  <a:tcPr marL="121920" marR="121920" marT="66096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2F2F0"/>
                          </a:solidFill>
                          <a:latin typeface="GT Inter Text 20" pitchFamily="34" charset="0"/>
                          <a:ea typeface="GT Inter Text 20" pitchFamily="34" charset="-122"/>
                          <a:cs typeface="GT Inter Text 20" pitchFamily="34" charset="-120"/>
                        </a:rPr>
                        <a:t>10</a:t>
                      </a:r>
                      <a:endParaRPr lang="en-US" sz="1200" dirty="0">
                        <a:latin typeface="GT Inter Text 20" charset="0"/>
                        <a:ea typeface="GT Inter Text 20" charset="0"/>
                        <a:cs typeface="GT Inter Text 20" charset="0"/>
                      </a:endParaRPr>
                    </a:p>
                  </a:txBody>
                  <a:tcPr marL="121920" marR="121920" marT="66096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2F2F0"/>
                          </a:solidFill>
                          <a:latin typeface="GT Inter Text 20" pitchFamily="34" charset="0"/>
                          <a:ea typeface="GT Inter Text 20" pitchFamily="34" charset="-122"/>
                          <a:cs typeface="GT Inter Text 20" pitchFamily="34" charset="-120"/>
                        </a:rPr>
                        <a:t>$99</a:t>
                      </a:r>
                      <a:endParaRPr lang="en-US" sz="1200" dirty="0">
                        <a:latin typeface="GT Inter Text 20" charset="0"/>
                        <a:ea typeface="GT Inter Text 20" charset="0"/>
                        <a:cs typeface="GT Inter Text 20" charset="0"/>
                      </a:endParaRPr>
                    </a:p>
                  </a:txBody>
                  <a:tcPr marL="121920" marR="0" marT="66096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2F2F0"/>
                          </a:solidFill>
                          <a:latin typeface="GT Inter Text 20" pitchFamily="34" charset="0"/>
                          <a:ea typeface="GT Inter Text 20" pitchFamily="34" charset="-122"/>
                          <a:cs typeface="GT Inter Text 20" pitchFamily="34" charset="-120"/>
                        </a:rPr>
                        <a:t>Enterprise</a:t>
                      </a:r>
                      <a:endParaRPr lang="en-US" sz="1200" dirty="0">
                        <a:latin typeface="GT Inter Text 20" charset="0"/>
                        <a:ea typeface="GT Inter Text 20" charset="0"/>
                        <a:cs typeface="GT Inter Text 20" charset="0"/>
                      </a:endParaRPr>
                    </a:p>
                  </a:txBody>
                  <a:tcPr marL="0" marR="121920" marT="66096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2F2F0"/>
                          </a:solidFill>
                          <a:latin typeface="GT Inter Text 20" pitchFamily="34" charset="0"/>
                          <a:ea typeface="GT Inter Text 20" pitchFamily="34" charset="-122"/>
                          <a:cs typeface="GT Inter Text 20" pitchFamily="34" charset="-120"/>
                        </a:rPr>
                        <a:t>Unlimited</a:t>
                      </a:r>
                      <a:endParaRPr lang="en-US" sz="1200" dirty="0">
                        <a:latin typeface="GT Inter Text 20" charset="0"/>
                        <a:ea typeface="GT Inter Text 20" charset="0"/>
                        <a:cs typeface="GT Inter Text 20" charset="0"/>
                      </a:endParaRPr>
                    </a:p>
                  </a:txBody>
                  <a:tcPr marL="121920" marR="121920" marT="66096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2F2F0"/>
                          </a:solidFill>
                          <a:latin typeface="GT Inter Text 20" pitchFamily="34" charset="0"/>
                          <a:ea typeface="GT Inter Text 20" pitchFamily="34" charset="-122"/>
                          <a:cs typeface="GT Inter Text 20" pitchFamily="34" charset="-120"/>
                        </a:rPr>
                        <a:t>Every locale</a:t>
                      </a:r>
                      <a:endParaRPr lang="en-US" sz="1200" dirty="0">
                        <a:latin typeface="GT Inter Text 20" charset="0"/>
                        <a:ea typeface="GT Inter Text 20" charset="0"/>
                        <a:cs typeface="GT Inter Text 20" charset="0"/>
                      </a:endParaRPr>
                    </a:p>
                  </a:txBody>
                  <a:tcPr marL="121920" marR="121920" marT="66096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F2F2F0"/>
                          </a:solidFill>
                          <a:latin typeface="GT Inter Text 20" pitchFamily="34" charset="0"/>
                          <a:ea typeface="GT Inter Text 20" pitchFamily="34" charset="-122"/>
                          <a:cs typeface="GT Inter Text 20" pitchFamily="34" charset="-120"/>
                        </a:rPr>
                        <a:t>Contact sales</a:t>
                      </a:r>
                      <a:endParaRPr lang="en-US" sz="1200" dirty="0">
                        <a:latin typeface="GT Inter Text 20" charset="0"/>
                        <a:ea typeface="GT Inter Text 20" charset="0"/>
                        <a:cs typeface="GT Inter Text 20" charset="0"/>
                      </a:endParaRPr>
                    </a:p>
                  </a:txBody>
                  <a:tcPr marL="121920" marR="0" marT="66096" marB="9144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3B3B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" name="ts:table#h/text"/>
          <p:cNvSpPr txBox="1"/>
          <p:nvPr/>
        </p:nvSpPr>
        <p:spPr>
          <a:xfrm>
            <a:off x="1043940" y="985278"/>
            <a:ext cx="3203448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F2F2F0"/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Pricing table</a:t>
            </a:r>
            <a:endParaRPr lang="en-US" sz="2640" dirty="0"/>
          </a:p>
        </p:txBody>
      </p:sp>
      <p:sp>
        <p:nvSpPr>
          <p:cNvPr id="4" name="ts:table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/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03 / 06</a:t>
            </a:r>
            <a:endParaRPr lang="en-US" sz="7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ollout ste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s:numbered#title" hidden="1"/>
          <p:cNvSpPr txBox="1">
            <a:spLocks noGrp="1"/>
          </p:cNvSpPr>
          <p:nvPr>
            <p:ph type="title"/>
          </p:nvPr>
        </p:nvSpPr>
        <p:spPr>
          <a:xfrm>
            <a:off x="1043940" y="2839212"/>
            <a:ext cx="3981450" cy="3688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F2F2F0">
                    <a:alpha val="0"/>
                  </a:srgbClr>
                </a:solidFill>
                <a:latin typeface="GT Inter Display"/>
              </a:rPr>
              <a:t>Rollout steps</a:t>
            </a:r>
            <a:endParaRPr lang="en-US" sz="2640" dirty="0"/>
          </a:p>
        </p:txBody>
      </p:sp>
      <p:sp>
        <p:nvSpPr>
          <p:cNvPr id="2" name="ts:numbered#rule/0"/>
          <p:cNvSpPr/>
          <p:nvPr/>
        </p:nvSpPr>
        <p:spPr>
          <a:xfrm>
            <a:off x="5574030" y="2759278"/>
            <a:ext cx="5574030" cy="0"/>
          </a:xfrm>
          <a:prstGeom prst="line">
            <a:avLst/>
          </a:prstGeom>
          <a:noFill/>
          <a:ln w="7620">
            <a:solidFill>
              <a:srgbClr val="3B3B3A"/>
            </a:solidFill>
            <a:prstDash val="solid"/>
          </a:ln>
        </p:spPr>
      </p:sp>
      <p:grpSp>
        <p:nvGrpSpPr>
          <p:cNvPr id="15" name="list/item/0"/>
          <p:cNvGrpSpPr/>
          <p:nvPr/>
        </p:nvGrpSpPr>
        <p:grpSpPr>
          <a:xfrm>
            <a:off x="5574030" y="2826337"/>
            <a:ext cx="5592318" cy="379397"/>
            <a:chOff x="5574030" y="2826337"/>
            <a:chExt cx="5592318" cy="379397"/>
          </a:xfrm>
        </p:grpSpPr>
        <p:sp>
          <p:nvSpPr>
            <p:cNvPr id="3" name="ts:numbered#rule/1@list/item/0"/>
            <p:cNvSpPr/>
            <p:nvPr/>
          </p:nvSpPr>
          <p:spPr>
            <a:xfrm>
              <a:off x="5574030" y="3205734"/>
              <a:ext cx="5574030" cy="0"/>
            </a:xfrm>
            <a:prstGeom prst="line">
              <a:avLst/>
            </a:prstGeom>
            <a:noFill/>
            <a:ln w="7620">
              <a:solidFill>
                <a:srgbClr val="1F1F1E"/>
              </a:solidFill>
              <a:prstDash val="solid"/>
            </a:ln>
          </p:spPr>
        </p:sp>
        <p:sp>
          <p:nvSpPr>
            <p:cNvPr id="8" name="ts:numbered#list/items/0/num@list/item/0"/>
            <p:cNvSpPr txBox="1"/>
            <p:nvPr/>
          </p:nvSpPr>
          <p:spPr>
            <a:xfrm>
              <a:off x="5574030" y="2826337"/>
              <a:ext cx="29260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016"/>
                </a:lnSpc>
                <a:buNone/>
              </a:pPr>
              <a:r>
                <a:rPr lang="en-US" sz="1440" spc="-14" dirty="0">
                  <a:solidFill>
                    <a:srgbClr val="F2F2F0"/>
                  </a:solidFill>
                  <a:latin typeface="GT Inter Text 24 Medium" pitchFamily="34" charset="0"/>
                  <a:ea typeface="GT Inter Text 24 Medium" pitchFamily="34" charset="-122"/>
                  <a:cs typeface="GT Inter Text 24 Medium" pitchFamily="34" charset="-120"/>
                </a:rPr>
                <a:t>1</a:t>
              </a:r>
              <a:endParaRPr lang="en-US" sz="1440" dirty="0"/>
            </a:p>
          </p:txBody>
        </p:sp>
        <p:sp>
          <p:nvSpPr>
            <p:cNvPr id="9" name="ts:numbered#list/items/0/text@list/item/0"/>
            <p:cNvSpPr txBox="1"/>
            <p:nvPr/>
          </p:nvSpPr>
          <p:spPr>
            <a:xfrm>
              <a:off x="5848350" y="2826337"/>
              <a:ext cx="531799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016"/>
                </a:lnSpc>
                <a:buNone/>
              </a:pPr>
              <a:r>
                <a:rPr lang="en-US" sz="1440" spc="-14" dirty="0">
                  <a:solidFill>
                    <a:srgbClr val="F2F2F0"/>
                  </a:solidFill>
                  <a:latin typeface="GT Inter Text 24 Medium" pitchFamily="34" charset="0"/>
                  <a:ea typeface="GT Inter Text 24 Medium" pitchFamily="34" charset="-122"/>
                  <a:cs typeface="GT Inter Text 24 Medium" pitchFamily="34" charset="-120"/>
                </a:rPr>
                <a:t>Connect the repository</a:t>
              </a:r>
              <a:endParaRPr lang="en-US" sz="1440" dirty="0"/>
            </a:p>
          </p:txBody>
        </p:sp>
      </p:grpSp>
      <p:grpSp>
        <p:nvGrpSpPr>
          <p:cNvPr id="16" name="list/item/1"/>
          <p:cNvGrpSpPr/>
          <p:nvPr/>
        </p:nvGrpSpPr>
        <p:grpSpPr>
          <a:xfrm>
            <a:off x="5574030" y="3272793"/>
            <a:ext cx="5592318" cy="379473"/>
            <a:chOff x="5574030" y="3272793"/>
            <a:chExt cx="5592318" cy="379473"/>
          </a:xfrm>
        </p:grpSpPr>
        <p:sp>
          <p:nvSpPr>
            <p:cNvPr id="4" name="ts:numbered#rule/2@list/item/1"/>
            <p:cNvSpPr/>
            <p:nvPr/>
          </p:nvSpPr>
          <p:spPr>
            <a:xfrm>
              <a:off x="5574030" y="3652266"/>
              <a:ext cx="5574030" cy="0"/>
            </a:xfrm>
            <a:prstGeom prst="line">
              <a:avLst/>
            </a:prstGeom>
            <a:noFill/>
            <a:ln w="7620">
              <a:solidFill>
                <a:srgbClr val="1F1F1E"/>
              </a:solidFill>
              <a:prstDash val="solid"/>
            </a:ln>
          </p:spPr>
        </p:sp>
        <p:sp>
          <p:nvSpPr>
            <p:cNvPr id="10" name="ts:numbered#list/items/1/num@list/item/1"/>
            <p:cNvSpPr txBox="1"/>
            <p:nvPr/>
          </p:nvSpPr>
          <p:spPr>
            <a:xfrm>
              <a:off x="5574030" y="3272793"/>
              <a:ext cx="29260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016"/>
                </a:lnSpc>
                <a:buNone/>
              </a:pPr>
              <a:r>
                <a:rPr lang="en-US" sz="1440" spc="-14" dirty="0">
                  <a:solidFill>
                    <a:srgbClr val="F2F2F0"/>
                  </a:solidFill>
                  <a:latin typeface="GT Inter Text 24 Medium" pitchFamily="34" charset="0"/>
                  <a:ea typeface="GT Inter Text 24 Medium" pitchFamily="34" charset="-122"/>
                  <a:cs typeface="GT Inter Text 24 Medium" pitchFamily="34" charset="-120"/>
                </a:rPr>
                <a:t>2</a:t>
              </a:r>
              <a:endParaRPr lang="en-US" sz="1440" dirty="0"/>
            </a:p>
          </p:txBody>
        </p:sp>
        <p:sp>
          <p:nvSpPr>
            <p:cNvPr id="11" name="ts:numbered#list/items/1/text@list/item/1"/>
            <p:cNvSpPr txBox="1"/>
            <p:nvPr/>
          </p:nvSpPr>
          <p:spPr>
            <a:xfrm>
              <a:off x="5848350" y="3272793"/>
              <a:ext cx="531799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016"/>
                </a:lnSpc>
                <a:buNone/>
              </a:pPr>
              <a:r>
                <a:rPr lang="en-US" sz="1440" spc="-14" dirty="0">
                  <a:solidFill>
                    <a:srgbClr val="F2F2F0"/>
                  </a:solidFill>
                  <a:latin typeface="GT Inter Text 24 Medium" pitchFamily="34" charset="0"/>
                  <a:ea typeface="GT Inter Text 24 Medium" pitchFamily="34" charset="-122"/>
                  <a:cs typeface="GT Inter Text 24 Medium" pitchFamily="34" charset="-120"/>
                </a:rPr>
                <a:t>Pick the locales</a:t>
              </a:r>
              <a:endParaRPr lang="en-US" sz="1440" dirty="0"/>
            </a:p>
          </p:txBody>
        </p:sp>
      </p:grpSp>
      <p:grpSp>
        <p:nvGrpSpPr>
          <p:cNvPr id="17" name="list/item/2"/>
          <p:cNvGrpSpPr/>
          <p:nvPr/>
        </p:nvGrpSpPr>
        <p:grpSpPr>
          <a:xfrm>
            <a:off x="5574030" y="3719325"/>
            <a:ext cx="5592318" cy="379397"/>
            <a:chOff x="5574030" y="3719325"/>
            <a:chExt cx="5592318" cy="379397"/>
          </a:xfrm>
        </p:grpSpPr>
        <p:sp>
          <p:nvSpPr>
            <p:cNvPr id="5" name="ts:numbered#rule/3@list/item/2"/>
            <p:cNvSpPr/>
            <p:nvPr/>
          </p:nvSpPr>
          <p:spPr>
            <a:xfrm>
              <a:off x="5574030" y="4098722"/>
              <a:ext cx="5574030" cy="0"/>
            </a:xfrm>
            <a:prstGeom prst="line">
              <a:avLst/>
            </a:prstGeom>
            <a:noFill/>
            <a:ln w="7620">
              <a:solidFill>
                <a:srgbClr val="3B3B3A"/>
              </a:solidFill>
              <a:prstDash val="solid"/>
            </a:ln>
          </p:spPr>
        </p:sp>
        <p:sp>
          <p:nvSpPr>
            <p:cNvPr id="12" name="ts:numbered#list/items/2/num@list/item/2"/>
            <p:cNvSpPr txBox="1"/>
            <p:nvPr/>
          </p:nvSpPr>
          <p:spPr>
            <a:xfrm>
              <a:off x="5574030" y="3719325"/>
              <a:ext cx="29260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016"/>
                </a:lnSpc>
                <a:buNone/>
              </a:pPr>
              <a:r>
                <a:rPr lang="en-US" sz="1440" spc="-14" dirty="0">
                  <a:solidFill>
                    <a:srgbClr val="F2F2F0"/>
                  </a:solidFill>
                  <a:latin typeface="GT Inter Text 24 Medium" pitchFamily="34" charset="0"/>
                  <a:ea typeface="GT Inter Text 24 Medium" pitchFamily="34" charset="-122"/>
                  <a:cs typeface="GT Inter Text 24 Medium" pitchFamily="34" charset="-120"/>
                </a:rPr>
                <a:t>3</a:t>
              </a:r>
              <a:endParaRPr lang="en-US" sz="1440" dirty="0"/>
            </a:p>
          </p:txBody>
        </p:sp>
        <p:sp>
          <p:nvSpPr>
            <p:cNvPr id="13" name="ts:numbered#list/items/2/text@list/item/2"/>
            <p:cNvSpPr txBox="1"/>
            <p:nvPr/>
          </p:nvSpPr>
          <p:spPr>
            <a:xfrm>
              <a:off x="5848350" y="3719325"/>
              <a:ext cx="531799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016"/>
                </a:lnSpc>
                <a:buNone/>
              </a:pPr>
              <a:r>
                <a:rPr lang="en-US" sz="1440" spc="-14" dirty="0">
                  <a:solidFill>
                    <a:srgbClr val="F2F2F0"/>
                  </a:solidFill>
                  <a:latin typeface="GT Inter Text 24 Medium" pitchFamily="34" charset="0"/>
                  <a:ea typeface="GT Inter Text 24 Medium" pitchFamily="34" charset="-122"/>
                  <a:cs typeface="GT Inter Text 24 Medium" pitchFamily="34" charset="-120"/>
                </a:rPr>
                <a:t>Ship the first release</a:t>
              </a:r>
              <a:endParaRPr lang="en-US" sz="1440" dirty="0"/>
            </a:p>
          </p:txBody>
        </p:sp>
      </p:grpSp>
      <p:sp>
        <p:nvSpPr>
          <p:cNvPr id="6" name="ts:numbered#h/text"/>
          <p:cNvSpPr txBox="1"/>
          <p:nvPr/>
        </p:nvSpPr>
        <p:spPr>
          <a:xfrm>
            <a:off x="1043940" y="2843034"/>
            <a:ext cx="3999738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F2F2F0"/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Rollout steps</a:t>
            </a:r>
            <a:endParaRPr lang="en-US" sz="2640" dirty="0"/>
          </a:p>
        </p:txBody>
      </p:sp>
      <p:sp>
        <p:nvSpPr>
          <p:cNvPr id="7" name="ts:numbered#p1/text"/>
          <p:cNvSpPr txBox="1"/>
          <p:nvPr/>
        </p:nvSpPr>
        <p:spPr>
          <a:xfrm>
            <a:off x="1043940" y="3476175"/>
            <a:ext cx="39997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/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A numbered list with a tabular numeral in the key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/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position.</a:t>
            </a:r>
            <a:endParaRPr lang="en-US" sz="1320" dirty="0"/>
          </a:p>
        </p:txBody>
      </p:sp>
      <p:sp>
        <p:nvSpPr>
          <p:cNvPr id="14" name="ts:numbered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/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04 / 06</a:t>
            </a:r>
            <a:endParaRPr lang="en-US" sz="7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Block li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s:links#title" hidden="1"/>
          <p:cNvSpPr txBox="1">
            <a:spLocks noGrp="1"/>
          </p:cNvSpPr>
          <p:nvPr>
            <p:ph type="title"/>
          </p:nvPr>
        </p:nvSpPr>
        <p:spPr>
          <a:xfrm>
            <a:off x="1043940" y="981456"/>
            <a:ext cx="6096000" cy="3688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F2F2F0">
                    <a:alpha val="0"/>
                  </a:srgbClr>
                </a:solidFill>
                <a:latin typeface="GT Inter Display"/>
              </a:rPr>
              <a:t>Block links</a:t>
            </a:r>
            <a:endParaRPr lang="en-US" sz="2640" dirty="0"/>
          </a:p>
        </p:txBody>
      </p:sp>
      <p:sp>
        <p:nvSpPr>
          <p:cNvPr id="2" name="ts:links#rect/0">
            <a:hlinkClick r:id="rId1" tooltip="" action="ppaction://hlinksldjump"/>
          </p:cNvPr>
          <p:cNvSpPr/>
          <p:nvPr/>
        </p:nvSpPr>
        <p:spPr>
          <a:xfrm>
            <a:off x="1043940" y="1836420"/>
            <a:ext cx="4267200" cy="1219200"/>
          </a:xfrm>
          <a:prstGeom prst="rect">
            <a:avLst/>
          </a:prstGeom>
          <a:ln w="7620">
            <a:solidFill>
              <a:srgbClr val="3B3B3A"/>
            </a:solidFill>
            <a:prstDash val="solid"/>
          </a:ln>
        </p:spPr>
      </p:sp>
      <p:sp>
        <p:nvSpPr>
          <p:cNvPr id="3" name="ts:links#rect/1">
            <a:hlinkClick r:id="rId2" tooltip=""/>
          </p:cNvPr>
          <p:cNvSpPr/>
          <p:nvPr/>
        </p:nvSpPr>
        <p:spPr>
          <a:xfrm>
            <a:off x="5798820" y="1836420"/>
            <a:ext cx="3048000" cy="1219200"/>
          </a:xfrm>
          <a:prstGeom prst="roundRect">
            <a:avLst>
              <a:gd name="adj" fmla="val 5000"/>
            </a:avLst>
          </a:prstGeom>
          <a:solidFill>
            <a:srgbClr val="131313"/>
          </a:solidFill>
          <a:ln w="7620">
            <a:solidFill>
              <a:srgbClr val="3B3B3A"/>
            </a:solidFill>
            <a:prstDash val="solid"/>
          </a:ln>
        </p:spPr>
      </p:sp>
      <p:sp>
        <p:nvSpPr>
          <p:cNvPr id="4" name="ts:links#h/text"/>
          <p:cNvSpPr txBox="1"/>
          <p:nvPr/>
        </p:nvSpPr>
        <p:spPr>
          <a:xfrm>
            <a:off x="1043940" y="985278"/>
            <a:ext cx="6114288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F2F2F0"/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Block links</a:t>
            </a:r>
            <a:endParaRPr lang="en-US" sz="2640" dirty="0"/>
          </a:p>
        </p:txBody>
      </p:sp>
      <p:sp>
        <p:nvSpPr>
          <p:cNvPr id="5" name="ts:links#box/text">
            <a:hlinkClick r:id="rIdundefined" tooltip="" action="ppaction://hlinksldjump"/>
          </p:cNvPr>
          <p:cNvSpPr txBox="1"/>
          <p:nvPr/>
        </p:nvSpPr>
        <p:spPr>
          <a:xfrm>
            <a:off x="1173480" y="1927868"/>
            <a:ext cx="4026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u="sng" dirty="0">
                <a:solidFill>
                  <a:srgbClr val="F2F2F0"/>
                </a:solidFill>
                <a:uFill>
                  <a:solidFill>
                    <a:srgbClr val="F2F2F0"/>
                  </a:solidFill>
                </a:uFill>
                <a:latin typeface="GT Inter Text 22" pitchFamily="34" charset="0"/>
                <a:ea typeface="GT Inter Text 22" pitchFamily="34" charset="-122"/>
                <a:cs typeface="GT Inter Text 22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 box linked to the first slide.</a:t>
            </a:r>
            <a:endParaRPr lang="en-US" sz="1320" dirty="0"/>
          </a:p>
          <a:p>
            <a:pPr algn="l" indent="0" marL="0">
              <a:lnSpc>
                <a:spcPts val="1980"/>
              </a:lnSpc>
              <a:buNone/>
            </a:pPr>
            <a:r>
              <a:rPr lang="en-US" sz="1320" u="sng" dirty="0">
                <a:solidFill>
                  <a:srgbClr val="F2F2F0"/>
                </a:solidFill>
                <a:uFill>
                  <a:solidFill>
                    <a:srgbClr val="F2F2F0"/>
                  </a:solidFill>
                </a:uFill>
                <a:latin typeface="GT Inter Text 22" pitchFamily="34" charset="0"/>
                <a:ea typeface="GT Inter Text 22" pitchFamily="34" charset="-122"/>
                <a:cs typeface="GT Inter Text 22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Two paragraphs inside the box.</a:t>
            </a:r>
            <a:endParaRPr lang="en-US" sz="1320" dirty="0"/>
          </a:p>
        </p:txBody>
      </p:sp>
      <p:sp>
        <p:nvSpPr>
          <p:cNvPr id="6" name="ts:links#t1/text">
            <a:hlinkClick r:id="rIdundefined" tooltip="" action="ppaction://hlinksldjump"/>
          </p:cNvPr>
          <p:cNvSpPr txBox="1"/>
          <p:nvPr/>
        </p:nvSpPr>
        <p:spPr>
          <a:xfrm>
            <a:off x="1043940" y="3383288"/>
            <a:ext cx="428548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u="sng" dirty="0">
                <a:solidFill>
                  <a:srgbClr val="F2F2F0"/>
                </a:solidFill>
                <a:uFill>
                  <a:solidFill>
                    <a:srgbClr val="F2F2F0"/>
                  </a:solidFill>
                </a:uFill>
                <a:latin typeface="GT Inter Text 22" pitchFamily="34" charset="0"/>
                <a:ea typeface="GT Inter Text 22" pitchFamily="34" charset="-122"/>
                <a:cs typeface="GT Inter Text 22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 text box linked to the table slide.</a:t>
            </a:r>
            <a:endParaRPr lang="en-US" sz="1320" dirty="0"/>
          </a:p>
        </p:txBody>
      </p:sp>
      <p:sp>
        <p:nvSpPr>
          <p:cNvPr id="7" name="ts:links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/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05 / 06</a:t>
            </a:r>
            <a:endParaRPr lang="en-US" sz="780" dirty="0"/>
          </a:p>
        </p:txBody>
      </p:sp>
      <p:pic>
        <p:nvPicPr>
          <p:cNvPr id="8" name="ts:links#shape:1" descr="shape (dia)">
            <a:hlinkClick r:id="rId7" tooltip="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98820" y="1836420"/>
            <a:ext cx="3048000" cy="1219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s:prompt#title" hidden="1"/>
          <p:cNvSpPr txBox="1">
            <a:spLocks noGrp="1"/>
          </p:cNvSpPr>
          <p:nvPr>
            <p:ph type="title"/>
          </p:nvPr>
        </p:nvSpPr>
        <p:spPr>
          <a:xfrm>
            <a:off x="1043940" y="1043940"/>
            <a:ext cx="10104120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F2F2F0">
                    <a:alpha val="0"/>
                  </a:srgbClr>
                </a:solidFill>
                <a:latin typeface="GT Inter Display"/>
              </a:rPr>
              <a:t>Slide 6</a:t>
            </a:r>
            <a:endParaRPr lang="en-US" sz="2640" dirty="0"/>
          </a:p>
        </p:txBody>
      </p:sp>
      <p:sp>
        <p:nvSpPr>
          <p:cNvPr id="2" name="ts:prompt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/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06 / 06</a:t>
            </a:r>
            <a:endParaRPr lang="en-US" sz="7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Export fixture</vt:lpstr>
      <vt:lpstr>Paragraph breaks and slide links</vt:lpstr>
      <vt:lpstr>Pricing table</vt:lpstr>
      <vt:lpstr>Rollout steps</vt:lpstr>
      <vt:lpstr>Block links</vt:lpstr>
      <vt:lpstr>Slide 6</vt:lpstr>
    </vt:vector>
  </TitlesOfParts>
  <Company>General Translation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Export fixture (dark)</dc:title>
  <dc:subject>Turboslide export, revision 1, native mode</dc:subject>
  <dc:creator>Turboslide</dc:creator>
  <cp:lastModifiedBy>Turboslide</cp:lastModifiedBy>
  <cp:revision>1</cp:revision>
  <dcterms:created xsi:type="dcterms:W3CDTF">2026-09-12T16:16:12Z</dcterms:created>
  <dcterms:modified xsi:type="dcterms:W3CDTF">2026-09-12T16:16:12Z</dcterms:modified>
</cp:coreProperties>
</file>