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e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</p:sldIdLst>
  <p:notesMasterIdLst>
    <p:notesMasterId r:id="rId8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notesMaster" Target="notesMasters/notesMaster1.xml"/><Relationship Id="rId88" Type="http://schemas.openxmlformats.org/officeDocument/2006/relationships/presProps" Target="presProps.xml"/><Relationship Id="rId89" Type="http://schemas.openxmlformats.org/officeDocument/2006/relationships/viewProps" Target="viewProps.xml"/><Relationship Id="rId90" Type="http://schemas.openxmlformats.org/officeDocument/2006/relationships/theme" Target="theme/theme1.xml"/><Relationship Id="rId9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APER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s:master#frame/0"/>
          <p:cNvSpPr/>
          <p:nvPr/>
        </p:nvSpPr>
        <p:spPr>
          <a:xfrm>
            <a:off x="43053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3" name="ts:master#frame/1"/>
          <p:cNvSpPr/>
          <p:nvPr/>
        </p:nvSpPr>
        <p:spPr>
          <a:xfrm>
            <a:off x="11761470" y="0"/>
            <a:ext cx="0" cy="685800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4" name="ts:master#frame/2"/>
          <p:cNvSpPr/>
          <p:nvPr/>
        </p:nvSpPr>
        <p:spPr>
          <a:xfrm>
            <a:off x="0" y="43053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5" name="ts:master#frame/3"/>
          <p:cNvSpPr/>
          <p:nvPr/>
        </p:nvSpPr>
        <p:spPr>
          <a:xfrm>
            <a:off x="0" y="6427470"/>
            <a:ext cx="12192000" cy="0"/>
          </a:xfrm>
          <a:prstGeom prst="line">
            <a:avLst/>
          </a:prstGeom>
          <a:noFill/>
          <a:ln w="7620">
            <a:solidFill>
              <a:srgbClr val="3B3B3A"/>
            </a:solidFill>
            <a:prstDash val="solid"/>
          </a:ln>
        </p:spPr>
      </p:sp>
      <p:sp>
        <p:nvSpPr>
          <p:cNvPr id="6" name="ts:master#cross/0/v"/>
          <p:cNvSpPr/>
          <p:nvPr/>
        </p:nvSpPr>
        <p:spPr>
          <a:xfrm>
            <a:off x="43053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7" name="ts:master#cross/0/h"/>
          <p:cNvSpPr/>
          <p:nvPr/>
        </p:nvSpPr>
        <p:spPr>
          <a:xfrm>
            <a:off x="38862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8" name="ts:master#cross/1/v"/>
          <p:cNvSpPr/>
          <p:nvPr/>
        </p:nvSpPr>
        <p:spPr>
          <a:xfrm>
            <a:off x="11761470" y="38862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9" name="ts:master#cross/1/h"/>
          <p:cNvSpPr/>
          <p:nvPr/>
        </p:nvSpPr>
        <p:spPr>
          <a:xfrm>
            <a:off x="11719560" y="43053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0" name="ts:master#cross/2/v"/>
          <p:cNvSpPr/>
          <p:nvPr/>
        </p:nvSpPr>
        <p:spPr>
          <a:xfrm>
            <a:off x="43053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1" name="ts:master#cross/2/h"/>
          <p:cNvSpPr/>
          <p:nvPr/>
        </p:nvSpPr>
        <p:spPr>
          <a:xfrm>
            <a:off x="38862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2" name="ts:master#cross/3/v"/>
          <p:cNvSpPr/>
          <p:nvPr/>
        </p:nvSpPr>
        <p:spPr>
          <a:xfrm>
            <a:off x="11761470" y="6385560"/>
            <a:ext cx="0" cy="8382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sp>
        <p:nvSpPr>
          <p:cNvPr id="13" name="ts:master#cross/3/h"/>
          <p:cNvSpPr/>
          <p:nvPr/>
        </p:nvSpPr>
        <p:spPr>
          <a:xfrm>
            <a:off x="11719560" y="6427470"/>
            <a:ext cx="83820" cy="0"/>
          </a:xfrm>
          <a:prstGeom prst="line">
            <a:avLst/>
          </a:prstGeom>
          <a:noFill/>
          <a:ln w="7620">
            <a:solidFill>
              <a:srgbClr val="5B5B5B"/>
            </a:solidFill>
            <a:prstDash val="solid"/>
          </a:ln>
        </p:spPr>
      </p:sp>
      <p:pic>
        <p:nvPicPr>
          <p:cNvPr id="14" name="ts:master#wordmark" descr="GT wordmar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6583680"/>
            <a:ext cx="213360" cy="13716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CK_PICTURE_D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0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cme Q4 pitch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title#title" hidden="1"/>
          <p:cNvSpPr txBox="1">
            <a:spLocks noGrp="1"/>
          </p:cNvSpPr>
          <p:nvPr>
            <p:ph type="title"/>
          </p:nvPr>
        </p:nvSpPr>
        <p:spPr>
          <a:xfrm>
            <a:off x="1043940" y="3340532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Acme Q4 pitch</a:t>
            </a:r>
            <a:endParaRPr lang="en-US" sz="5280" dirty="0"/>
          </a:p>
        </p:txBody>
      </p:sp>
      <p:sp>
        <p:nvSpPr>
          <p:cNvPr id="2" name="ts:title#heading/text"/>
          <p:cNvSpPr txBox="1"/>
          <p:nvPr/>
        </p:nvSpPr>
        <p:spPr>
          <a:xfrm>
            <a:off x="1043940" y="3371042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Acme Q4 pitch</a:t>
            </a:r>
            <a:endParaRPr lang="en-US" sz="5280" dirty="0"/>
          </a:p>
        </p:txBody>
      </p:sp>
      <p:sp>
        <p:nvSpPr>
          <p:cNvPr id="3" name="ts:title#lead/text"/>
          <p:cNvSpPr txBox="1"/>
          <p:nvPr/>
        </p:nvSpPr>
        <p:spPr>
          <a:xfrm>
            <a:off x="1043940" y="4196115"/>
            <a:ext cx="6887261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Localization for every product surface.</a:t>
            </a:r>
            <a:endParaRPr lang="en-US" sz="1560" dirty="0"/>
          </a:p>
        </p:txBody>
      </p:sp>
      <p:sp>
        <p:nvSpPr>
          <p:cNvPr id="4" name="ts:tit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01 / 85</a:t>
            </a:r>
            <a:endParaRPr lang="en-US" sz="780" dirty="0"/>
          </a:p>
        </p:txBody>
      </p:sp>
      <p:pic>
        <p:nvPicPr>
          <p:cNvPr id="5" name="ts:title#sheet" descr="Acme Q4 pitch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rand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opener-brand#title" hidden="1"/>
          <p:cNvSpPr txBox="1">
            <a:spLocks noGrp="1"/>
          </p:cNvSpPr>
          <p:nvPr>
            <p:ph type="title"/>
          </p:nvPr>
        </p:nvSpPr>
        <p:spPr>
          <a:xfrm>
            <a:off x="1242060" y="4269334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Brand</a:t>
            </a:r>
            <a:endParaRPr lang="en-US" sz="4320" dirty="0"/>
          </a:p>
        </p:txBody>
      </p:sp>
      <p:grpSp>
        <p:nvGrpSpPr>
          <p:cNvPr id="7" name="g:plate"/>
          <p:cNvGrpSpPr/>
          <p:nvPr/>
        </p:nvGrpSpPr>
        <p:grpSpPr>
          <a:xfrm>
            <a:off x="1242060" y="4297314"/>
            <a:ext cx="5260848" cy="1407250"/>
            <a:chOff x="1242060" y="4297314"/>
            <a:chExt cx="5260848" cy="1407250"/>
          </a:xfrm>
        </p:grpSpPr>
        <p:sp>
          <p:nvSpPr>
            <p:cNvPr id="2" name="ts:opener-brand#h/text@g:plate"/>
            <p:cNvSpPr txBox="1"/>
            <p:nvPr/>
          </p:nvSpPr>
          <p:spPr>
            <a:xfrm>
              <a:off x="1242060" y="4297314"/>
              <a:ext cx="5260848" cy="58155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4579"/>
                </a:lnSpc>
                <a:buNone/>
              </a:pPr>
              <a:r>
                <a:rPr lang="en-US" sz="4320" spc="-108" dirty="0">
                  <a:solidFill>
                    <a:srgbClr val="F2F2F0">
                      <a:alpha val="0"/>
                    </a:srgbClr>
                  </a:solidFill>
                  <a:latin typeface="GT Inter Display" pitchFamily="34" charset="0"/>
                  <a:ea typeface="GT Inter Display" pitchFamily="34" charset="-122"/>
                  <a:cs typeface="GT Inter Display" pitchFamily="34" charset="-120"/>
                </a:rPr>
                <a:t>Brand</a:t>
              </a:r>
              <a:endParaRPr lang="en-US" sz="4320" dirty="0"/>
            </a:p>
          </p:txBody>
        </p:sp>
        <p:sp>
          <p:nvSpPr>
            <p:cNvPr id="3" name="ts:opener-brand#p1/text@g:plate"/>
            <p:cNvSpPr txBox="1"/>
            <p:nvPr/>
          </p:nvSpPr>
          <p:spPr>
            <a:xfrm>
              <a:off x="1242060" y="4924433"/>
              <a:ext cx="5260848" cy="50292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F2F2F0">
                      <a:alpha val="0"/>
                    </a:srgbClr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This section covers the company, its values, its voice, the name, and</a:t>
              </a:r>
              <a:br/>
              <a:pPr algn="l" indent="0" marL="0">
                <a:lnSpc>
                  <a:spcPts val="1980"/>
                </a:lnSpc>
                <a:buNone/>
              </a:pPr>
              <a:r>
                <a:rPr lang="en-US" sz="1320" dirty="0">
                  <a:solidFill>
                    <a:srgbClr val="F2F2F0">
                      <a:alpha val="0"/>
                    </a:srgbClr>
                  </a:solidFill>
                  <a:latin typeface="GT Inter Text 22" pitchFamily="34" charset="0"/>
                  <a:ea typeface="GT Inter Text 22" pitchFamily="34" charset="-122"/>
                  <a:cs typeface="GT Inter Text 22" pitchFamily="34" charset="-120"/>
                </a:rPr>
                <a:t>the mark.</a:t>
              </a:r>
              <a:endParaRPr lang="en-US" sz="1320" dirty="0"/>
            </a:p>
          </p:txBody>
        </p:sp>
        <p:sp>
          <p:nvSpPr>
            <p:cNvPr id="4" name="ts:opener-brand#credit/text@g:plate"/>
            <p:cNvSpPr txBox="1"/>
            <p:nvPr/>
          </p:nvSpPr>
          <p:spPr>
            <a:xfrm>
              <a:off x="1242060" y="5538829"/>
              <a:ext cx="5260848" cy="165735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5"/>
                </a:lnSpc>
                <a:buNone/>
              </a:pPr>
              <a:r>
                <a:rPr lang="en-US" sz="900" spc="9" dirty="0">
                  <a:solidFill>
                    <a:srgbClr val="8A8F98">
                      <a:alpha val="0"/>
                    </a:srgbClr>
                  </a:solidFill>
                  <a:latin typeface="GT Inter Text 15" pitchFamily="34" charset="0"/>
                  <a:ea typeface="GT Inter Text 15" pitchFamily="34" charset="-122"/>
                  <a:cs typeface="GT Inter Text 15" pitchFamily="34" charset="-120"/>
                </a:rPr>
                <a:t>Material: Event Horizon, a Prototemplate direction</a:t>
              </a:r>
              <a:endParaRPr lang="en-US" sz="900" dirty="0"/>
            </a:p>
          </p:txBody>
        </p:sp>
      </p:grpSp>
      <p:sp>
        <p:nvSpPr>
          <p:cNvPr id="5" name="ts:opener-bran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02 / 85</a:t>
            </a:r>
            <a:endParaRPr lang="en-US" sz="780" dirty="0"/>
          </a:p>
        </p:txBody>
      </p:sp>
      <p:pic>
        <p:nvPicPr>
          <p:cNvPr id="6" name="ts:opener-brand#sheet" descr="Brand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eneral Translation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title-2#title" hidden="1"/>
          <p:cNvSpPr txBox="1">
            <a:spLocks noGrp="1"/>
          </p:cNvSpPr>
          <p:nvPr>
            <p:ph type="title"/>
          </p:nvPr>
        </p:nvSpPr>
        <p:spPr>
          <a:xfrm>
            <a:off x="1043940" y="3197047"/>
            <a:ext cx="10104120" cy="68397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528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General Translation</a:t>
            </a:r>
            <a:endParaRPr lang="en-US" sz="5280" dirty="0"/>
          </a:p>
        </p:txBody>
      </p:sp>
      <p:sp>
        <p:nvSpPr>
          <p:cNvPr id="2" name="ts:title-2#heading/text"/>
          <p:cNvSpPr txBox="1"/>
          <p:nvPr/>
        </p:nvSpPr>
        <p:spPr>
          <a:xfrm>
            <a:off x="1043940" y="3227558"/>
            <a:ext cx="10122408" cy="6839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386"/>
              </a:lnSpc>
              <a:buNone/>
            </a:pPr>
            <a:r>
              <a:rPr lang="en-US" sz="5280" spc="-132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General Translation</a:t>
            </a:r>
            <a:endParaRPr lang="en-US" sz="5280" dirty="0"/>
          </a:p>
        </p:txBody>
      </p:sp>
      <p:sp>
        <p:nvSpPr>
          <p:cNvPr id="3" name="ts:title-2#lead/text"/>
          <p:cNvSpPr txBox="1"/>
          <p:nvPr/>
        </p:nvSpPr>
        <p:spPr>
          <a:xfrm>
            <a:off x="1043940" y="4052630"/>
            <a:ext cx="6887489" cy="574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This deck covers the brand, the design system, the current state of the site,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B9BCC3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and the plans for the next quarter. It was prepared in September 2026.</a:t>
            </a:r>
            <a:endParaRPr lang="en-US" sz="1560" dirty="0"/>
          </a:p>
        </p:txBody>
      </p:sp>
      <p:sp>
        <p:nvSpPr>
          <p:cNvPr id="4" name="ts:title-2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03 / 85</a:t>
            </a:r>
            <a:endParaRPr lang="en-US" sz="780" dirty="0"/>
          </a:p>
        </p:txBody>
      </p:sp>
      <p:pic>
        <p:nvPicPr>
          <p:cNvPr id="5" name="ts:title-2#sheet" descr="General Translation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Reputation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reputation#title" hidden="1"/>
          <p:cNvSpPr txBox="1">
            <a:spLocks noGrp="1"/>
          </p:cNvSpPr>
          <p:nvPr>
            <p:ph type="title"/>
          </p:nvPr>
        </p:nvSpPr>
        <p:spPr>
          <a:xfrm>
            <a:off x="1043940" y="2372716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Reputation</a:t>
            </a:r>
            <a:endParaRPr lang="en-US" sz="2640" dirty="0"/>
          </a:p>
        </p:txBody>
      </p:sp>
      <p:sp>
        <p:nvSpPr>
          <p:cNvPr id="2" name="ts:reputation#h/text"/>
          <p:cNvSpPr txBox="1"/>
          <p:nvPr/>
        </p:nvSpPr>
        <p:spPr>
          <a:xfrm>
            <a:off x="1043940" y="2376538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Reputation</a:t>
            </a:r>
            <a:endParaRPr lang="en-US" sz="2640" dirty="0"/>
          </a:p>
        </p:txBody>
      </p:sp>
      <p:sp>
        <p:nvSpPr>
          <p:cNvPr id="3" name="ts:reputation#p1/text"/>
          <p:cNvSpPr txBox="1"/>
          <p:nvPr/>
        </p:nvSpPr>
        <p:spPr>
          <a:xfrm>
            <a:off x="1043940" y="3014634"/>
            <a:ext cx="4796028" cy="14359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Machine translation has a reputation for low quality.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spc="-128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GT</a:t>
            </a:r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 needs to be seen as high quality. The product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delivers native-level translation quality at high speed,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and the brand has to communicate that on every</a:t>
            </a:r>
            <a:br/>
            <a:pPr algn="l" indent="0" marL="0">
              <a:lnSpc>
                <a:spcPts val="2262"/>
              </a:lnSpc>
              <a:buNone/>
            </a:pPr>
            <a:r>
              <a:rPr lang="en-US" sz="156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surface, at every size, and in every script.</a:t>
            </a:r>
            <a:endParaRPr lang="en-US" sz="1560" dirty="0"/>
          </a:p>
        </p:txBody>
      </p:sp>
      <p:sp>
        <p:nvSpPr>
          <p:cNvPr id="4" name="ts:reputation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04 / 85</a:t>
            </a:r>
            <a:endParaRPr lang="en-US" sz="780" dirty="0"/>
          </a:p>
        </p:txBody>
      </p:sp>
      <p:pic>
        <p:nvPicPr>
          <p:cNvPr id="5" name="ts:reputation#sheet" descr="Reputation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hy the redesign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s:why#title" hidden="1"/>
          <p:cNvSpPr txBox="1">
            <a:spLocks noGrp="1"/>
          </p:cNvSpPr>
          <p:nvPr>
            <p:ph type="title"/>
          </p:nvPr>
        </p:nvSpPr>
        <p:spPr>
          <a:xfrm>
            <a:off x="1043940" y="271348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Why the redesign</a:t>
            </a:r>
            <a:endParaRPr lang="en-US" sz="2640" dirty="0"/>
          </a:p>
        </p:txBody>
      </p:sp>
      <p:sp>
        <p:nvSpPr>
          <p:cNvPr id="2" name="ts:why#h/text"/>
          <p:cNvSpPr txBox="1"/>
          <p:nvPr/>
        </p:nvSpPr>
        <p:spPr>
          <a:xfrm>
            <a:off x="1043940" y="271730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Why the redesign</a:t>
            </a:r>
            <a:endParaRPr lang="en-US" sz="2640" dirty="0"/>
          </a:p>
        </p:txBody>
      </p:sp>
      <p:sp>
        <p:nvSpPr>
          <p:cNvPr id="3" name="ts:why#p1/text"/>
          <p:cNvSpPr txBox="1"/>
          <p:nvPr/>
        </p:nvSpPr>
        <p:spPr>
          <a:xfrm>
            <a:off x="1043940" y="3350445"/>
            <a:ext cx="32034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Three reasons drove the redesign of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site. Each row states one reason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requirement that followed from it.</a:t>
            </a:r>
            <a:endParaRPr lang="en-US" sz="1320" dirty="0"/>
          </a:p>
        </p:txBody>
      </p:sp>
      <p:grpSp>
        <p:nvGrpSpPr>
          <p:cNvPr id="12" name="rows/row/0"/>
          <p:cNvGrpSpPr/>
          <p:nvPr/>
        </p:nvGrpSpPr>
        <p:grpSpPr>
          <a:xfrm>
            <a:off x="5006340" y="2595936"/>
            <a:ext cx="6160008" cy="441960"/>
            <a:chOff x="5006340" y="2595936"/>
            <a:chExt cx="6160008" cy="441960"/>
          </a:xfrm>
        </p:grpSpPr>
        <p:sp>
          <p:nvSpPr>
            <p:cNvPr id="4" name="ts:why#rows/items/0/key@rows/row/0"/>
            <p:cNvSpPr txBox="1"/>
            <p:nvPr/>
          </p:nvSpPr>
          <p:spPr>
            <a:xfrm>
              <a:off x="5006340" y="259593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Launch readiness</a:t>
              </a:r>
              <a:endParaRPr lang="en-US" sz="1200" dirty="0"/>
            </a:p>
          </p:txBody>
        </p:sp>
        <p:sp>
          <p:nvSpPr>
            <p:cNvPr id="5" name="ts:why#rows/items/0/value@rows/row/0"/>
            <p:cNvSpPr txBox="1"/>
            <p:nvPr/>
          </p:nvSpPr>
          <p:spPr>
            <a:xfrm>
              <a:off x="6850380" y="2595936"/>
              <a:ext cx="43159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site is the first contact point for customers, candidates,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and partners. It needed to be ready before the next launch.</a:t>
              </a:r>
              <a:endParaRPr lang="en-US" sz="1200" dirty="0"/>
            </a:p>
          </p:txBody>
        </p:sp>
      </p:grpSp>
      <p:grpSp>
        <p:nvGrpSpPr>
          <p:cNvPr id="13" name="rows/row/1"/>
          <p:cNvGrpSpPr/>
          <p:nvPr/>
        </p:nvGrpSpPr>
        <p:grpSpPr>
          <a:xfrm>
            <a:off x="5006340" y="3289356"/>
            <a:ext cx="6160008" cy="441960"/>
            <a:chOff x="5006340" y="3289356"/>
            <a:chExt cx="6160008" cy="441960"/>
          </a:xfrm>
        </p:grpSpPr>
        <p:sp>
          <p:nvSpPr>
            <p:cNvPr id="6" name="ts:why#rows/items/1/key@rows/row/1"/>
            <p:cNvSpPr txBox="1"/>
            <p:nvPr/>
          </p:nvSpPr>
          <p:spPr>
            <a:xfrm>
              <a:off x="5006340" y="328935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Differentiation</a:t>
              </a:r>
              <a:endParaRPr lang="en-US" sz="1200" dirty="0"/>
            </a:p>
          </p:txBody>
        </p:sp>
        <p:sp>
          <p:nvSpPr>
            <p:cNvPr id="7" name="ts:why#rows/items/1/value@rows/row/1"/>
            <p:cNvSpPr txBox="1"/>
            <p:nvPr/>
          </p:nvSpPr>
          <p:spPr>
            <a:xfrm>
              <a:off x="6850380" y="3289356"/>
              <a:ext cx="43159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previous site looked like the default shadcn theme.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identity needs to be recognizably ours.</a:t>
              </a:r>
              <a:endParaRPr lang="en-US" sz="1200" dirty="0"/>
            </a:p>
          </p:txBody>
        </p:sp>
      </p:grpSp>
      <p:grpSp>
        <p:nvGrpSpPr>
          <p:cNvPr id="14" name="rows/row/2"/>
          <p:cNvGrpSpPr/>
          <p:nvPr/>
        </p:nvGrpSpPr>
        <p:grpSpPr>
          <a:xfrm>
            <a:off x="5006340" y="3982776"/>
            <a:ext cx="6160008" cy="220980"/>
            <a:chOff x="5006340" y="3982776"/>
            <a:chExt cx="6160008" cy="220980"/>
          </a:xfrm>
        </p:grpSpPr>
        <p:sp>
          <p:nvSpPr>
            <p:cNvPr id="8" name="ts:why#rows/items/2/key@rows/row/2"/>
            <p:cNvSpPr txBox="1"/>
            <p:nvPr/>
          </p:nvSpPr>
          <p:spPr>
            <a:xfrm>
              <a:off x="5006340" y="398277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Perceived quality</a:t>
              </a:r>
              <a:endParaRPr lang="en-US" sz="1200" dirty="0"/>
            </a:p>
          </p:txBody>
        </p:sp>
        <p:sp>
          <p:nvSpPr>
            <p:cNvPr id="9" name="ts:why#rows/items/2/value@rows/row/2"/>
            <p:cNvSpPr txBox="1"/>
            <p:nvPr/>
          </p:nvSpPr>
          <p:spPr>
            <a:xfrm>
              <a:off x="6850380" y="3982776"/>
              <a:ext cx="431596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Visitors should perceive quality before reading any copy.</a:t>
              </a:r>
              <a:endParaRPr lang="en-US" sz="1200" dirty="0"/>
            </a:p>
          </p:txBody>
        </p:sp>
      </p:grpSp>
      <p:sp>
        <p:nvSpPr>
          <p:cNvPr id="10" name="ts:why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05 / 85</a:t>
            </a:r>
            <a:endParaRPr lang="en-US" sz="780" dirty="0"/>
          </a:p>
        </p:txBody>
      </p:sp>
      <p:pic>
        <p:nvPicPr>
          <p:cNvPr id="11" name="ts:why#sheet" descr="Why the redesign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Blue Marbl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earth#title" hidden="1"/>
          <p:cNvSpPr txBox="1">
            <a:spLocks noGrp="1"/>
          </p:cNvSpPr>
          <p:nvPr>
            <p:ph type="title"/>
          </p:nvPr>
        </p:nvSpPr>
        <p:spPr>
          <a:xfrm>
            <a:off x="7078980" y="4251731"/>
            <a:ext cx="3870960" cy="3621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Blue Marble</a:t>
            </a:r>
            <a:endParaRPr lang="en-US" sz="2640" dirty="0"/>
          </a:p>
        </p:txBody>
      </p:sp>
      <p:sp>
        <p:nvSpPr>
          <p:cNvPr id="2" name="ts:mood-earth#h/text"/>
          <p:cNvSpPr txBox="1"/>
          <p:nvPr/>
        </p:nvSpPr>
        <p:spPr>
          <a:xfrm>
            <a:off x="7078980" y="4258906"/>
            <a:ext cx="38892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Blue Marble</a:t>
            </a:r>
            <a:endParaRPr lang="en-US" sz="2640" dirty="0"/>
          </a:p>
        </p:txBody>
      </p:sp>
      <p:sp>
        <p:nvSpPr>
          <p:cNvPr id="3" name="ts:mood-earth#p1/text"/>
          <p:cNvSpPr txBox="1"/>
          <p:nvPr/>
        </p:nvSpPr>
        <p:spPr>
          <a:xfrm>
            <a:off x="7078980" y="4672973"/>
            <a:ext cx="38892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NASA's composite of the whole planet.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company sells to every part of it, so the brand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section starts at that scale.</a:t>
            </a:r>
            <a:endParaRPr lang="en-US" sz="1320" dirty="0"/>
          </a:p>
        </p:txBody>
      </p:sp>
      <p:sp>
        <p:nvSpPr>
          <p:cNvPr id="4" name="ts:mood-earth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Image: NASA, Reto Stöckli, 2007, public domain</a:t>
            </a:r>
            <a:endParaRPr lang="en-US" sz="900" dirty="0"/>
          </a:p>
        </p:txBody>
      </p:sp>
      <p:sp>
        <p:nvSpPr>
          <p:cNvPr id="5" name="ts:mood-earth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06 / 85</a:t>
            </a:r>
            <a:endParaRPr lang="en-US" sz="780" dirty="0"/>
          </a:p>
        </p:txBody>
      </p:sp>
      <p:pic>
        <p:nvPicPr>
          <p:cNvPr id="6" name="ts:mood-earth#sheet" descr="The Blue Marbl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Open source and platform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positioning#title" hidden="1"/>
          <p:cNvSpPr txBox="1">
            <a:spLocks noGrp="1"/>
          </p:cNvSpPr>
          <p:nvPr>
            <p:ph type="title"/>
          </p:nvPr>
        </p:nvSpPr>
        <p:spPr>
          <a:xfrm>
            <a:off x="1043940" y="233629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Open source and platform</a:t>
            </a:r>
            <a:endParaRPr lang="en-US" sz="2640" dirty="0"/>
          </a:p>
        </p:txBody>
      </p:sp>
      <p:sp>
        <p:nvSpPr>
          <p:cNvPr id="2" name="ts:positioning#h/text"/>
          <p:cNvSpPr txBox="1"/>
          <p:nvPr/>
        </p:nvSpPr>
        <p:spPr>
          <a:xfrm>
            <a:off x="1043940" y="234011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Open source and platform</a:t>
            </a:r>
            <a:endParaRPr lang="en-US" sz="2640" dirty="0"/>
          </a:p>
        </p:txBody>
      </p:sp>
      <p:sp>
        <p:nvSpPr>
          <p:cNvPr id="3" name="ts:positioning#p1/text"/>
          <p:cNvSpPr txBox="1"/>
          <p:nvPr/>
        </p:nvSpPr>
        <p:spPr>
          <a:xfrm>
            <a:off x="1043940" y="2973255"/>
            <a:ext cx="39997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spc="-116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GT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 builds both the open-source libraries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closed platform. The positioning is the Vercel model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applied to localization. Because </a:t>
            </a:r>
            <a:pPr algn="l" indent="0" marL="0">
              <a:lnSpc>
                <a:spcPts val="1980"/>
              </a:lnSpc>
              <a:buNone/>
            </a:pPr>
            <a:r>
              <a:rPr lang="en-US" sz="1320" spc="-116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GT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 owns the whole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stack, it can deliver consistent translation quality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across a company's apps, docs, and websites, with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integration time measured in hours.</a:t>
            </a:r>
            <a:endParaRPr lang="en-US" sz="1320" dirty="0"/>
          </a:p>
        </p:txBody>
      </p:sp>
      <p:sp>
        <p:nvSpPr>
          <p:cNvPr id="4" name="ts:positionin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07 / 85</a:t>
            </a:r>
            <a:endParaRPr lang="en-US" sz="780" dirty="0"/>
          </a:p>
        </p:txBody>
      </p:sp>
      <p:pic>
        <p:nvPicPr>
          <p:cNvPr id="5" name="ts:positioning#sheet" descr="Open source and platform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udienc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s:audience#title" hidden="1"/>
          <p:cNvSpPr txBox="1">
            <a:spLocks noGrp="1"/>
          </p:cNvSpPr>
          <p:nvPr>
            <p:ph type="title"/>
          </p:nvPr>
        </p:nvSpPr>
        <p:spPr>
          <a:xfrm>
            <a:off x="1043940" y="205816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Audience</a:t>
            </a:r>
            <a:endParaRPr lang="en-US" sz="2640" dirty="0"/>
          </a:p>
        </p:txBody>
      </p:sp>
      <p:sp>
        <p:nvSpPr>
          <p:cNvPr id="2" name="ts:audience#h/text"/>
          <p:cNvSpPr txBox="1"/>
          <p:nvPr/>
        </p:nvSpPr>
        <p:spPr>
          <a:xfrm>
            <a:off x="1043940" y="206198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Audience</a:t>
            </a:r>
            <a:endParaRPr lang="en-US" sz="2640" dirty="0"/>
          </a:p>
        </p:txBody>
      </p:sp>
      <p:sp>
        <p:nvSpPr>
          <p:cNvPr id="3" name="ts:audience#p1/text"/>
          <p:cNvSpPr txBox="1"/>
          <p:nvPr/>
        </p:nvSpPr>
        <p:spPr>
          <a:xfrm>
            <a:off x="1043940" y="2695125"/>
            <a:ext cx="32034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Engineers use </a:t>
            </a:r>
            <a:pPr algn="l" indent="0" marL="0">
              <a:lnSpc>
                <a:spcPts val="1980"/>
              </a:lnSpc>
              <a:buNone/>
            </a:pPr>
            <a:r>
              <a:rPr lang="en-US" sz="1320" spc="-116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GT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 and executives buy it.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Most users see </a:t>
            </a:r>
            <a:pPr algn="l" indent="0" marL="0">
              <a:lnSpc>
                <a:spcPts val="1980"/>
              </a:lnSpc>
              <a:buNone/>
            </a:pPr>
            <a:r>
              <a:rPr lang="en-US" sz="1320" spc="-116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GT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 in code before they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see the website.</a:t>
            </a:r>
            <a:endParaRPr lang="en-US" sz="1320" dirty="0"/>
          </a:p>
        </p:txBody>
      </p:sp>
      <p:grpSp>
        <p:nvGrpSpPr>
          <p:cNvPr id="14" name="rows/row/0"/>
          <p:cNvGrpSpPr/>
          <p:nvPr/>
        </p:nvGrpSpPr>
        <p:grpSpPr>
          <a:xfrm>
            <a:off x="5006340" y="2249226"/>
            <a:ext cx="6160008" cy="220980"/>
            <a:chOff x="5006340" y="2249226"/>
            <a:chExt cx="6160008" cy="220980"/>
          </a:xfrm>
        </p:grpSpPr>
        <p:sp>
          <p:nvSpPr>
            <p:cNvPr id="4" name="ts:audience#rows/items/0/key@rows/row/0"/>
            <p:cNvSpPr txBox="1"/>
            <p:nvPr/>
          </p:nvSpPr>
          <p:spPr>
            <a:xfrm>
              <a:off x="5006340" y="224922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Users</a:t>
              </a:r>
              <a:endParaRPr lang="en-US" sz="1200" dirty="0"/>
            </a:p>
          </p:txBody>
        </p:sp>
        <p:sp>
          <p:nvSpPr>
            <p:cNvPr id="5" name="ts:audience#rows/items/0/value@rows/row/0"/>
            <p:cNvSpPr txBox="1"/>
            <p:nvPr/>
          </p:nvSpPr>
          <p:spPr>
            <a:xfrm>
              <a:off x="6393180" y="2249226"/>
              <a:ext cx="477316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Users are engineering and growth teams at scaling startups.</a:t>
              </a:r>
              <a:endParaRPr lang="en-US" sz="1200" dirty="0"/>
            </a:p>
          </p:txBody>
        </p:sp>
      </p:grpSp>
      <p:grpSp>
        <p:nvGrpSpPr>
          <p:cNvPr id="15" name="rows/row/1"/>
          <p:cNvGrpSpPr/>
          <p:nvPr/>
        </p:nvGrpSpPr>
        <p:grpSpPr>
          <a:xfrm>
            <a:off x="5006340" y="2721666"/>
            <a:ext cx="6160008" cy="441960"/>
            <a:chOff x="5006340" y="2721666"/>
            <a:chExt cx="6160008" cy="441960"/>
          </a:xfrm>
        </p:grpSpPr>
        <p:sp>
          <p:nvSpPr>
            <p:cNvPr id="6" name="ts:audience#rows/items/1/key@rows/row/1"/>
            <p:cNvSpPr txBox="1"/>
            <p:nvPr/>
          </p:nvSpPr>
          <p:spPr>
            <a:xfrm>
              <a:off x="5006340" y="272166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Buyers</a:t>
              </a:r>
              <a:endParaRPr lang="en-US" sz="1200" dirty="0"/>
            </a:p>
          </p:txBody>
        </p:sp>
        <p:sp>
          <p:nvSpPr>
            <p:cNvPr id="7" name="ts:audience#rows/items/1/value@rows/row/1"/>
            <p:cNvSpPr txBox="1"/>
            <p:nvPr/>
          </p:nvSpPr>
          <p:spPr>
            <a:xfrm>
              <a:off x="6393180" y="2721666"/>
              <a:ext cx="47731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Buyers are technical and product executives who need consistency,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security, and a review process they can defend.</a:t>
              </a:r>
              <a:endParaRPr lang="en-US" sz="1200" dirty="0"/>
            </a:p>
          </p:txBody>
        </p:sp>
      </p:grpSp>
      <p:grpSp>
        <p:nvGrpSpPr>
          <p:cNvPr id="16" name="rows/row/2"/>
          <p:cNvGrpSpPr/>
          <p:nvPr/>
        </p:nvGrpSpPr>
        <p:grpSpPr>
          <a:xfrm>
            <a:off x="5006340" y="3415086"/>
            <a:ext cx="6160008" cy="441960"/>
            <a:chOff x="5006340" y="3415086"/>
            <a:chExt cx="6160008" cy="441960"/>
          </a:xfrm>
        </p:grpSpPr>
        <p:sp>
          <p:nvSpPr>
            <p:cNvPr id="8" name="ts:audience#rows/items/2/key@rows/row/2"/>
            <p:cNvSpPr txBox="1"/>
            <p:nvPr/>
          </p:nvSpPr>
          <p:spPr>
            <a:xfrm>
              <a:off x="5006340" y="341508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Customers</a:t>
              </a:r>
              <a:endParaRPr lang="en-US" sz="1200" dirty="0"/>
            </a:p>
          </p:txBody>
        </p:sp>
        <p:sp>
          <p:nvSpPr>
            <p:cNvPr id="9" name="ts:audience#rows/items/2/value@rows/row/2"/>
            <p:cNvSpPr txBox="1"/>
            <p:nvPr/>
          </p:nvSpPr>
          <p:spPr>
            <a:xfrm>
              <a:off x="6393180" y="3415086"/>
              <a:ext cx="47731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Auth0 translates its docs. Sierra translates marketing and sales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material. Ramp translates its core dashboard.</a:t>
              </a:r>
              <a:endParaRPr lang="en-US" sz="1200" dirty="0"/>
            </a:p>
          </p:txBody>
        </p:sp>
      </p:grpSp>
      <p:grpSp>
        <p:nvGrpSpPr>
          <p:cNvPr id="17" name="rows/row/3"/>
          <p:cNvGrpSpPr/>
          <p:nvPr/>
        </p:nvGrpSpPr>
        <p:grpSpPr>
          <a:xfrm>
            <a:off x="5006340" y="4108506"/>
            <a:ext cx="6160008" cy="441960"/>
            <a:chOff x="5006340" y="4108506"/>
            <a:chExt cx="6160008" cy="441960"/>
          </a:xfrm>
        </p:grpSpPr>
        <p:sp>
          <p:nvSpPr>
            <p:cNvPr id="10" name="ts:audience#rows/items/3/key@rows/row/3"/>
            <p:cNvSpPr txBox="1"/>
            <p:nvPr/>
          </p:nvSpPr>
          <p:spPr>
            <a:xfrm>
              <a:off x="5006340" y="410850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Competition</a:t>
              </a:r>
              <a:endParaRPr lang="en-US" sz="1200" dirty="0"/>
            </a:p>
          </p:txBody>
        </p:sp>
        <p:sp>
          <p:nvSpPr>
            <p:cNvPr id="11" name="ts:audience#rows/items/3/value@rows/row/3"/>
            <p:cNvSpPr txBox="1"/>
            <p:nvPr/>
          </p:nvSpPr>
          <p:spPr>
            <a:xfrm>
              <a:off x="6393180" y="4108506"/>
              <a:ext cx="47731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Legacy translation management systems bill per seat and cover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only part of the stack.</a:t>
              </a:r>
              <a:endParaRPr lang="en-US" sz="1200" dirty="0"/>
            </a:p>
          </p:txBody>
        </p:sp>
      </p:grpSp>
      <p:sp>
        <p:nvSpPr>
          <p:cNvPr id="12" name="ts:audienc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08 / 85</a:t>
            </a:r>
            <a:endParaRPr lang="en-US" sz="780" dirty="0"/>
          </a:p>
        </p:txBody>
      </p:sp>
      <p:pic>
        <p:nvPicPr>
          <p:cNvPr id="13" name="ts:audience#sheet" descr="Audienc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alu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s:values#title" hidden="1"/>
          <p:cNvSpPr txBox="1">
            <a:spLocks noGrp="1"/>
          </p:cNvSpPr>
          <p:nvPr>
            <p:ph type="title"/>
          </p:nvPr>
        </p:nvSpPr>
        <p:spPr>
          <a:xfrm>
            <a:off x="1043940" y="2839212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Values</a:t>
            </a:r>
            <a:endParaRPr lang="en-US" sz="2640" dirty="0"/>
          </a:p>
        </p:txBody>
      </p:sp>
      <p:sp>
        <p:nvSpPr>
          <p:cNvPr id="2" name="ts:values#h/text"/>
          <p:cNvSpPr txBox="1"/>
          <p:nvPr/>
        </p:nvSpPr>
        <p:spPr>
          <a:xfrm>
            <a:off x="1043940" y="2843034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Values</a:t>
            </a:r>
            <a:endParaRPr lang="en-US" sz="2640" dirty="0"/>
          </a:p>
        </p:txBody>
      </p:sp>
      <p:sp>
        <p:nvSpPr>
          <p:cNvPr id="3" name="ts:values#p1/text"/>
          <p:cNvSpPr txBox="1"/>
          <p:nvPr/>
        </p:nvSpPr>
        <p:spPr>
          <a:xfrm>
            <a:off x="1043940" y="3476175"/>
            <a:ext cx="47960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rest of this deck applies these five values to type, color,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lines, and surfaces.</a:t>
            </a:r>
            <a:endParaRPr lang="en-US" sz="1320" dirty="0"/>
          </a:p>
        </p:txBody>
      </p:sp>
      <p:grpSp>
        <p:nvGrpSpPr>
          <p:cNvPr id="16" name="rows/row/0"/>
          <p:cNvGrpSpPr/>
          <p:nvPr/>
        </p:nvGrpSpPr>
        <p:grpSpPr>
          <a:xfrm>
            <a:off x="6598920" y="1792026"/>
            <a:ext cx="4567428" cy="441960"/>
            <a:chOff x="6598920" y="1792026"/>
            <a:chExt cx="4567428" cy="441960"/>
          </a:xfrm>
        </p:grpSpPr>
        <p:sp>
          <p:nvSpPr>
            <p:cNvPr id="4" name="ts:values#rows/items/0/key@rows/row/0"/>
            <p:cNvSpPr txBox="1"/>
            <p:nvPr/>
          </p:nvSpPr>
          <p:spPr>
            <a:xfrm>
              <a:off x="6598920" y="179202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Engineering-first</a:t>
              </a:r>
              <a:endParaRPr lang="en-US" sz="1200" dirty="0"/>
            </a:p>
          </p:txBody>
        </p:sp>
        <p:sp>
          <p:nvSpPr>
            <p:cNvPr id="5" name="ts:values#rows/items/0/value@rows/row/0"/>
            <p:cNvSpPr txBox="1"/>
            <p:nvPr/>
          </p:nvSpPr>
          <p:spPr>
            <a:xfrm>
              <a:off x="8442960" y="1792026"/>
              <a:ext cx="27233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product is built by engineers for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engineering teams.</a:t>
              </a:r>
              <a:endParaRPr lang="en-US" sz="1200" dirty="0"/>
            </a:p>
          </p:txBody>
        </p:sp>
      </p:grpSp>
      <p:grpSp>
        <p:nvGrpSpPr>
          <p:cNvPr id="17" name="rows/row/1"/>
          <p:cNvGrpSpPr/>
          <p:nvPr/>
        </p:nvGrpSpPr>
        <p:grpSpPr>
          <a:xfrm>
            <a:off x="6598920" y="2485446"/>
            <a:ext cx="4567428" cy="441960"/>
            <a:chOff x="6598920" y="2485446"/>
            <a:chExt cx="4567428" cy="441960"/>
          </a:xfrm>
        </p:grpSpPr>
        <p:sp>
          <p:nvSpPr>
            <p:cNvPr id="6" name="ts:values#rows/items/1/key@rows/row/1"/>
            <p:cNvSpPr txBox="1"/>
            <p:nvPr/>
          </p:nvSpPr>
          <p:spPr>
            <a:xfrm>
              <a:off x="6598920" y="248544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Craft</a:t>
              </a:r>
              <a:endParaRPr lang="en-US" sz="1200" dirty="0"/>
            </a:p>
          </p:txBody>
        </p:sp>
        <p:sp>
          <p:nvSpPr>
            <p:cNvPr id="7" name="ts:values#rows/items/1/value@rows/row/1"/>
            <p:cNvSpPr txBox="1"/>
            <p:nvPr/>
          </p:nvSpPr>
          <p:spPr>
            <a:xfrm>
              <a:off x="8442960" y="2485446"/>
              <a:ext cx="27233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Attention to detail extends to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individual hairlines.</a:t>
              </a:r>
              <a:endParaRPr lang="en-US" sz="1200" dirty="0"/>
            </a:p>
          </p:txBody>
        </p:sp>
      </p:grpSp>
      <p:grpSp>
        <p:nvGrpSpPr>
          <p:cNvPr id="18" name="rows/row/2"/>
          <p:cNvGrpSpPr/>
          <p:nvPr/>
        </p:nvGrpSpPr>
        <p:grpSpPr>
          <a:xfrm>
            <a:off x="6598920" y="3178866"/>
            <a:ext cx="4567428" cy="441960"/>
            <a:chOff x="6598920" y="3178866"/>
            <a:chExt cx="4567428" cy="441960"/>
          </a:xfrm>
        </p:grpSpPr>
        <p:sp>
          <p:nvSpPr>
            <p:cNvPr id="8" name="ts:values#rows/items/2/key@rows/row/2"/>
            <p:cNvSpPr txBox="1"/>
            <p:nvPr/>
          </p:nvSpPr>
          <p:spPr>
            <a:xfrm>
              <a:off x="6598920" y="317886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Infrastructure-grade</a:t>
              </a:r>
              <a:endParaRPr lang="en-US" sz="1200" dirty="0"/>
            </a:p>
          </p:txBody>
        </p:sp>
        <p:sp>
          <p:nvSpPr>
            <p:cNvPr id="9" name="ts:values#rows/items/2/value@rows/row/2"/>
            <p:cNvSpPr txBox="1"/>
            <p:nvPr/>
          </p:nvSpPr>
          <p:spPr>
            <a:xfrm>
              <a:off x="8442960" y="3178866"/>
              <a:ext cx="27233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Enterprises can depend on it for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reliability, speed, and security.</a:t>
              </a:r>
              <a:endParaRPr lang="en-US" sz="1200" dirty="0"/>
            </a:p>
          </p:txBody>
        </p:sp>
      </p:grpSp>
      <p:grpSp>
        <p:nvGrpSpPr>
          <p:cNvPr id="19" name="rows/row/3"/>
          <p:cNvGrpSpPr/>
          <p:nvPr/>
        </p:nvGrpSpPr>
        <p:grpSpPr>
          <a:xfrm>
            <a:off x="6598920" y="3872286"/>
            <a:ext cx="4567428" cy="441960"/>
            <a:chOff x="6598920" y="3872286"/>
            <a:chExt cx="4567428" cy="441960"/>
          </a:xfrm>
        </p:grpSpPr>
        <p:sp>
          <p:nvSpPr>
            <p:cNvPr id="10" name="ts:values#rows/items/3/key@rows/row/3"/>
            <p:cNvSpPr txBox="1"/>
            <p:nvPr/>
          </p:nvSpPr>
          <p:spPr>
            <a:xfrm>
              <a:off x="6598920" y="387228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International</a:t>
              </a:r>
              <a:endParaRPr lang="en-US" sz="1200" dirty="0"/>
            </a:p>
          </p:txBody>
        </p:sp>
        <p:sp>
          <p:nvSpPr>
            <p:cNvPr id="11" name="ts:values#rows/items/3/value@rows/row/3"/>
            <p:cNvSpPr txBox="1"/>
            <p:nvPr/>
          </p:nvSpPr>
          <p:spPr>
            <a:xfrm>
              <a:off x="8442960" y="3872286"/>
              <a:ext cx="27233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Language is both the product's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subject and its market.</a:t>
              </a:r>
              <a:endParaRPr lang="en-US" sz="1200" dirty="0"/>
            </a:p>
          </p:txBody>
        </p:sp>
      </p:grpSp>
      <p:grpSp>
        <p:nvGrpSpPr>
          <p:cNvPr id="20" name="rows/row/4"/>
          <p:cNvGrpSpPr/>
          <p:nvPr/>
        </p:nvGrpSpPr>
        <p:grpSpPr>
          <a:xfrm>
            <a:off x="6598920" y="4565706"/>
            <a:ext cx="4567428" cy="441960"/>
            <a:chOff x="6598920" y="4565706"/>
            <a:chExt cx="4567428" cy="441960"/>
          </a:xfrm>
        </p:grpSpPr>
        <p:sp>
          <p:nvSpPr>
            <p:cNvPr id="12" name="ts:values#rows/items/4/key@rows/row/4"/>
            <p:cNvSpPr txBox="1"/>
            <p:nvPr/>
          </p:nvSpPr>
          <p:spPr>
            <a:xfrm>
              <a:off x="6598920" y="456570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Designed</a:t>
              </a:r>
              <a:endParaRPr lang="en-US" sz="1200" dirty="0"/>
            </a:p>
          </p:txBody>
        </p:sp>
        <p:sp>
          <p:nvSpPr>
            <p:cNvPr id="13" name="ts:values#rows/items/4/value@rows/row/4"/>
            <p:cNvSpPr txBox="1"/>
            <p:nvPr/>
          </p:nvSpPr>
          <p:spPr>
            <a:xfrm>
              <a:off x="8442960" y="4565706"/>
              <a:ext cx="27233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Every surface from the mark to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docs is designed individually.</a:t>
              </a:r>
              <a:endParaRPr lang="en-US" sz="1200" dirty="0"/>
            </a:p>
          </p:txBody>
        </p:sp>
      </p:grpSp>
      <p:sp>
        <p:nvSpPr>
          <p:cNvPr id="14" name="ts:valu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09 / 85</a:t>
            </a:r>
            <a:endParaRPr lang="en-US" sz="780" dirty="0"/>
          </a:p>
        </p:txBody>
      </p:sp>
      <p:pic>
        <p:nvPicPr>
          <p:cNvPr id="15" name="ts:values#sheet" descr="Valu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Rosetta Ston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rosetta#title" hidden="1"/>
          <p:cNvSpPr txBox="1">
            <a:spLocks noGrp="1"/>
          </p:cNvSpPr>
          <p:nvPr>
            <p:ph type="title"/>
          </p:nvPr>
        </p:nvSpPr>
        <p:spPr>
          <a:xfrm>
            <a:off x="7078980" y="4000271"/>
            <a:ext cx="3870960" cy="3621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Rosetta Stone</a:t>
            </a:r>
            <a:endParaRPr lang="en-US" sz="2640" dirty="0"/>
          </a:p>
        </p:txBody>
      </p:sp>
      <p:sp>
        <p:nvSpPr>
          <p:cNvPr id="2" name="ts:mood-rosetta#h/text"/>
          <p:cNvSpPr txBox="1"/>
          <p:nvPr/>
        </p:nvSpPr>
        <p:spPr>
          <a:xfrm>
            <a:off x="7078980" y="4007446"/>
            <a:ext cx="38892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Rosetta Stone</a:t>
            </a:r>
            <a:endParaRPr lang="en-US" sz="2640" dirty="0"/>
          </a:p>
        </p:txBody>
      </p:sp>
      <p:sp>
        <p:nvSpPr>
          <p:cNvPr id="3" name="ts:mood-rosetta#p1/text"/>
          <p:cNvSpPr txBox="1"/>
          <p:nvPr/>
        </p:nvSpPr>
        <p:spPr>
          <a:xfrm>
            <a:off x="7078980" y="4421513"/>
            <a:ext cx="3889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One decree carved in three scripts so every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reader could read it. General Translation does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same for software: one source text, every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language.</a:t>
            </a:r>
            <a:endParaRPr lang="en-US" sz="1320" dirty="0"/>
          </a:p>
        </p:txBody>
      </p:sp>
      <p:sp>
        <p:nvSpPr>
          <p:cNvPr id="4" name="ts:mood-rosetta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Photograph: Hans Hillewaert, CC BY-SA 4.0</a:t>
            </a:r>
            <a:endParaRPr lang="en-US" sz="900" dirty="0"/>
          </a:p>
        </p:txBody>
      </p:sp>
      <p:sp>
        <p:nvSpPr>
          <p:cNvPr id="5" name="ts:mood-rosetta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10 / 85</a:t>
            </a:r>
            <a:endParaRPr lang="en-US" sz="780" dirty="0"/>
          </a:p>
        </p:txBody>
      </p:sp>
      <p:pic>
        <p:nvPicPr>
          <p:cNvPr id="6" name="ts:mood-rosetta#sheet" descr="The Rosetta Ston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rand personality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s:character#title" hidden="1"/>
          <p:cNvSpPr txBox="1">
            <a:spLocks noGrp="1"/>
          </p:cNvSpPr>
          <p:nvPr>
            <p:ph type="title"/>
          </p:nvPr>
        </p:nvSpPr>
        <p:spPr>
          <a:xfrm>
            <a:off x="1043940" y="2395347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Brand personality</a:t>
            </a:r>
            <a:endParaRPr lang="en-US" sz="2640" dirty="0"/>
          </a:p>
        </p:txBody>
      </p:sp>
      <p:sp>
        <p:nvSpPr>
          <p:cNvPr id="2" name="ts:character#h/text"/>
          <p:cNvSpPr txBox="1"/>
          <p:nvPr/>
        </p:nvSpPr>
        <p:spPr>
          <a:xfrm>
            <a:off x="1043940" y="2399169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Brand personality</a:t>
            </a:r>
            <a:endParaRPr lang="en-US" sz="2640" dirty="0"/>
          </a:p>
        </p:txBody>
      </p:sp>
      <p:sp>
        <p:nvSpPr>
          <p:cNvPr id="3" name="ts:character#p1/text"/>
          <p:cNvSpPr txBox="1"/>
          <p:nvPr/>
        </p:nvSpPr>
        <p:spPr>
          <a:xfrm>
            <a:off x="1043940" y="3032310"/>
            <a:ext cx="399973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brand is both creative and technically rigorous.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It delivers on time, exceeds the specification,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stays aware of what customers value.</a:t>
            </a:r>
            <a:endParaRPr lang="en-US" sz="1320" dirty="0"/>
          </a:p>
        </p:txBody>
      </p:sp>
      <p:sp>
        <p:nvSpPr>
          <p:cNvPr id="4" name="ts:character#p2/text"/>
          <p:cNvSpPr txBox="1"/>
          <p:nvPr/>
        </p:nvSpPr>
        <p:spPr>
          <a:xfrm>
            <a:off x="1043940" y="4111451"/>
            <a:ext cx="399973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These readings come from the shipped system and will be confirmed or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adjusted in the identity project.</a:t>
            </a:r>
            <a:endParaRPr lang="en-US" sz="900" dirty="0"/>
          </a:p>
        </p:txBody>
      </p:sp>
      <p:sp>
        <p:nvSpPr>
          <p:cNvPr id="5" name="ts:character#scales/items/0/left"/>
          <p:cNvSpPr txBox="1"/>
          <p:nvPr/>
        </p:nvSpPr>
        <p:spPr>
          <a:xfrm>
            <a:off x="5574030" y="208798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Classic</a:t>
            </a:r>
            <a:endParaRPr lang="en-US" sz="1080" dirty="0"/>
          </a:p>
        </p:txBody>
      </p:sp>
      <p:sp>
        <p:nvSpPr>
          <p:cNvPr id="6" name="ts:character#scales/items/0/right"/>
          <p:cNvSpPr txBox="1"/>
          <p:nvPr/>
        </p:nvSpPr>
        <p:spPr>
          <a:xfrm>
            <a:off x="10005060" y="208798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Modern</a:t>
            </a:r>
            <a:endParaRPr lang="en-US" sz="1080" dirty="0"/>
          </a:p>
        </p:txBody>
      </p:sp>
      <p:sp>
        <p:nvSpPr>
          <p:cNvPr id="7" name="ts:character#scales/items/1/left"/>
          <p:cNvSpPr txBox="1"/>
          <p:nvPr/>
        </p:nvSpPr>
        <p:spPr>
          <a:xfrm>
            <a:off x="5574030" y="244612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Reserved</a:t>
            </a:r>
            <a:endParaRPr lang="en-US" sz="1080" dirty="0"/>
          </a:p>
        </p:txBody>
      </p:sp>
      <p:sp>
        <p:nvSpPr>
          <p:cNvPr id="8" name="ts:character#scales/items/1/right"/>
          <p:cNvSpPr txBox="1"/>
          <p:nvPr/>
        </p:nvSpPr>
        <p:spPr>
          <a:xfrm>
            <a:off x="10005060" y="244612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Playful</a:t>
            </a:r>
            <a:endParaRPr lang="en-US" sz="1080" dirty="0"/>
          </a:p>
        </p:txBody>
      </p:sp>
      <p:sp>
        <p:nvSpPr>
          <p:cNvPr id="9" name="ts:character#scales/items/2/left"/>
          <p:cNvSpPr txBox="1"/>
          <p:nvPr/>
        </p:nvSpPr>
        <p:spPr>
          <a:xfrm>
            <a:off x="5574030" y="280426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Minimal</a:t>
            </a:r>
            <a:endParaRPr lang="en-US" sz="1080" dirty="0"/>
          </a:p>
        </p:txBody>
      </p:sp>
      <p:sp>
        <p:nvSpPr>
          <p:cNvPr id="10" name="ts:character#scales/items/2/right"/>
          <p:cNvSpPr txBox="1"/>
          <p:nvPr/>
        </p:nvSpPr>
        <p:spPr>
          <a:xfrm>
            <a:off x="10005060" y="280426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Expressive</a:t>
            </a:r>
            <a:endParaRPr lang="en-US" sz="1080" dirty="0"/>
          </a:p>
        </p:txBody>
      </p:sp>
      <p:sp>
        <p:nvSpPr>
          <p:cNvPr id="11" name="ts:character#scales/items/3/left"/>
          <p:cNvSpPr txBox="1"/>
          <p:nvPr/>
        </p:nvSpPr>
        <p:spPr>
          <a:xfrm>
            <a:off x="5574030" y="316240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Rational</a:t>
            </a:r>
            <a:endParaRPr lang="en-US" sz="1080" dirty="0"/>
          </a:p>
        </p:txBody>
      </p:sp>
      <p:sp>
        <p:nvSpPr>
          <p:cNvPr id="12" name="ts:character#scales/items/3/right"/>
          <p:cNvSpPr txBox="1"/>
          <p:nvPr/>
        </p:nvSpPr>
        <p:spPr>
          <a:xfrm>
            <a:off x="10005060" y="316240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Quirky</a:t>
            </a:r>
            <a:endParaRPr lang="en-US" sz="1080" dirty="0"/>
          </a:p>
        </p:txBody>
      </p:sp>
      <p:sp>
        <p:nvSpPr>
          <p:cNvPr id="13" name="ts:character#scales/items/4/left"/>
          <p:cNvSpPr txBox="1"/>
          <p:nvPr/>
        </p:nvSpPr>
        <p:spPr>
          <a:xfrm>
            <a:off x="5574030" y="352054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Understated</a:t>
            </a:r>
            <a:endParaRPr lang="en-US" sz="1080" dirty="0"/>
          </a:p>
        </p:txBody>
      </p:sp>
      <p:sp>
        <p:nvSpPr>
          <p:cNvPr id="14" name="ts:character#scales/items/4/right"/>
          <p:cNvSpPr txBox="1"/>
          <p:nvPr/>
        </p:nvSpPr>
        <p:spPr>
          <a:xfrm>
            <a:off x="10005060" y="352054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Confident</a:t>
            </a:r>
            <a:endParaRPr lang="en-US" sz="1080" dirty="0"/>
          </a:p>
        </p:txBody>
      </p:sp>
      <p:sp>
        <p:nvSpPr>
          <p:cNvPr id="15" name="ts:character#scales/items/5/left"/>
          <p:cNvSpPr txBox="1"/>
          <p:nvPr/>
        </p:nvSpPr>
        <p:spPr>
          <a:xfrm>
            <a:off x="5574030" y="387868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Serious</a:t>
            </a:r>
            <a:endParaRPr lang="en-US" sz="1080" dirty="0"/>
          </a:p>
        </p:txBody>
      </p:sp>
      <p:sp>
        <p:nvSpPr>
          <p:cNvPr id="16" name="ts:character#scales/items/5/right"/>
          <p:cNvSpPr txBox="1"/>
          <p:nvPr/>
        </p:nvSpPr>
        <p:spPr>
          <a:xfrm>
            <a:off x="10005060" y="387868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Witty</a:t>
            </a:r>
            <a:endParaRPr lang="en-US" sz="1080" dirty="0"/>
          </a:p>
        </p:txBody>
      </p:sp>
      <p:sp>
        <p:nvSpPr>
          <p:cNvPr id="17" name="ts:character#scales/items/6/left"/>
          <p:cNvSpPr txBox="1"/>
          <p:nvPr/>
        </p:nvSpPr>
        <p:spPr>
          <a:xfrm>
            <a:off x="5574030" y="423682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Light</a:t>
            </a:r>
            <a:endParaRPr lang="en-US" sz="1080" dirty="0"/>
          </a:p>
        </p:txBody>
      </p:sp>
      <p:sp>
        <p:nvSpPr>
          <p:cNvPr id="18" name="ts:character#scales/items/6/right"/>
          <p:cNvSpPr txBox="1"/>
          <p:nvPr/>
        </p:nvSpPr>
        <p:spPr>
          <a:xfrm>
            <a:off x="10005060" y="423682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Dark</a:t>
            </a:r>
            <a:endParaRPr lang="en-US" sz="1080" dirty="0"/>
          </a:p>
        </p:txBody>
      </p:sp>
      <p:sp>
        <p:nvSpPr>
          <p:cNvPr id="19" name="ts:character#scales/items/7/left"/>
          <p:cNvSpPr txBox="1"/>
          <p:nvPr/>
        </p:nvSpPr>
        <p:spPr>
          <a:xfrm>
            <a:off x="5574030" y="459496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F2F2F0">
                    <a:alpha val="0"/>
                  </a:srgbClr>
                </a:solidFill>
                <a:latin typeface="GT Inter Text 18 Medium" pitchFamily="34" charset="0"/>
                <a:ea typeface="GT Inter Text 18 Medium" pitchFamily="34" charset="-122"/>
                <a:cs typeface="GT Inter Text 18 Medium" pitchFamily="34" charset="-120"/>
              </a:rPr>
              <a:t>Geometric</a:t>
            </a:r>
            <a:endParaRPr lang="en-US" sz="1080" dirty="0"/>
          </a:p>
        </p:txBody>
      </p:sp>
      <p:sp>
        <p:nvSpPr>
          <p:cNvPr id="20" name="ts:character#scales/items/7/right"/>
          <p:cNvSpPr txBox="1"/>
          <p:nvPr/>
        </p:nvSpPr>
        <p:spPr>
          <a:xfrm>
            <a:off x="10005060" y="4594968"/>
            <a:ext cx="1161288" cy="1659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1307"/>
              </a:lnSpc>
              <a:buNone/>
            </a:pPr>
            <a:r>
              <a:rPr lang="en-US" sz="1080" dirty="0">
                <a:solidFill>
                  <a:srgbClr val="B9BCC3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Organic</a:t>
            </a:r>
            <a:endParaRPr lang="en-US" sz="1080" dirty="0"/>
          </a:p>
        </p:txBody>
      </p:sp>
      <p:sp>
        <p:nvSpPr>
          <p:cNvPr id="21" name="ts:charact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11 / 85</a:t>
            </a:r>
            <a:endParaRPr lang="en-US" sz="780" dirty="0"/>
          </a:p>
        </p:txBody>
      </p:sp>
      <p:pic>
        <p:nvPicPr>
          <p:cNvPr id="22" name="ts:character#sheet" descr="Brand personality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riting styl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ts:voice#title" hidden="1"/>
          <p:cNvSpPr txBox="1">
            <a:spLocks noGrp="1"/>
          </p:cNvSpPr>
          <p:nvPr>
            <p:ph type="title"/>
          </p:nvPr>
        </p:nvSpPr>
        <p:spPr>
          <a:xfrm>
            <a:off x="1043940" y="1098271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Writing style</a:t>
            </a:r>
            <a:endParaRPr lang="en-US" sz="2640" dirty="0"/>
          </a:p>
        </p:txBody>
      </p:sp>
      <p:sp>
        <p:nvSpPr>
          <p:cNvPr id="2" name="ts:voice#h/text"/>
          <p:cNvSpPr txBox="1"/>
          <p:nvPr/>
        </p:nvSpPr>
        <p:spPr>
          <a:xfrm>
            <a:off x="1043940" y="1102093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Writing style</a:t>
            </a:r>
            <a:endParaRPr lang="en-US" sz="2640" dirty="0"/>
          </a:p>
        </p:txBody>
      </p:sp>
      <p:sp>
        <p:nvSpPr>
          <p:cNvPr id="3" name="ts:voice#p1/text"/>
          <p:cNvSpPr txBox="1"/>
          <p:nvPr/>
        </p:nvSpPr>
        <p:spPr>
          <a:xfrm>
            <a:off x="1043940" y="1735234"/>
            <a:ext cx="399973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Copy has the register of a technical specification.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same five rules apply to the site, the docs,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blog, and every social post.</a:t>
            </a:r>
            <a:endParaRPr lang="en-US" sz="1320" dirty="0"/>
          </a:p>
        </p:txBody>
      </p:sp>
      <p:grpSp>
        <p:nvGrpSpPr>
          <p:cNvPr id="24" name="rows/row/0"/>
          <p:cNvGrpSpPr/>
          <p:nvPr/>
        </p:nvGrpSpPr>
        <p:grpSpPr>
          <a:xfrm>
            <a:off x="1043940" y="2776429"/>
            <a:ext cx="3999738" cy="405308"/>
            <a:chOff x="1043940" y="2776429"/>
            <a:chExt cx="3999738" cy="405308"/>
          </a:xfrm>
        </p:grpSpPr>
        <p:sp>
          <p:nvSpPr>
            <p:cNvPr id="4" name="ts:voice#rows/items/0/key@rows/row/0"/>
            <p:cNvSpPr txBox="1"/>
            <p:nvPr/>
          </p:nvSpPr>
          <p:spPr>
            <a:xfrm>
              <a:off x="1043940" y="2776429"/>
              <a:ext cx="1161288" cy="2026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spc="-11" dirty="0">
                  <a:solidFill>
                    <a:srgbClr val="F2F2F0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Sentence</a:t>
              </a:r>
              <a:endParaRPr lang="en-US" sz="1140" dirty="0"/>
            </a:p>
          </p:txBody>
        </p:sp>
        <p:sp>
          <p:nvSpPr>
            <p:cNvPr id="5" name="ts:voice#rows/items/0/value@rows/row/0"/>
            <p:cNvSpPr txBox="1"/>
            <p:nvPr/>
          </p:nvSpPr>
          <p:spPr>
            <a:xfrm>
              <a:off x="2369820" y="2776429"/>
              <a:ext cx="2673858" cy="405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Sentences are short and declarative,</a:t>
              </a:r>
              <a:br/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and each carries one claim.</a:t>
              </a:r>
              <a:endParaRPr lang="en-US" sz="1140" dirty="0"/>
            </a:p>
          </p:txBody>
        </p:sp>
      </p:grpSp>
      <p:grpSp>
        <p:nvGrpSpPr>
          <p:cNvPr id="25" name="rows/row/1"/>
          <p:cNvGrpSpPr/>
          <p:nvPr/>
        </p:nvGrpSpPr>
        <p:grpSpPr>
          <a:xfrm>
            <a:off x="1043940" y="3387476"/>
            <a:ext cx="3999738" cy="405308"/>
            <a:chOff x="1043940" y="3387476"/>
            <a:chExt cx="3999738" cy="405308"/>
          </a:xfrm>
        </p:grpSpPr>
        <p:sp>
          <p:nvSpPr>
            <p:cNvPr id="6" name="ts:voice#rows/items/1/key@rows/row/1"/>
            <p:cNvSpPr txBox="1"/>
            <p:nvPr/>
          </p:nvSpPr>
          <p:spPr>
            <a:xfrm>
              <a:off x="1043940" y="3387476"/>
              <a:ext cx="1161288" cy="2026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spc="-11" dirty="0">
                  <a:solidFill>
                    <a:srgbClr val="F2F2F0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Evidence</a:t>
              </a:r>
              <a:endParaRPr lang="en-US" sz="1140" dirty="0"/>
            </a:p>
          </p:txBody>
        </p:sp>
        <p:sp>
          <p:nvSpPr>
            <p:cNvPr id="7" name="ts:voice#rows/items/1/value@rows/row/1"/>
            <p:cNvSpPr txBox="1"/>
            <p:nvPr/>
          </p:nvSpPr>
          <p:spPr>
            <a:xfrm>
              <a:off x="2369820" y="3387476"/>
              <a:ext cx="2673858" cy="405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A number or a mechanism stands</a:t>
              </a:r>
              <a:br/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where a marketing adjective would.</a:t>
              </a:r>
              <a:endParaRPr lang="en-US" sz="1140" dirty="0"/>
            </a:p>
          </p:txBody>
        </p:sp>
      </p:grpSp>
      <p:grpSp>
        <p:nvGrpSpPr>
          <p:cNvPr id="26" name="rows/row/2"/>
          <p:cNvGrpSpPr/>
          <p:nvPr/>
        </p:nvGrpSpPr>
        <p:grpSpPr>
          <a:xfrm>
            <a:off x="1043940" y="3998448"/>
            <a:ext cx="3999738" cy="405384"/>
            <a:chOff x="1043940" y="3998448"/>
            <a:chExt cx="3999738" cy="405384"/>
          </a:xfrm>
        </p:grpSpPr>
        <p:sp>
          <p:nvSpPr>
            <p:cNvPr id="8" name="ts:voice#rows/items/2/key@rows/row/2"/>
            <p:cNvSpPr txBox="1"/>
            <p:nvPr/>
          </p:nvSpPr>
          <p:spPr>
            <a:xfrm>
              <a:off x="1043940" y="3998448"/>
              <a:ext cx="1161288" cy="2026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spc="-11" dirty="0">
                  <a:solidFill>
                    <a:srgbClr val="F2F2F0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Hedging</a:t>
              </a:r>
              <a:endParaRPr lang="en-US" sz="1140" dirty="0"/>
            </a:p>
          </p:txBody>
        </p:sp>
        <p:sp>
          <p:nvSpPr>
            <p:cNvPr id="9" name="ts:voice#rows/items/2/value@rows/row/2"/>
            <p:cNvSpPr txBox="1"/>
            <p:nvPr/>
          </p:nvSpPr>
          <p:spPr>
            <a:xfrm>
              <a:off x="2369820" y="3998448"/>
              <a:ext cx="2673858" cy="405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Nothing is hedged. A claim is made or it</a:t>
              </a:r>
              <a:br/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is left out.</a:t>
              </a:r>
              <a:endParaRPr lang="en-US" sz="1140" dirty="0"/>
            </a:p>
          </p:txBody>
        </p:sp>
      </p:grpSp>
      <p:grpSp>
        <p:nvGrpSpPr>
          <p:cNvPr id="27" name="rows/row/3"/>
          <p:cNvGrpSpPr/>
          <p:nvPr/>
        </p:nvGrpSpPr>
        <p:grpSpPr>
          <a:xfrm>
            <a:off x="1043940" y="4609496"/>
            <a:ext cx="3999738" cy="405384"/>
            <a:chOff x="1043940" y="4609496"/>
            <a:chExt cx="3999738" cy="405384"/>
          </a:xfrm>
        </p:grpSpPr>
        <p:sp>
          <p:nvSpPr>
            <p:cNvPr id="10" name="ts:voice#rows/items/3/key@rows/row/3"/>
            <p:cNvSpPr txBox="1"/>
            <p:nvPr/>
          </p:nvSpPr>
          <p:spPr>
            <a:xfrm>
              <a:off x="1043940" y="4609496"/>
              <a:ext cx="1161288" cy="2026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spc="-11" dirty="0">
                  <a:solidFill>
                    <a:srgbClr val="F2F2F0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Punctuation</a:t>
              </a:r>
              <a:endParaRPr lang="en-US" sz="1140" dirty="0"/>
            </a:p>
          </p:txBody>
        </p:sp>
        <p:sp>
          <p:nvSpPr>
            <p:cNvPr id="11" name="ts:voice#rows/items/3/value@rows/row/3"/>
            <p:cNvSpPr txBox="1"/>
            <p:nvPr/>
          </p:nvSpPr>
          <p:spPr>
            <a:xfrm>
              <a:off x="2369820" y="4609496"/>
              <a:ext cx="2673858" cy="4053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Exclamation marks and em dashes are</a:t>
              </a:r>
              <a:br/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not used.</a:t>
              </a:r>
              <a:endParaRPr lang="en-US" sz="1140" dirty="0"/>
            </a:p>
          </p:txBody>
        </p:sp>
      </p:grpSp>
      <p:grpSp>
        <p:nvGrpSpPr>
          <p:cNvPr id="28" name="rows/row/4"/>
          <p:cNvGrpSpPr/>
          <p:nvPr/>
        </p:nvGrpSpPr>
        <p:grpSpPr>
          <a:xfrm>
            <a:off x="1043940" y="5220544"/>
            <a:ext cx="3999738" cy="405308"/>
            <a:chOff x="1043940" y="5220544"/>
            <a:chExt cx="3999738" cy="405308"/>
          </a:xfrm>
        </p:grpSpPr>
        <p:sp>
          <p:nvSpPr>
            <p:cNvPr id="12" name="ts:voice#rows/items/4/key@rows/row/4"/>
            <p:cNvSpPr txBox="1"/>
            <p:nvPr/>
          </p:nvSpPr>
          <p:spPr>
            <a:xfrm>
              <a:off x="1043940" y="5220544"/>
              <a:ext cx="1161288" cy="20269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spc="-11" dirty="0">
                  <a:solidFill>
                    <a:srgbClr val="F2F2F0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Case</a:t>
              </a:r>
              <a:endParaRPr lang="en-US" sz="1140" dirty="0"/>
            </a:p>
          </p:txBody>
        </p:sp>
        <p:sp>
          <p:nvSpPr>
            <p:cNvPr id="13" name="ts:voice#rows/items/4/value@rows/row/4"/>
            <p:cNvSpPr txBox="1"/>
            <p:nvPr/>
          </p:nvSpPr>
          <p:spPr>
            <a:xfrm>
              <a:off x="2369820" y="5220544"/>
              <a:ext cx="2673858" cy="40530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Sentence case is used everywhere,</a:t>
              </a:r>
              <a:br/>
              <a:pPr algn="l" indent="0" marL="0">
                <a:lnSpc>
                  <a:spcPts val="1596"/>
                </a:lnSpc>
                <a:buNone/>
              </a:pPr>
              <a:r>
                <a:rPr lang="en-US" sz="1140" dirty="0">
                  <a:solidFill>
                    <a:srgbClr val="F2F2F0">
                      <a:alpha val="0"/>
                    </a:srgbClr>
                  </a:solidFill>
                  <a:latin typeface="GT Inter Text 18" pitchFamily="34" charset="0"/>
                  <a:ea typeface="GT Inter Text 18" pitchFamily="34" charset="-122"/>
                  <a:cs typeface="GT Inter Text 18" pitchFamily="34" charset="-120"/>
                </a:rPr>
                <a:t>and Title Case only on buttons.</a:t>
              </a:r>
              <a:endParaRPr lang="en-US" sz="1140" dirty="0"/>
            </a:p>
          </p:txBody>
        </p:sp>
      </p:grpSp>
      <p:grpSp>
        <p:nvGrpSpPr>
          <p:cNvPr id="29" name="say/row/0"/>
          <p:cNvGrpSpPr/>
          <p:nvPr/>
        </p:nvGrpSpPr>
        <p:grpSpPr>
          <a:xfrm>
            <a:off x="5802630" y="1917670"/>
            <a:ext cx="5363718" cy="514350"/>
            <a:chOff x="5802630" y="1917670"/>
            <a:chExt cx="5363718" cy="514350"/>
          </a:xfrm>
        </p:grpSpPr>
        <p:sp>
          <p:nvSpPr>
            <p:cNvPr id="14" name="ts:voice#say/items/0/note@say/row/0"/>
            <p:cNvSpPr txBox="1"/>
            <p:nvPr/>
          </p:nvSpPr>
          <p:spPr>
            <a:xfrm>
              <a:off x="5802630" y="1959820"/>
              <a:ext cx="1237488" cy="198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66"/>
                </a:lnSpc>
                <a:buNone/>
              </a:pPr>
              <a:r>
                <a:rPr lang="en-US" sz="1080" spc="-11" dirty="0">
                  <a:solidFill>
                    <a:srgbClr val="8A8F98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Acceptable</a:t>
              </a:r>
              <a:endParaRPr lang="en-US" sz="1080" dirty="0"/>
            </a:p>
          </p:txBody>
        </p:sp>
        <p:sp>
          <p:nvSpPr>
            <p:cNvPr id="15" name="ts:voice#say/items/0/quote@say/row/0"/>
            <p:cNvSpPr txBox="1"/>
            <p:nvPr/>
          </p:nvSpPr>
          <p:spPr>
            <a:xfrm>
              <a:off x="7235190" y="1917670"/>
              <a:ext cx="3931158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25"/>
                </a:lnSpc>
                <a:buNone/>
              </a:pPr>
              <a:r>
                <a:rPr lang="en-US" sz="1620" spc="-30" dirty="0">
                  <a:solidFill>
                    <a:srgbClr val="F2F2F0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Translations are generated at build time</a:t>
              </a:r>
              <a:br/>
              <a:pPr algn="l" indent="0" marL="0">
                <a:lnSpc>
                  <a:spcPts val="2025"/>
                </a:lnSpc>
                <a:buNone/>
              </a:pPr>
              <a:r>
                <a:rPr lang="en-US" sz="1620" spc="-30" dirty="0">
                  <a:solidFill>
                    <a:srgbClr val="F2F2F0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and deploy with the app.</a:t>
              </a:r>
              <a:endParaRPr lang="en-US" sz="1620" dirty="0"/>
            </a:p>
          </p:txBody>
        </p:sp>
      </p:grpSp>
      <p:grpSp>
        <p:nvGrpSpPr>
          <p:cNvPr id="30" name="say/row/1"/>
          <p:cNvGrpSpPr/>
          <p:nvPr/>
        </p:nvGrpSpPr>
        <p:grpSpPr>
          <a:xfrm>
            <a:off x="5802630" y="2744440"/>
            <a:ext cx="5363718" cy="514350"/>
            <a:chOff x="5802630" y="2744440"/>
            <a:chExt cx="5363718" cy="514350"/>
          </a:xfrm>
        </p:grpSpPr>
        <p:sp>
          <p:nvSpPr>
            <p:cNvPr id="16" name="ts:voice#say/items/1/note@say/row/1"/>
            <p:cNvSpPr txBox="1"/>
            <p:nvPr/>
          </p:nvSpPr>
          <p:spPr>
            <a:xfrm>
              <a:off x="5802630" y="2786590"/>
              <a:ext cx="1237488" cy="198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66"/>
                </a:lnSpc>
                <a:buNone/>
              </a:pPr>
              <a:r>
                <a:rPr lang="en-US" sz="1080" spc="-11" dirty="0">
                  <a:solidFill>
                    <a:srgbClr val="8A8F98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Not acceptable</a:t>
              </a:r>
              <a:endParaRPr lang="en-US" sz="1080" dirty="0"/>
            </a:p>
          </p:txBody>
        </p:sp>
        <p:sp>
          <p:nvSpPr>
            <p:cNvPr id="17" name="ts:voice#say/items/1/quote@say/row/1"/>
            <p:cNvSpPr txBox="1"/>
            <p:nvPr/>
          </p:nvSpPr>
          <p:spPr>
            <a:xfrm>
              <a:off x="7235190" y="2744440"/>
              <a:ext cx="3931158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25"/>
                </a:lnSpc>
                <a:buNone/>
              </a:pPr>
              <a:r>
                <a:rPr lang="en-US" sz="1620" strike="sngStrike" spc="-30" dirty="0">
                  <a:solidFill>
                    <a:srgbClr val="B9BCC3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Supercharge your global growth with</a:t>
              </a:r>
              <a:br/>
              <a:pPr algn="l" indent="0" marL="0">
                <a:lnSpc>
                  <a:spcPts val="2025"/>
                </a:lnSpc>
                <a:buNone/>
              </a:pPr>
              <a:r>
                <a:rPr lang="en-US" sz="1620" strike="sngStrike" spc="-30" dirty="0">
                  <a:solidFill>
                    <a:srgbClr val="B9BCC3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cutting-edge AI.</a:t>
              </a:r>
              <a:endParaRPr lang="en-US" sz="1620" dirty="0"/>
            </a:p>
          </p:txBody>
        </p:sp>
      </p:grpSp>
      <p:grpSp>
        <p:nvGrpSpPr>
          <p:cNvPr id="31" name="say/row/2"/>
          <p:cNvGrpSpPr/>
          <p:nvPr/>
        </p:nvGrpSpPr>
        <p:grpSpPr>
          <a:xfrm>
            <a:off x="5802630" y="3571210"/>
            <a:ext cx="5363718" cy="514350"/>
            <a:chOff x="5802630" y="3571210"/>
            <a:chExt cx="5363718" cy="514350"/>
          </a:xfrm>
        </p:grpSpPr>
        <p:sp>
          <p:nvSpPr>
            <p:cNvPr id="18" name="ts:voice#say/items/2/note@say/row/2"/>
            <p:cNvSpPr txBox="1"/>
            <p:nvPr/>
          </p:nvSpPr>
          <p:spPr>
            <a:xfrm>
              <a:off x="5802630" y="3613360"/>
              <a:ext cx="1237488" cy="198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66"/>
                </a:lnSpc>
                <a:buNone/>
              </a:pPr>
              <a:r>
                <a:rPr lang="en-US" sz="1080" spc="-11" dirty="0">
                  <a:solidFill>
                    <a:srgbClr val="8A8F98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Acceptable</a:t>
              </a:r>
              <a:endParaRPr lang="en-US" sz="1080" dirty="0"/>
            </a:p>
          </p:txBody>
        </p:sp>
        <p:sp>
          <p:nvSpPr>
            <p:cNvPr id="19" name="ts:voice#say/items/2/quote@say/row/2"/>
            <p:cNvSpPr txBox="1"/>
            <p:nvPr/>
          </p:nvSpPr>
          <p:spPr>
            <a:xfrm>
              <a:off x="7235190" y="3571210"/>
              <a:ext cx="3931158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25"/>
                </a:lnSpc>
                <a:buNone/>
              </a:pPr>
              <a:r>
                <a:rPr lang="en-US" sz="1620" spc="-30" dirty="0">
                  <a:solidFill>
                    <a:srgbClr val="F2F2F0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Source code is the source of truth. Every</a:t>
              </a:r>
              <a:br/>
              <a:pPr algn="l" indent="0" marL="0">
                <a:lnSpc>
                  <a:spcPts val="2025"/>
                </a:lnSpc>
                <a:buNone/>
              </a:pPr>
              <a:r>
                <a:rPr lang="en-US" sz="1620" spc="-30" dirty="0">
                  <a:solidFill>
                    <a:srgbClr val="F2F2F0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locale ships with the deploy.</a:t>
              </a:r>
              <a:endParaRPr lang="en-US" sz="1620" dirty="0"/>
            </a:p>
          </p:txBody>
        </p:sp>
      </p:grpSp>
      <p:grpSp>
        <p:nvGrpSpPr>
          <p:cNvPr id="32" name="say/row/3"/>
          <p:cNvGrpSpPr/>
          <p:nvPr/>
        </p:nvGrpSpPr>
        <p:grpSpPr>
          <a:xfrm>
            <a:off x="5802630" y="4397980"/>
            <a:ext cx="5363718" cy="514350"/>
            <a:chOff x="5802630" y="4397980"/>
            <a:chExt cx="5363718" cy="514350"/>
          </a:xfrm>
        </p:grpSpPr>
        <p:sp>
          <p:nvSpPr>
            <p:cNvPr id="20" name="ts:voice#say/items/3/note@say/row/3"/>
            <p:cNvSpPr txBox="1"/>
            <p:nvPr/>
          </p:nvSpPr>
          <p:spPr>
            <a:xfrm>
              <a:off x="5802630" y="4440130"/>
              <a:ext cx="1237488" cy="19888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66"/>
                </a:lnSpc>
                <a:buNone/>
              </a:pPr>
              <a:r>
                <a:rPr lang="en-US" sz="1080" spc="-11" dirty="0">
                  <a:solidFill>
                    <a:srgbClr val="8A8F98">
                      <a:alpha val="0"/>
                    </a:srgbClr>
                  </a:solidFill>
                  <a:latin typeface="GT Inter Text 18 Medium" pitchFamily="34" charset="0"/>
                  <a:ea typeface="GT Inter Text 18 Medium" pitchFamily="34" charset="-122"/>
                  <a:cs typeface="GT Inter Text 18 Medium" pitchFamily="34" charset="-120"/>
                </a:rPr>
                <a:t>Not acceptable</a:t>
              </a:r>
              <a:endParaRPr lang="en-US" sz="1080" dirty="0"/>
            </a:p>
          </p:txBody>
        </p:sp>
        <p:sp>
          <p:nvSpPr>
            <p:cNvPr id="21" name="ts:voice#say/items/3/quote@say/row/3"/>
            <p:cNvSpPr txBox="1"/>
            <p:nvPr/>
          </p:nvSpPr>
          <p:spPr>
            <a:xfrm>
              <a:off x="7235190" y="4397980"/>
              <a:ext cx="3931158" cy="51435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025"/>
                </a:lnSpc>
                <a:buNone/>
              </a:pPr>
              <a:r>
                <a:rPr lang="en-US" sz="1620" strike="sngStrike" spc="-30" dirty="0">
                  <a:solidFill>
                    <a:srgbClr val="B9BCC3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Unlock global markets with our game-</a:t>
              </a:r>
              <a:br/>
              <a:pPr algn="l" indent="0" marL="0">
                <a:lnSpc>
                  <a:spcPts val="2025"/>
                </a:lnSpc>
                <a:buNone/>
              </a:pPr>
              <a:r>
                <a:rPr lang="en-US" sz="1620" strike="sngStrike" spc="-30" dirty="0">
                  <a:solidFill>
                    <a:srgbClr val="B9BCC3">
                      <a:alpha val="0"/>
                    </a:srgbClr>
                  </a:solidFill>
                  <a:latin typeface="GT Inter Text 26 Medium" pitchFamily="34" charset="0"/>
                  <a:ea typeface="GT Inter Text 26 Medium" pitchFamily="34" charset="-122"/>
                  <a:cs typeface="GT Inter Text 26 Medium" pitchFamily="34" charset="-120"/>
                </a:rPr>
                <a:t>changing localization platform.</a:t>
              </a:r>
              <a:endParaRPr lang="en-US" sz="1620" dirty="0"/>
            </a:p>
          </p:txBody>
        </p:sp>
      </p:grpSp>
      <p:sp>
        <p:nvSpPr>
          <p:cNvPr id="22" name="ts:voic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12 / 85</a:t>
            </a:r>
            <a:endParaRPr lang="en-US" sz="780" dirty="0"/>
          </a:p>
        </p:txBody>
      </p:sp>
      <p:pic>
        <p:nvPicPr>
          <p:cNvPr id="23" name="ts:voice#sheet" descr="Writing styl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Visual referenc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s:inspiration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Visual references</a:t>
            </a:r>
            <a:endParaRPr lang="en-US" sz="2640" dirty="0"/>
          </a:p>
        </p:txBody>
      </p:sp>
      <p:sp>
        <p:nvSpPr>
          <p:cNvPr id="2" name="ts:inspirations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Visual references</a:t>
            </a:r>
            <a:endParaRPr lang="en-US" sz="2640" dirty="0"/>
          </a:p>
        </p:txBody>
      </p:sp>
      <p:sp>
        <p:nvSpPr>
          <p:cNvPr id="3" name="ts:inspirations#p1/text"/>
          <p:cNvSpPr txBox="1"/>
          <p:nvPr/>
        </p:nvSpPr>
        <p:spPr>
          <a:xfrm>
            <a:off x="1043940" y="1450779"/>
            <a:ext cx="58673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primary influence is International Style typography and grids, with Art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Deco as a secondary influence. The visual vocabulary is Swiss grids,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blueprints, and rectangular forms with no rounded corners. Water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ocean are a recurring theme. The only texture is an ordered dither.</a:t>
            </a:r>
            <a:endParaRPr lang="en-US" sz="1320" dirty="0"/>
          </a:p>
        </p:txBody>
      </p:sp>
      <p:sp>
        <p:nvSpPr>
          <p:cNvPr id="4" name="ts:inspirations#tiles/items/0/label"/>
          <p:cNvSpPr txBox="1"/>
          <p:nvPr/>
        </p:nvSpPr>
        <p:spPr>
          <a:xfrm>
            <a:off x="1043940" y="4013267"/>
            <a:ext cx="160065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Müller-Brockmann, 1955</a:t>
            </a:r>
            <a:endParaRPr lang="en-US" sz="900" dirty="0"/>
          </a:p>
        </p:txBody>
      </p:sp>
      <p:sp>
        <p:nvSpPr>
          <p:cNvPr id="5" name="ts:inspirations#tiles/items/1/label"/>
          <p:cNvSpPr txBox="1"/>
          <p:nvPr/>
        </p:nvSpPr>
        <p:spPr>
          <a:xfrm>
            <a:off x="2748229" y="4013344"/>
            <a:ext cx="16007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Aicher, Munich 1972</a:t>
            </a:r>
            <a:endParaRPr lang="en-US" sz="900" dirty="0"/>
          </a:p>
        </p:txBody>
      </p:sp>
      <p:sp>
        <p:nvSpPr>
          <p:cNvPr id="6" name="ts:inspirations#tiles/items/2/label"/>
          <p:cNvSpPr txBox="1"/>
          <p:nvPr/>
        </p:nvSpPr>
        <p:spPr>
          <a:xfrm>
            <a:off x="4452595" y="4013344"/>
            <a:ext cx="16007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Vignelli map, 1972</a:t>
            </a:r>
            <a:endParaRPr lang="en-US" sz="900" dirty="0"/>
          </a:p>
        </p:txBody>
      </p:sp>
      <p:sp>
        <p:nvSpPr>
          <p:cNvPr id="7" name="ts:inspirations#tiles/items/3/label"/>
          <p:cNvSpPr txBox="1"/>
          <p:nvPr/>
        </p:nvSpPr>
        <p:spPr>
          <a:xfrm>
            <a:off x="6156960" y="4013267"/>
            <a:ext cx="160065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Split-flap board</a:t>
            </a:r>
            <a:endParaRPr lang="en-US" sz="900" dirty="0"/>
          </a:p>
        </p:txBody>
      </p:sp>
      <p:sp>
        <p:nvSpPr>
          <p:cNvPr id="8" name="ts:inspirations#tiles/items/4/label"/>
          <p:cNvSpPr txBox="1"/>
          <p:nvPr/>
        </p:nvSpPr>
        <p:spPr>
          <a:xfrm>
            <a:off x="7861249" y="4013344"/>
            <a:ext cx="16007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NOAA chart</a:t>
            </a:r>
            <a:endParaRPr lang="en-US" sz="900" dirty="0"/>
          </a:p>
        </p:txBody>
      </p:sp>
      <p:sp>
        <p:nvSpPr>
          <p:cNvPr id="9" name="ts:inspirations#tiles/items/5/label"/>
          <p:cNvSpPr txBox="1"/>
          <p:nvPr/>
        </p:nvSpPr>
        <p:spPr>
          <a:xfrm>
            <a:off x="9565615" y="4013344"/>
            <a:ext cx="16007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Rosetta Stone</a:t>
            </a:r>
            <a:endParaRPr lang="en-US" sz="900" dirty="0"/>
          </a:p>
        </p:txBody>
      </p:sp>
      <p:sp>
        <p:nvSpPr>
          <p:cNvPr id="10" name="ts:inspirations#tiles/items/6/label"/>
          <p:cNvSpPr txBox="1"/>
          <p:nvPr/>
        </p:nvSpPr>
        <p:spPr>
          <a:xfrm>
            <a:off x="1043940" y="5261500"/>
            <a:ext cx="160065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Chrysler Building</a:t>
            </a:r>
            <a:endParaRPr lang="en-US" sz="900" dirty="0"/>
          </a:p>
        </p:txBody>
      </p:sp>
      <p:sp>
        <p:nvSpPr>
          <p:cNvPr id="11" name="ts:inspirations#tiles/items/7/label"/>
          <p:cNvSpPr txBox="1"/>
          <p:nvPr/>
        </p:nvSpPr>
        <p:spPr>
          <a:xfrm>
            <a:off x="2748229" y="5261652"/>
            <a:ext cx="16007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Whole Earth Catalog</a:t>
            </a:r>
            <a:endParaRPr lang="en-US" sz="900" dirty="0"/>
          </a:p>
        </p:txBody>
      </p:sp>
      <p:sp>
        <p:nvSpPr>
          <p:cNvPr id="12" name="ts:inspirations#tiles/items/8/label"/>
          <p:cNvSpPr txBox="1"/>
          <p:nvPr/>
        </p:nvSpPr>
        <p:spPr>
          <a:xfrm>
            <a:off x="4452595" y="5261652"/>
            <a:ext cx="16007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Transit signage</a:t>
            </a:r>
            <a:endParaRPr lang="en-US" sz="900" dirty="0"/>
          </a:p>
        </p:txBody>
      </p:sp>
      <p:sp>
        <p:nvSpPr>
          <p:cNvPr id="13" name="ts:inspirations#tiles/items/9/label"/>
          <p:cNvSpPr txBox="1"/>
          <p:nvPr/>
        </p:nvSpPr>
        <p:spPr>
          <a:xfrm>
            <a:off x="6156960" y="5261500"/>
            <a:ext cx="1600657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Braun ET66, Dieter Rams</a:t>
            </a:r>
            <a:endParaRPr lang="en-US" sz="900" dirty="0"/>
          </a:p>
        </p:txBody>
      </p:sp>
      <p:sp>
        <p:nvSpPr>
          <p:cNvPr id="14" name="ts:inspirations#tiles/items/10/label"/>
          <p:cNvSpPr txBox="1"/>
          <p:nvPr/>
        </p:nvSpPr>
        <p:spPr>
          <a:xfrm>
            <a:off x="7861249" y="5261652"/>
            <a:ext cx="1600733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Olympic stamp, 1964</a:t>
            </a:r>
            <a:endParaRPr lang="en-US" sz="900" dirty="0"/>
          </a:p>
        </p:txBody>
      </p:sp>
      <p:sp>
        <p:nvSpPr>
          <p:cNvPr id="15" name="ts:inspirations#tiles/more"/>
          <p:cNvSpPr txBox="1"/>
          <p:nvPr/>
        </p:nvSpPr>
        <p:spPr>
          <a:xfrm>
            <a:off x="9565615" y="4388667"/>
            <a:ext cx="1600733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list continues with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Powers of Ten, vintage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National Geographic maps,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Borges' Library of Babel,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NYRB Classics, and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materialarchiv.ch.</a:t>
            </a:r>
            <a:endParaRPr lang="en-US" sz="900" dirty="0"/>
          </a:p>
        </p:txBody>
      </p:sp>
      <p:sp>
        <p:nvSpPr>
          <p:cNvPr id="16" name="ts:inspirations#p2/text"/>
          <p:cNvSpPr txBox="1"/>
          <p:nvPr/>
        </p:nvSpPr>
        <p:spPr>
          <a:xfrm>
            <a:off x="1043940" y="5537839"/>
            <a:ext cx="1012240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companies referenced for craft are Vercel, Resend, Stripe Press, Linear, and Cursor. The photographs come from Wikimedia Commons and are shown in grayscale.</a:t>
            </a:r>
            <a:endParaRPr lang="en-US" sz="900" dirty="0"/>
          </a:p>
        </p:txBody>
      </p:sp>
      <p:sp>
        <p:nvSpPr>
          <p:cNvPr id="17" name="ts:inspiration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13 / 85</a:t>
            </a:r>
            <a:endParaRPr lang="en-US" sz="780" dirty="0"/>
          </a:p>
        </p:txBody>
      </p:sp>
      <p:pic>
        <p:nvPicPr>
          <p:cNvPr id="18" name="ts:inspirations#sheet" descr="Visual referenc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nam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s:naming#title" hidden="1"/>
          <p:cNvSpPr txBox="1">
            <a:spLocks noGrp="1"/>
          </p:cNvSpPr>
          <p:nvPr>
            <p:ph type="title"/>
          </p:nvPr>
        </p:nvSpPr>
        <p:spPr>
          <a:xfrm>
            <a:off x="1043940" y="106756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name</a:t>
            </a:r>
            <a:endParaRPr lang="en-US" sz="2640" dirty="0"/>
          </a:p>
        </p:txBody>
      </p:sp>
      <p:sp>
        <p:nvSpPr>
          <p:cNvPr id="2" name="ts:naming#h/text"/>
          <p:cNvSpPr txBox="1"/>
          <p:nvPr/>
        </p:nvSpPr>
        <p:spPr>
          <a:xfrm>
            <a:off x="1043940" y="107138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name</a:t>
            </a:r>
            <a:endParaRPr lang="en-US" sz="2640" dirty="0"/>
          </a:p>
        </p:txBody>
      </p:sp>
      <p:sp>
        <p:nvSpPr>
          <p:cNvPr id="3" name="ts:naming#p1/text"/>
          <p:cNvSpPr txBox="1"/>
          <p:nvPr/>
        </p:nvSpPr>
        <p:spPr>
          <a:xfrm>
            <a:off x="1043940" y="170452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name General Translation was chosen for three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reasons, in priority order.</a:t>
            </a:r>
            <a:endParaRPr lang="en-US" sz="1320" dirty="0"/>
          </a:p>
        </p:txBody>
      </p:sp>
      <p:sp>
        <p:nvSpPr>
          <p:cNvPr id="4" name="ts:naming#p2/text"/>
          <p:cNvSpPr txBox="1"/>
          <p:nvPr/>
        </p:nvSpPr>
        <p:spPr>
          <a:xfrm>
            <a:off x="1043940" y="2344605"/>
            <a:ext cx="399973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is ambition. As with General Motors or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General Electric, the name signals the intent to be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leading company in the category.</a:t>
            </a:r>
            <a:endParaRPr lang="en-US" sz="1320" dirty="0"/>
          </a:p>
        </p:txBody>
      </p:sp>
      <p:sp>
        <p:nvSpPr>
          <p:cNvPr id="5" name="ts:naming#p3/text"/>
          <p:cNvSpPr txBox="1"/>
          <p:nvPr/>
        </p:nvSpPr>
        <p:spPr>
          <a:xfrm>
            <a:off x="1043940" y="3236145"/>
            <a:ext cx="399973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second is generality. General AI models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understand context and follow instructions better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than specialized translation models.</a:t>
            </a:r>
            <a:endParaRPr lang="en-US" sz="1320" dirty="0"/>
          </a:p>
        </p:txBody>
      </p:sp>
      <p:sp>
        <p:nvSpPr>
          <p:cNvPr id="6" name="ts:naming#p4/text"/>
          <p:cNvSpPr txBox="1"/>
          <p:nvPr/>
        </p:nvSpPr>
        <p:spPr>
          <a:xfrm>
            <a:off x="1043940" y="4127685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third is distinction. Most other localization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companies have names beginning with L.</a:t>
            </a:r>
            <a:endParaRPr lang="en-US" sz="1320" dirty="0"/>
          </a:p>
        </p:txBody>
      </p:sp>
      <p:sp>
        <p:nvSpPr>
          <p:cNvPr id="7" name="ts:naming#logos/items/0/name"/>
          <p:cNvSpPr txBox="1"/>
          <p:nvPr/>
        </p:nvSpPr>
        <p:spPr>
          <a:xfrm>
            <a:off x="1043940" y="5616439"/>
            <a:ext cx="11612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General Motors</a:t>
            </a:r>
            <a:endParaRPr lang="en-US" sz="900" dirty="0"/>
          </a:p>
        </p:txBody>
      </p:sp>
      <p:sp>
        <p:nvSpPr>
          <p:cNvPr id="8" name="ts:naming#logos/items/1/name"/>
          <p:cNvSpPr txBox="1"/>
          <p:nvPr/>
        </p:nvSpPr>
        <p:spPr>
          <a:xfrm>
            <a:off x="2339340" y="5616439"/>
            <a:ext cx="11612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General Electric</a:t>
            </a:r>
            <a:endParaRPr lang="en-US" sz="900" dirty="0"/>
          </a:p>
        </p:txBody>
      </p:sp>
      <p:sp>
        <p:nvSpPr>
          <p:cNvPr id="9" name="ts:naming#logos/items/2/name"/>
          <p:cNvSpPr txBox="1"/>
          <p:nvPr/>
        </p:nvSpPr>
        <p:spPr>
          <a:xfrm>
            <a:off x="3634740" y="5616439"/>
            <a:ext cx="1161288" cy="1600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General Translation</a:t>
            </a:r>
            <a:endParaRPr lang="en-US" sz="900" dirty="0"/>
          </a:p>
        </p:txBody>
      </p:sp>
      <p:grpSp>
        <p:nvGrpSpPr>
          <p:cNvPr id="28" name="rows/row/0"/>
          <p:cNvGrpSpPr/>
          <p:nvPr/>
        </p:nvGrpSpPr>
        <p:grpSpPr>
          <a:xfrm>
            <a:off x="5802630" y="1632006"/>
            <a:ext cx="5363718" cy="220980"/>
            <a:chOff x="5802630" y="1632006"/>
            <a:chExt cx="5363718" cy="220980"/>
          </a:xfrm>
        </p:grpSpPr>
        <p:sp>
          <p:nvSpPr>
            <p:cNvPr id="10" name="ts:naming#rows/items/0/key@rows/row/0"/>
            <p:cNvSpPr txBox="1"/>
            <p:nvPr/>
          </p:nvSpPr>
          <p:spPr>
            <a:xfrm>
              <a:off x="5802630" y="1632006"/>
              <a:ext cx="2075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General Translation</a:t>
              </a:r>
              <a:endParaRPr lang="en-US" sz="1200" dirty="0"/>
            </a:p>
          </p:txBody>
        </p:sp>
        <p:sp>
          <p:nvSpPr>
            <p:cNvPr id="11" name="ts:naming#rows/items/0/value@rows/row/0"/>
            <p:cNvSpPr txBox="1"/>
            <p:nvPr/>
          </p:nvSpPr>
          <p:spPr>
            <a:xfrm>
              <a:off x="8103870" y="163200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company.</a:t>
              </a:r>
              <a:endParaRPr lang="en-US" sz="1200" dirty="0"/>
            </a:p>
          </p:txBody>
        </p:sp>
      </p:grpSp>
      <p:grpSp>
        <p:nvGrpSpPr>
          <p:cNvPr id="29" name="rows/row/1"/>
          <p:cNvGrpSpPr/>
          <p:nvPr/>
        </p:nvGrpSpPr>
        <p:grpSpPr>
          <a:xfrm>
            <a:off x="5802630" y="2072137"/>
            <a:ext cx="5363718" cy="222809"/>
            <a:chOff x="5802630" y="2072137"/>
            <a:chExt cx="5363718" cy="222809"/>
          </a:xfrm>
        </p:grpSpPr>
        <p:sp>
          <p:nvSpPr>
            <p:cNvPr id="12" name="ts:naming#rows/items/1/key@rows/row/1"/>
            <p:cNvSpPr txBox="1"/>
            <p:nvPr/>
          </p:nvSpPr>
          <p:spPr>
            <a:xfrm>
              <a:off x="5802630" y="2072137"/>
              <a:ext cx="2075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15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GT</a:t>
              </a:r>
              <a:endParaRPr lang="en-US" sz="1200" dirty="0"/>
            </a:p>
          </p:txBody>
        </p:sp>
        <p:sp>
          <p:nvSpPr>
            <p:cNvPr id="13" name="ts:naming#rows/items/1/value@rows/row/1"/>
            <p:cNvSpPr txBox="1"/>
            <p:nvPr/>
          </p:nvSpPr>
          <p:spPr>
            <a:xfrm>
              <a:off x="8103870" y="207396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short form and the mark.</a:t>
              </a:r>
              <a:endParaRPr lang="en-US" sz="1200" dirty="0"/>
            </a:p>
          </p:txBody>
        </p:sp>
      </p:grpSp>
      <p:grpSp>
        <p:nvGrpSpPr>
          <p:cNvPr id="30" name="rows/row/2"/>
          <p:cNvGrpSpPr/>
          <p:nvPr/>
        </p:nvGrpSpPr>
        <p:grpSpPr>
          <a:xfrm>
            <a:off x="5802630" y="2515926"/>
            <a:ext cx="5363718" cy="220980"/>
            <a:chOff x="5802630" y="2515926"/>
            <a:chExt cx="5363718" cy="220980"/>
          </a:xfrm>
        </p:grpSpPr>
        <p:sp>
          <p:nvSpPr>
            <p:cNvPr id="14" name="ts:naming#rows/items/2/key@rows/row/2"/>
            <p:cNvSpPr txBox="1"/>
            <p:nvPr/>
          </p:nvSpPr>
          <p:spPr>
            <a:xfrm>
              <a:off x="5802630" y="2515926"/>
              <a:ext cx="2075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gt</a:t>
              </a:r>
              <a:endParaRPr lang="en-US" sz="1200" dirty="0"/>
            </a:p>
          </p:txBody>
        </p:sp>
        <p:sp>
          <p:nvSpPr>
            <p:cNvPr id="15" name="ts:naming#rows/items/2/value@rows/row/2"/>
            <p:cNvSpPr txBox="1"/>
            <p:nvPr/>
          </p:nvSpPr>
          <p:spPr>
            <a:xfrm>
              <a:off x="8103870" y="251592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open-source library and CLI.</a:t>
              </a:r>
              <a:endParaRPr lang="en-US" sz="1200" dirty="0"/>
            </a:p>
          </p:txBody>
        </p:sp>
      </p:grpSp>
      <p:grpSp>
        <p:nvGrpSpPr>
          <p:cNvPr id="31" name="rows/row/3"/>
          <p:cNvGrpSpPr/>
          <p:nvPr/>
        </p:nvGrpSpPr>
        <p:grpSpPr>
          <a:xfrm>
            <a:off x="5802630" y="2957886"/>
            <a:ext cx="5363718" cy="441960"/>
            <a:chOff x="5802630" y="2957886"/>
            <a:chExt cx="5363718" cy="441960"/>
          </a:xfrm>
        </p:grpSpPr>
        <p:sp>
          <p:nvSpPr>
            <p:cNvPr id="16" name="ts:naming#rows/items/3/key@rows/row/3"/>
            <p:cNvSpPr txBox="1"/>
            <p:nvPr/>
          </p:nvSpPr>
          <p:spPr>
            <a:xfrm>
              <a:off x="5802630" y="2957886"/>
              <a:ext cx="20756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gt-next, gt-react, gt-vue,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gt-node, gt-python</a:t>
              </a:r>
              <a:endParaRPr lang="en-US" sz="1200" dirty="0"/>
            </a:p>
          </p:txBody>
        </p:sp>
        <p:sp>
          <p:nvSpPr>
            <p:cNvPr id="17" name="ts:naming#rows/items/3/value@rows/row/3"/>
            <p:cNvSpPr txBox="1"/>
            <p:nvPr/>
          </p:nvSpPr>
          <p:spPr>
            <a:xfrm>
              <a:off x="8103870" y="295788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framework packages.</a:t>
              </a:r>
              <a:endParaRPr lang="en-US" sz="1200" dirty="0"/>
            </a:p>
          </p:txBody>
        </p:sp>
      </p:grpSp>
      <p:grpSp>
        <p:nvGrpSpPr>
          <p:cNvPr id="32" name="rows/row/4"/>
          <p:cNvGrpSpPr/>
          <p:nvPr/>
        </p:nvGrpSpPr>
        <p:grpSpPr>
          <a:xfrm>
            <a:off x="5802630" y="3620826"/>
            <a:ext cx="5363718" cy="220980"/>
            <a:chOff x="5802630" y="3620826"/>
            <a:chExt cx="5363718" cy="220980"/>
          </a:xfrm>
        </p:grpSpPr>
        <p:sp>
          <p:nvSpPr>
            <p:cNvPr id="18" name="ts:naming#rows/items/4/key@rows/row/4"/>
            <p:cNvSpPr txBox="1"/>
            <p:nvPr/>
          </p:nvSpPr>
          <p:spPr>
            <a:xfrm>
              <a:off x="5802630" y="3620826"/>
              <a:ext cx="2075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Locadex</a:t>
              </a:r>
              <a:endParaRPr lang="en-US" sz="1200" dirty="0"/>
            </a:p>
          </p:txBody>
        </p:sp>
        <p:sp>
          <p:nvSpPr>
            <p:cNvPr id="19" name="ts:naming#rows/items/4/value@rows/row/4"/>
            <p:cNvSpPr txBox="1"/>
            <p:nvPr/>
          </p:nvSpPr>
          <p:spPr>
            <a:xfrm>
              <a:off x="8103870" y="362082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AI agent product.</a:t>
              </a:r>
              <a:endParaRPr lang="en-US" sz="1200" dirty="0"/>
            </a:p>
          </p:txBody>
        </p:sp>
      </p:grpSp>
      <p:grpSp>
        <p:nvGrpSpPr>
          <p:cNvPr id="33" name="rows/row/5"/>
          <p:cNvGrpSpPr/>
          <p:nvPr/>
        </p:nvGrpSpPr>
        <p:grpSpPr>
          <a:xfrm>
            <a:off x="5802630" y="4062786"/>
            <a:ext cx="5363718" cy="220980"/>
            <a:chOff x="5802630" y="4062786"/>
            <a:chExt cx="5363718" cy="220980"/>
          </a:xfrm>
        </p:grpSpPr>
        <p:sp>
          <p:nvSpPr>
            <p:cNvPr id="20" name="ts:naming#rows/items/5/key@rows/row/5"/>
            <p:cNvSpPr txBox="1"/>
            <p:nvPr/>
          </p:nvSpPr>
          <p:spPr>
            <a:xfrm>
              <a:off x="5802630" y="4062786"/>
              <a:ext cx="2075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generaltranslation.com</a:t>
              </a:r>
              <a:endParaRPr lang="en-US" sz="1200" dirty="0"/>
            </a:p>
          </p:txBody>
        </p:sp>
        <p:sp>
          <p:nvSpPr>
            <p:cNvPr id="21" name="ts:naming#rows/items/5/value@rows/row/5"/>
            <p:cNvSpPr txBox="1"/>
            <p:nvPr/>
          </p:nvSpPr>
          <p:spPr>
            <a:xfrm>
              <a:off x="8103870" y="406278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domain.</a:t>
              </a:r>
              <a:endParaRPr lang="en-US" sz="1200" dirty="0"/>
            </a:p>
          </p:txBody>
        </p:sp>
      </p:grpSp>
      <p:grpSp>
        <p:nvGrpSpPr>
          <p:cNvPr id="34" name="rows/row/6"/>
          <p:cNvGrpSpPr/>
          <p:nvPr/>
        </p:nvGrpSpPr>
        <p:grpSpPr>
          <a:xfrm>
            <a:off x="5802630" y="4504746"/>
            <a:ext cx="5363718" cy="220980"/>
            <a:chOff x="5802630" y="4504746"/>
            <a:chExt cx="5363718" cy="220980"/>
          </a:xfrm>
        </p:grpSpPr>
        <p:sp>
          <p:nvSpPr>
            <p:cNvPr id="22" name="ts:naming#rows/items/6/key@rows/row/6"/>
            <p:cNvSpPr txBox="1"/>
            <p:nvPr/>
          </p:nvSpPr>
          <p:spPr>
            <a:xfrm>
              <a:off x="5802630" y="4504746"/>
              <a:ext cx="2075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prototemplate.com</a:t>
              </a:r>
              <a:endParaRPr lang="en-US" sz="1200" dirty="0"/>
            </a:p>
          </p:txBody>
        </p:sp>
        <p:sp>
          <p:nvSpPr>
            <p:cNvPr id="23" name="ts:naming#rows/items/6/value@rows/row/6"/>
            <p:cNvSpPr txBox="1"/>
            <p:nvPr/>
          </p:nvSpPr>
          <p:spPr>
            <a:xfrm>
              <a:off x="8103870" y="450474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design lab and the brand handoff site.</a:t>
              </a:r>
              <a:endParaRPr lang="en-US" sz="1200" dirty="0"/>
            </a:p>
          </p:txBody>
        </p:sp>
      </p:grpSp>
      <p:grpSp>
        <p:nvGrpSpPr>
          <p:cNvPr id="35" name="rows/row/7"/>
          <p:cNvGrpSpPr/>
          <p:nvPr/>
        </p:nvGrpSpPr>
        <p:grpSpPr>
          <a:xfrm>
            <a:off x="5802630" y="4946706"/>
            <a:ext cx="5363718" cy="220980"/>
            <a:chOff x="5802630" y="4946706"/>
            <a:chExt cx="5363718" cy="220980"/>
          </a:xfrm>
        </p:grpSpPr>
        <p:sp>
          <p:nvSpPr>
            <p:cNvPr id="24" name="ts:naming#rows/items/7/key@rows/row/7"/>
            <p:cNvSpPr txBox="1"/>
            <p:nvPr/>
          </p:nvSpPr>
          <p:spPr>
            <a:xfrm>
              <a:off x="5802630" y="4946706"/>
              <a:ext cx="2075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glyphfield.com</a:t>
              </a:r>
              <a:endParaRPr lang="en-US" sz="1200" dirty="0"/>
            </a:p>
          </p:txBody>
        </p:sp>
        <p:sp>
          <p:nvSpPr>
            <p:cNvPr id="25" name="ts:naming#rows/items/7/value@rows/row/7"/>
            <p:cNvSpPr txBox="1"/>
            <p:nvPr/>
          </p:nvSpPr>
          <p:spPr>
            <a:xfrm>
              <a:off x="8103870" y="4946706"/>
              <a:ext cx="306247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companion tooling site.</a:t>
              </a:r>
              <a:endParaRPr lang="en-US" sz="1200" dirty="0"/>
            </a:p>
          </p:txBody>
        </p:sp>
      </p:grpSp>
      <p:sp>
        <p:nvSpPr>
          <p:cNvPr id="26" name="ts:namin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14 / 85</a:t>
            </a:r>
            <a:endParaRPr lang="en-US" sz="780" dirty="0"/>
          </a:p>
        </p:txBody>
      </p:sp>
      <p:pic>
        <p:nvPicPr>
          <p:cNvPr id="27" name="ts:naming#sheet" descr="The nam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mark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ark#title" hidden="1"/>
          <p:cNvSpPr txBox="1">
            <a:spLocks noGrp="1"/>
          </p:cNvSpPr>
          <p:nvPr>
            <p:ph type="title"/>
          </p:nvPr>
        </p:nvSpPr>
        <p:spPr>
          <a:xfrm>
            <a:off x="6370320" y="2143887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mark</a:t>
            </a:r>
            <a:endParaRPr lang="en-US" sz="2640" dirty="0"/>
          </a:p>
        </p:txBody>
      </p:sp>
      <p:sp>
        <p:nvSpPr>
          <p:cNvPr id="2" name="ts:mark#h/text"/>
          <p:cNvSpPr txBox="1"/>
          <p:nvPr/>
        </p:nvSpPr>
        <p:spPr>
          <a:xfrm>
            <a:off x="6370320" y="2147709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mark</a:t>
            </a:r>
            <a:endParaRPr lang="en-US" sz="2640" dirty="0"/>
          </a:p>
        </p:txBody>
      </p:sp>
      <p:sp>
        <p:nvSpPr>
          <p:cNvPr id="3" name="ts:mark#p1/text"/>
          <p:cNvSpPr txBox="1"/>
          <p:nvPr/>
        </p:nvSpPr>
        <p:spPr>
          <a:xfrm>
            <a:off x="6370320" y="2780850"/>
            <a:ext cx="47960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monogram uses the same doubled-line construction as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rest of the system. It renders in a single color: black 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white or white on black. It uses no additional colors, gradients,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or shadows. On dark surfaces the mark inverts. The mark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ships only as vector geometry.</a:t>
            </a:r>
            <a:endParaRPr lang="en-US" sz="1320" dirty="0"/>
          </a:p>
        </p:txBody>
      </p:sp>
      <p:sp>
        <p:nvSpPr>
          <p:cNvPr id="4" name="ts:mark#p2/text"/>
          <p:cNvSpPr txBox="1"/>
          <p:nvPr/>
        </p:nvSpPr>
        <p:spPr>
          <a:xfrm>
            <a:off x="6370320" y="4362911"/>
            <a:ext cx="4049954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Locadex has its own mark under the same rules. It uses one color and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appears only where it has a function.</a:t>
            </a:r>
            <a:endParaRPr lang="en-US" sz="900" dirty="0"/>
          </a:p>
        </p:txBody>
      </p:sp>
      <p:sp>
        <p:nvSpPr>
          <p:cNvPr id="5" name="ts:mark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15 / 85</a:t>
            </a:r>
            <a:endParaRPr lang="en-US" sz="780" dirty="0"/>
          </a:p>
        </p:txBody>
      </p:sp>
      <p:pic>
        <p:nvPicPr>
          <p:cNvPr id="6" name="ts:mark#sheet" descr="The mark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 system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opener-design-system#title" hidden="1"/>
          <p:cNvSpPr txBox="1">
            <a:spLocks noGrp="1"/>
          </p:cNvSpPr>
          <p:nvPr>
            <p:ph type="title"/>
          </p:nvPr>
        </p:nvSpPr>
        <p:spPr>
          <a:xfrm>
            <a:off x="1242060" y="4269334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Design system</a:t>
            </a:r>
            <a:endParaRPr lang="en-US" sz="4320" dirty="0"/>
          </a:p>
        </p:txBody>
      </p:sp>
      <p:sp>
        <p:nvSpPr>
          <p:cNvPr id="2" name="ts:opener-design-system#h/text"/>
          <p:cNvSpPr txBox="1"/>
          <p:nvPr/>
        </p:nvSpPr>
        <p:spPr>
          <a:xfrm>
            <a:off x="1242060" y="4297314"/>
            <a:ext cx="526084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Design system</a:t>
            </a:r>
            <a:endParaRPr lang="en-US" sz="4320" dirty="0"/>
          </a:p>
        </p:txBody>
      </p:sp>
      <p:sp>
        <p:nvSpPr>
          <p:cNvPr id="3" name="ts:opener-design-system#p1/text"/>
          <p:cNvSpPr txBox="1"/>
          <p:nvPr/>
        </p:nvSpPr>
        <p:spPr>
          <a:xfrm>
            <a:off x="1242060" y="4924433"/>
            <a:ext cx="5260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section covers color, type, scripts, lines, diagrams, dither,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illustration, and motion.</a:t>
            </a:r>
            <a:endParaRPr lang="en-US" sz="1320" dirty="0"/>
          </a:p>
        </p:txBody>
      </p:sp>
      <p:sp>
        <p:nvSpPr>
          <p:cNvPr id="4" name="ts:opener-design-system#credit/text"/>
          <p:cNvSpPr txBox="1"/>
          <p:nvPr/>
        </p:nvSpPr>
        <p:spPr>
          <a:xfrm>
            <a:off x="1242060" y="5538829"/>
            <a:ext cx="52608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Chroma Flow, a Prototemplate direction</a:t>
            </a:r>
            <a:endParaRPr lang="en-US" sz="900" dirty="0"/>
          </a:p>
        </p:txBody>
      </p:sp>
      <p:sp>
        <p:nvSpPr>
          <p:cNvPr id="5" name="ts:opener-design-system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16 / 85</a:t>
            </a:r>
            <a:endParaRPr lang="en-US" sz="780" dirty="0"/>
          </a:p>
        </p:txBody>
      </p:sp>
      <p:pic>
        <p:nvPicPr>
          <p:cNvPr id="6" name="ts:opener-design-system#sheet" descr="Design system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mall siz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compression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Small sizes</a:t>
            </a:r>
            <a:endParaRPr lang="en-US" sz="2640" dirty="0"/>
          </a:p>
        </p:txBody>
      </p:sp>
      <p:sp>
        <p:nvSpPr>
          <p:cNvPr id="2" name="ts:compression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Small sizes</a:t>
            </a:r>
            <a:endParaRPr lang="en-US" sz="2640" dirty="0"/>
          </a:p>
        </p:txBody>
      </p:sp>
      <p:sp>
        <p:nvSpPr>
          <p:cNvPr id="3" name="ts:compression#p1/text"/>
          <p:cNvSpPr txBox="1"/>
          <p:nvPr/>
        </p:nvSpPr>
        <p:spPr>
          <a:xfrm>
            <a:off x="1043940" y="1450779"/>
            <a:ext cx="58673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Developers see the brand in a terminal as often as on the website. The mark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has to work as a favicon, in a CLI banner, in a README header, on an npm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page, and on the website.</a:t>
            </a:r>
            <a:endParaRPr lang="en-US" sz="1320" dirty="0"/>
          </a:p>
        </p:txBody>
      </p:sp>
      <p:sp>
        <p:nvSpPr>
          <p:cNvPr id="4" name="ts:compression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17 / 85</a:t>
            </a:r>
            <a:endParaRPr lang="en-US" sz="780" dirty="0"/>
          </a:p>
        </p:txBody>
      </p:sp>
      <p:pic>
        <p:nvPicPr>
          <p:cNvPr id="5" name="ts:compression#sheet" descr="Small siz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lor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s:colo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Color</a:t>
            </a:r>
            <a:endParaRPr lang="en-US" sz="2640" dirty="0"/>
          </a:p>
        </p:txBody>
      </p:sp>
      <p:sp>
        <p:nvSpPr>
          <p:cNvPr id="2" name="ts:color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Color</a:t>
            </a:r>
            <a:endParaRPr lang="en-US" sz="2640" dirty="0"/>
          </a:p>
        </p:txBody>
      </p:sp>
      <p:sp>
        <p:nvSpPr>
          <p:cNvPr id="3" name="ts:color#p1/text"/>
          <p:cNvSpPr txBox="1"/>
          <p:nvPr/>
        </p:nvSpPr>
        <p:spPr>
          <a:xfrm>
            <a:off x="1043940" y="1450779"/>
            <a:ext cx="586732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palette is four base colors and one accent color. Text is set in ink, paper,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or titanium. Every hairline is the text color at a lower opacity. The accent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appears on small elements such as active states and diagram highlights. It is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never a fill for large areas. Depth comes from lines and texture. Shadows are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not used.</a:t>
            </a:r>
            <a:endParaRPr lang="en-US" sz="1320" dirty="0"/>
          </a:p>
        </p:txBody>
      </p:sp>
      <p:sp>
        <p:nvSpPr>
          <p:cNvPr id="4" name="ts:color#swatches/items/0/name"/>
          <p:cNvSpPr txBox="1"/>
          <p:nvPr/>
        </p:nvSpPr>
        <p:spPr>
          <a:xfrm>
            <a:off x="1188720" y="3283641"/>
            <a:ext cx="1603248" cy="18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FFFFFF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Ink</a:t>
            </a:r>
            <a:endParaRPr lang="en-US" sz="1200" dirty="0"/>
          </a:p>
        </p:txBody>
      </p:sp>
      <p:sp>
        <p:nvSpPr>
          <p:cNvPr id="5" name="ts:color#swatches/items/1/name"/>
          <p:cNvSpPr txBox="1"/>
          <p:nvPr/>
        </p:nvSpPr>
        <p:spPr>
          <a:xfrm>
            <a:off x="3246120" y="3283641"/>
            <a:ext cx="1603248" cy="18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FFFFFF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Raised ink</a:t>
            </a:r>
            <a:endParaRPr lang="en-US" sz="1200" dirty="0"/>
          </a:p>
        </p:txBody>
      </p:sp>
      <p:sp>
        <p:nvSpPr>
          <p:cNvPr id="6" name="ts:color#swatches/items/2/name"/>
          <p:cNvSpPr txBox="1"/>
          <p:nvPr/>
        </p:nvSpPr>
        <p:spPr>
          <a:xfrm>
            <a:off x="5303520" y="3283641"/>
            <a:ext cx="1603248" cy="18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070707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Titanium</a:t>
            </a:r>
            <a:endParaRPr lang="en-US" sz="1200" dirty="0"/>
          </a:p>
        </p:txBody>
      </p:sp>
      <p:sp>
        <p:nvSpPr>
          <p:cNvPr id="7" name="ts:color#swatches/items/3/name"/>
          <p:cNvSpPr txBox="1"/>
          <p:nvPr/>
        </p:nvSpPr>
        <p:spPr>
          <a:xfrm>
            <a:off x="7360920" y="3283641"/>
            <a:ext cx="1603248" cy="18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070707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Paper</a:t>
            </a:r>
            <a:endParaRPr lang="en-US" sz="1200" dirty="0"/>
          </a:p>
        </p:txBody>
      </p:sp>
      <p:sp>
        <p:nvSpPr>
          <p:cNvPr id="8" name="ts:color#swatches/items/4/name"/>
          <p:cNvSpPr txBox="1"/>
          <p:nvPr/>
        </p:nvSpPr>
        <p:spPr>
          <a:xfrm>
            <a:off x="9418320" y="3283641"/>
            <a:ext cx="1603248" cy="1844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52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Accent</a:t>
            </a:r>
            <a:endParaRPr lang="en-US" sz="1200" dirty="0"/>
          </a:p>
        </p:txBody>
      </p:sp>
      <p:sp>
        <p:nvSpPr>
          <p:cNvPr id="9" name="ts:color#p2/text"/>
          <p:cNvSpPr txBox="1"/>
          <p:nvPr/>
        </p:nvSpPr>
        <p:spPr>
          <a:xfrm>
            <a:off x="1043940" y="5551783"/>
            <a:ext cx="1012240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opacity steps are the same in both themes and are drawn here in the current theme's ink. The site currently uses three blues: #2f5ce0 in the landing engine, #3b82f6 in the docs,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#2563eb on the blog. One should be chosen before the handoff.</a:t>
            </a:r>
            <a:endParaRPr lang="en-US" sz="900" dirty="0"/>
          </a:p>
        </p:txBody>
      </p:sp>
      <p:sp>
        <p:nvSpPr>
          <p:cNvPr id="10" name="ts:colo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18 / 85</a:t>
            </a:r>
            <a:endParaRPr lang="en-US" sz="780" dirty="0"/>
          </a:p>
        </p:txBody>
      </p:sp>
      <p:pic>
        <p:nvPicPr>
          <p:cNvPr id="11" name="ts:color#sheet" descr="Color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ypography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type#title" hidden="1"/>
          <p:cNvSpPr txBox="1">
            <a:spLocks noGrp="1"/>
          </p:cNvSpPr>
          <p:nvPr>
            <p:ph type="title"/>
          </p:nvPr>
        </p:nvSpPr>
        <p:spPr>
          <a:xfrm>
            <a:off x="1043940" y="2018157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Typography</a:t>
            </a:r>
            <a:endParaRPr lang="en-US" sz="2640" dirty="0"/>
          </a:p>
        </p:txBody>
      </p:sp>
      <p:sp>
        <p:nvSpPr>
          <p:cNvPr id="2" name="ts:type#h/text"/>
          <p:cNvSpPr txBox="1"/>
          <p:nvPr/>
        </p:nvSpPr>
        <p:spPr>
          <a:xfrm>
            <a:off x="1043940" y="2021979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Typography</a:t>
            </a:r>
            <a:endParaRPr lang="en-US" sz="2640" dirty="0"/>
          </a:p>
        </p:txBody>
      </p:sp>
      <p:sp>
        <p:nvSpPr>
          <p:cNvPr id="3" name="ts:type#p1/text"/>
          <p:cNvSpPr txBox="1"/>
          <p:nvPr/>
        </p:nvSpPr>
        <p:spPr>
          <a:xfrm>
            <a:off x="1043940" y="2655120"/>
            <a:ext cx="39997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Inter is the one typeface for display, interface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text, loaded as one variable file with an optical size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axis. Headings use weight 500 at most. Long-form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text and documentation are set at weight 400.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Monospace is used only for code, tokens,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technical labels.</a:t>
            </a:r>
            <a:endParaRPr lang="en-US" sz="1320" dirty="0"/>
          </a:p>
        </p:txBody>
      </p:sp>
      <p:sp>
        <p:nvSpPr>
          <p:cNvPr id="4" name="ts:type#p2/text"/>
          <p:cNvSpPr txBox="1"/>
          <p:nvPr/>
        </p:nvSpPr>
        <p:spPr>
          <a:xfrm>
            <a:off x="1043940" y="4488641"/>
            <a:ext cx="399973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This is the working typeface going into the identity project. It is not a final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decision. Alternatives remain open if they cover the required scripts.</a:t>
            </a:r>
            <a:endParaRPr lang="en-US" sz="900" dirty="0"/>
          </a:p>
        </p:txBody>
      </p:sp>
      <p:sp>
        <p:nvSpPr>
          <p:cNvPr id="5" name="ts:type#spec/textRow"/>
          <p:cNvSpPr txBox="1"/>
          <p:nvPr/>
        </p:nvSpPr>
        <p:spPr>
          <a:xfrm>
            <a:off x="5574030" y="4844344"/>
            <a:ext cx="5592318" cy="5119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Text</a:t>
            </a:r>
            <a:pPr algn="l" indent="0" marL="0">
              <a:lnSpc>
                <a:spcPts val="2016"/>
              </a:lnSpc>
              <a:buNone/>
            </a:pPr>
            <a:r>
              <a:rPr lang="en-US" sz="900" spc="3134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 </a:t>
            </a:r>
            <a:pPr algn="l" indent="0" marL="0">
              <a:lnSpc>
                <a:spcPts val="2016"/>
              </a:lnSpc>
              <a:buNone/>
            </a:pPr>
            <a:r>
              <a:rPr lang="en-US" sz="180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Long-form reading, documentation, captions,</a:t>
            </a:r>
            <a:br/>
            <a:pPr algn="l" indent="0" marL="0">
              <a:lnSpc>
                <a:spcPts val="2016"/>
              </a:lnSpc>
              <a:buNone/>
            </a:pPr>
            <a:r>
              <a:rPr lang="en-US" sz="180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table cells.</a:t>
            </a:r>
            <a:endParaRPr lang="en-US" sz="900" dirty="0"/>
          </a:p>
        </p:txBody>
      </p:sp>
      <p:sp>
        <p:nvSpPr>
          <p:cNvPr id="6" name="ts:typ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19 / 85</a:t>
            </a:r>
            <a:endParaRPr lang="en-US" sz="780" dirty="0"/>
          </a:p>
        </p:txBody>
      </p:sp>
      <p:pic>
        <p:nvPicPr>
          <p:cNvPr id="7" name="ts:type#sheet" descr="Typography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cript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s:multilingual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Scripts</a:t>
            </a:r>
            <a:endParaRPr lang="en-US" sz="2640" dirty="0"/>
          </a:p>
        </p:txBody>
      </p:sp>
      <p:sp>
        <p:nvSpPr>
          <p:cNvPr id="2" name="ts:multilingual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Scripts</a:t>
            </a:r>
            <a:endParaRPr lang="en-US" sz="2640" dirty="0"/>
          </a:p>
        </p:txBody>
      </p:sp>
      <p:sp>
        <p:nvSpPr>
          <p:cNvPr id="3" name="ts:multilingual#p1/text"/>
          <p:cNvSpPr txBox="1"/>
          <p:nvPr/>
        </p:nvSpPr>
        <p:spPr>
          <a:xfrm>
            <a:off x="1043940" y="1450779"/>
            <a:ext cx="58673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Headlines, interface text, and marks have to hold up in CJK, RTL, and Indic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scripts as well as Latin.</a:t>
            </a:r>
            <a:endParaRPr lang="en-US" sz="1320" dirty="0"/>
          </a:p>
        </p:txBody>
      </p:sp>
      <p:sp>
        <p:nvSpPr>
          <p:cNvPr id="4" name="ts:multilingual#lang/items/0/text"/>
          <p:cNvSpPr txBox="1"/>
          <p:nvPr/>
        </p:nvSpPr>
        <p:spPr>
          <a:xfrm>
            <a:off x="1043940" y="3203316"/>
            <a:ext cx="4826508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Every product in every language.</a:t>
            </a:r>
            <a:pPr algn="l" indent="0" marL="0">
              <a:lnSpc>
                <a:spcPts val="2652"/>
              </a:lnSpc>
              <a:buNone/>
            </a:pPr>
            <a:r>
              <a:rPr lang="en-US" sz="2040" spc="6173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 </a:t>
            </a:r>
            <a:pPr algn="l" indent="0" marL="0">
              <a:lnSpc>
                <a:spcPts val="2652"/>
              </a:lnSpc>
              <a:buNone/>
            </a:pPr>
            <a:r>
              <a:rPr lang="en-US" sz="900" spc="-2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English</a:t>
            </a:r>
            <a:endParaRPr lang="en-US" sz="2040" dirty="0"/>
          </a:p>
        </p:txBody>
      </p:sp>
      <p:sp>
        <p:nvSpPr>
          <p:cNvPr id="5" name="ts:multilingual#lang/items/1/text"/>
          <p:cNvSpPr txBox="1"/>
          <p:nvPr/>
        </p:nvSpPr>
        <p:spPr>
          <a:xfrm>
            <a:off x="6339840" y="3207126"/>
            <a:ext cx="4826508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全製品を、全言語で。</a:t>
            </a:r>
            <a:pPr algn="l" indent="0" marL="0">
              <a:lnSpc>
                <a:spcPts val="2652"/>
              </a:lnSpc>
              <a:buNone/>
            </a:pPr>
            <a:r>
              <a:rPr lang="en-US" sz="2040" spc="21352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 </a:t>
            </a:r>
            <a:pPr algn="l" indent="0" marL="0">
              <a:lnSpc>
                <a:spcPts val="2652"/>
              </a:lnSpc>
              <a:buNone/>
            </a:pPr>
            <a:r>
              <a:rPr lang="en-US" sz="900" spc="-2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Japanese</a:t>
            </a:r>
            <a:endParaRPr lang="en-US" sz="2040" dirty="0"/>
          </a:p>
        </p:txBody>
      </p:sp>
      <p:sp>
        <p:nvSpPr>
          <p:cNvPr id="6" name="ts:multilingual#lang/items/2/text"/>
          <p:cNvSpPr txBox="1"/>
          <p:nvPr/>
        </p:nvSpPr>
        <p:spPr>
          <a:xfrm>
            <a:off x="1043940" y="3700064"/>
            <a:ext cx="4826508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Jedes Produkt in jeder Sprache.</a:t>
            </a:r>
            <a:pPr algn="l" indent="0" marL="0">
              <a:lnSpc>
                <a:spcPts val="2652"/>
              </a:lnSpc>
              <a:buNone/>
            </a:pPr>
            <a:r>
              <a:rPr lang="en-US" sz="2040" spc="6631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 </a:t>
            </a:r>
            <a:pPr algn="l" indent="0" marL="0">
              <a:lnSpc>
                <a:spcPts val="2652"/>
              </a:lnSpc>
              <a:buNone/>
            </a:pPr>
            <a:r>
              <a:rPr lang="en-US" sz="900" spc="-2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German</a:t>
            </a:r>
            <a:endParaRPr lang="en-US" sz="2040" dirty="0"/>
          </a:p>
        </p:txBody>
      </p:sp>
      <p:sp>
        <p:nvSpPr>
          <p:cNvPr id="7" name="ts:multilingual#lang/items/3/text"/>
          <p:cNvSpPr txBox="1"/>
          <p:nvPr/>
        </p:nvSpPr>
        <p:spPr>
          <a:xfrm>
            <a:off x="6339840" y="3703874"/>
            <a:ext cx="4826508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每一个产品，每一种语言。</a:t>
            </a:r>
            <a:pPr algn="l" indent="0" marL="0">
              <a:lnSpc>
                <a:spcPts val="2652"/>
              </a:lnSpc>
              <a:buNone/>
            </a:pPr>
            <a:r>
              <a:rPr lang="en-US" sz="2040" spc="19597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 </a:t>
            </a:r>
            <a:pPr algn="l" indent="0" marL="0">
              <a:lnSpc>
                <a:spcPts val="2652"/>
              </a:lnSpc>
              <a:buNone/>
            </a:pPr>
            <a:r>
              <a:rPr lang="en-US" sz="900" spc="-2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Chinese</a:t>
            </a:r>
            <a:endParaRPr lang="en-US" sz="2040" dirty="0"/>
          </a:p>
        </p:txBody>
      </p:sp>
      <p:sp>
        <p:nvSpPr>
          <p:cNvPr id="8" name="ts:multilingual#lang/items/4/text"/>
          <p:cNvSpPr txBox="1"/>
          <p:nvPr/>
        </p:nvSpPr>
        <p:spPr>
          <a:xfrm>
            <a:off x="1043940" y="4196812"/>
            <a:ext cx="4826508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Cada producto en cada idioma.</a:t>
            </a:r>
            <a:pPr algn="l" indent="0" marL="0">
              <a:lnSpc>
                <a:spcPts val="2652"/>
              </a:lnSpc>
              <a:buNone/>
            </a:pPr>
            <a:r>
              <a:rPr lang="en-US" sz="2040" spc="7078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 </a:t>
            </a:r>
            <a:pPr algn="l" indent="0" marL="0">
              <a:lnSpc>
                <a:spcPts val="2652"/>
              </a:lnSpc>
              <a:buNone/>
            </a:pPr>
            <a:r>
              <a:rPr lang="en-US" sz="900" spc="-2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Spanish</a:t>
            </a:r>
            <a:endParaRPr lang="en-US" sz="2040" dirty="0"/>
          </a:p>
        </p:txBody>
      </p:sp>
      <p:sp>
        <p:nvSpPr>
          <p:cNvPr id="9" name="ts:multilingual#lang/items/5/text"/>
          <p:cNvSpPr txBox="1"/>
          <p:nvPr/>
        </p:nvSpPr>
        <p:spPr>
          <a:xfrm>
            <a:off x="6339840" y="4200622"/>
            <a:ext cx="4826508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모든 제품을 모든 언어로.</a:t>
            </a:r>
            <a:pPr algn="l" indent="0" marL="0">
              <a:lnSpc>
                <a:spcPts val="2652"/>
              </a:lnSpc>
              <a:buNone/>
            </a:pPr>
            <a:r>
              <a:rPr lang="en-US" sz="2040" spc="2040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 </a:t>
            </a:r>
            <a:pPr algn="l" indent="0" marL="0">
              <a:lnSpc>
                <a:spcPts val="2652"/>
              </a:lnSpc>
              <a:buNone/>
            </a:pPr>
            <a:r>
              <a:rPr lang="en-US" sz="900" spc="-2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Korean</a:t>
            </a:r>
            <a:endParaRPr lang="en-US" sz="2040" dirty="0"/>
          </a:p>
        </p:txBody>
      </p:sp>
      <p:sp>
        <p:nvSpPr>
          <p:cNvPr id="10" name="ts:multilingual#lang/items/6/text"/>
          <p:cNvSpPr txBox="1"/>
          <p:nvPr/>
        </p:nvSpPr>
        <p:spPr>
          <a:xfrm>
            <a:off x="1043940" y="4697370"/>
            <a:ext cx="4826508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हर उत्पाद, हर भाषा में।</a:t>
            </a:r>
            <a:pPr algn="l" indent="0" marL="0">
              <a:lnSpc>
                <a:spcPts val="2652"/>
              </a:lnSpc>
              <a:buNone/>
            </a:pPr>
            <a:r>
              <a:rPr lang="en-US" sz="2040" spc="10937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 </a:t>
            </a:r>
            <a:pPr algn="l" indent="0" marL="0">
              <a:lnSpc>
                <a:spcPts val="2652"/>
              </a:lnSpc>
              <a:buNone/>
            </a:pPr>
            <a:r>
              <a:rPr lang="en-US" sz="900" spc="-2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Hindi</a:t>
            </a:r>
            <a:endParaRPr lang="en-US" sz="2040" dirty="0"/>
          </a:p>
        </p:txBody>
      </p:sp>
      <p:sp>
        <p:nvSpPr>
          <p:cNvPr id="11" name="ts:multilingual#lang/items/7/text"/>
          <p:cNvSpPr txBox="1"/>
          <p:nvPr/>
        </p:nvSpPr>
        <p:spPr>
          <a:xfrm>
            <a:off x="6339840" y="4697370"/>
            <a:ext cx="4311777" cy="3368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52"/>
              </a:lnSpc>
              <a:buNone/>
            </a:pPr>
            <a:r>
              <a:rPr lang="en-US" sz="2040" spc="-20" dirty="0">
                <a:solidFill>
                  <a:srgbClr val="F2F2F0">
                    <a:alpha val="0"/>
                  </a:srgbClr>
                </a:solidFill>
                <a:latin typeface="GT Inter Text 26" pitchFamily="34" charset="0"/>
                <a:ea typeface="GT Inter Text 26" pitchFamily="34" charset="-122"/>
                <a:cs typeface="GT Inter Text 26" pitchFamily="34" charset="-120"/>
              </a:rPr>
              <a:t>كل منتج بكل لغة.</a:t>
            </a:r>
            <a:endParaRPr lang="en-US" sz="2040" dirty="0"/>
          </a:p>
        </p:txBody>
      </p:sp>
      <p:sp>
        <p:nvSpPr>
          <p:cNvPr id="12" name="ts:multilingual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20 / 85</a:t>
            </a:r>
            <a:endParaRPr lang="en-US" sz="780" dirty="0"/>
          </a:p>
        </p:txBody>
      </p:sp>
      <p:pic>
        <p:nvPicPr>
          <p:cNvPr id="13" name="ts:multilingual#sheet" descr="Script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ype scal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s:ladde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Type scale</a:t>
            </a:r>
            <a:endParaRPr lang="en-US" sz="2640" dirty="0"/>
          </a:p>
        </p:txBody>
      </p:sp>
      <p:sp>
        <p:nvSpPr>
          <p:cNvPr id="2" name="ts:ladder#h/text"/>
          <p:cNvSpPr txBox="1"/>
          <p:nvPr/>
        </p:nvSpPr>
        <p:spPr>
          <a:xfrm>
            <a:off x="1043940" y="985278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Type scale</a:t>
            </a:r>
            <a:endParaRPr lang="en-US" sz="2640" dirty="0"/>
          </a:p>
        </p:txBody>
      </p:sp>
      <p:sp>
        <p:nvSpPr>
          <p:cNvPr id="3" name="ts:ladder#p1/text"/>
          <p:cNvSpPr txBox="1"/>
          <p:nvPr/>
        </p:nvSpPr>
        <p:spPr>
          <a:xfrm>
            <a:off x="5574030" y="1066808"/>
            <a:ext cx="559231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Each page uses one type scale. Headings use weight 500 with negative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letter-spacing. On desktop the hero headline scales with the viewport up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 3.7rem. The accent color is never applied to a heading; emphasis is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doubled underline in the text color. Below 720px the hero is fixed at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2.5rem and every other size comes from the token ladder shown here.</a:t>
            </a:r>
            <a:endParaRPr lang="en-US" sz="1320" dirty="0"/>
          </a:p>
        </p:txBody>
      </p:sp>
      <p:sp>
        <p:nvSpPr>
          <p:cNvPr id="4" name="ts:ladder#ladder/rows/0/label"/>
          <p:cNvSpPr txBox="1"/>
          <p:nvPr/>
        </p:nvSpPr>
        <p:spPr>
          <a:xfrm>
            <a:off x="1043940" y="2992280"/>
            <a:ext cx="10122408" cy="569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488"/>
              </a:lnSpc>
              <a:buNone/>
            </a:pPr>
            <a:r>
              <a:rPr lang="en-US" sz="4080" spc="-155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Launch in every language</a:t>
            </a:r>
            <a:pPr algn="l" indent="0" marL="0">
              <a:lnSpc>
                <a:spcPts val="4488"/>
              </a:lnSpc>
              <a:buNone/>
            </a:pPr>
            <a:r>
              <a:rPr lang="en-US" sz="4080" spc="18237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 </a:t>
            </a:r>
            <a:pPr algn="l" indent="0" marL="0">
              <a:lnSpc>
                <a:spcPts val="4488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hero 3.7rem desktop, 2.5rem below 720px</a:t>
            </a:r>
            <a:endParaRPr lang="en-US" sz="4080" dirty="0"/>
          </a:p>
        </p:txBody>
      </p:sp>
      <p:sp>
        <p:nvSpPr>
          <p:cNvPr id="5" name="ts:ladder#ladder/rows/1/label"/>
          <p:cNvSpPr txBox="1"/>
          <p:nvPr/>
        </p:nvSpPr>
        <p:spPr>
          <a:xfrm>
            <a:off x="1043940" y="3664416"/>
            <a:ext cx="10122408" cy="352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520" spc="-38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Launch in every language</a:t>
            </a:r>
            <a:pPr algn="l" indent="0" marL="0">
              <a:lnSpc>
                <a:spcPts val="2772"/>
              </a:lnSpc>
              <a:buNone/>
            </a:pPr>
            <a:r>
              <a:rPr lang="en-US" sz="2520" spc="41795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 </a:t>
            </a:r>
            <a:pPr algn="l" indent="0" marL="0">
              <a:lnSpc>
                <a:spcPts val="2772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heading 2.25rem / 1.18</a:t>
            </a:r>
            <a:endParaRPr lang="en-US" sz="2520" dirty="0"/>
          </a:p>
        </p:txBody>
      </p:sp>
      <p:sp>
        <p:nvSpPr>
          <p:cNvPr id="6" name="ts:ladder#ladder/rows/2/label"/>
          <p:cNvSpPr txBox="1"/>
          <p:nvPr/>
        </p:nvSpPr>
        <p:spPr>
          <a:xfrm>
            <a:off x="1043940" y="4129363"/>
            <a:ext cx="10122408" cy="2179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16"/>
              </a:lnSpc>
              <a:buNone/>
            </a:pPr>
            <a:r>
              <a:rPr lang="en-US" sz="1560" spc="-23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Launch in every language</a:t>
            </a:r>
            <a:pPr algn="l" indent="0" marL="0">
              <a:lnSpc>
                <a:spcPts val="1716"/>
              </a:lnSpc>
              <a:buNone/>
            </a:pPr>
            <a:r>
              <a:rPr lang="en-US" sz="1560" spc="50457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 </a:t>
            </a:r>
            <a:pPr algn="l" indent="0" marL="0">
              <a:lnSpc>
                <a:spcPts val="1716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subheading 1.375rem / 1.3</a:t>
            </a:r>
            <a:endParaRPr lang="en-US" sz="1560" dirty="0"/>
          </a:p>
        </p:txBody>
      </p:sp>
      <p:sp>
        <p:nvSpPr>
          <p:cNvPr id="7" name="ts:ladder#ladder/rows/3/label"/>
          <p:cNvSpPr txBox="1"/>
          <p:nvPr/>
        </p:nvSpPr>
        <p:spPr>
          <a:xfrm>
            <a:off x="1043940" y="4463370"/>
            <a:ext cx="10122408" cy="176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86"/>
              </a:lnSpc>
              <a:buNone/>
            </a:pPr>
            <a:r>
              <a:rPr lang="en-US" sz="1260" spc="-19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Launch in every language</a:t>
            </a:r>
            <a:pPr algn="l" indent="0" marL="0">
              <a:lnSpc>
                <a:spcPts val="1386"/>
              </a:lnSpc>
              <a:buNone/>
            </a:pPr>
            <a:r>
              <a:rPr lang="en-US" sz="1260" spc="56671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 </a:t>
            </a:r>
            <a:pPr algn="l" indent="0" marL="0">
              <a:lnSpc>
                <a:spcPts val="1386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title 1.125rem / 1.35</a:t>
            </a:r>
            <a:endParaRPr lang="en-US" sz="1260" dirty="0"/>
          </a:p>
        </p:txBody>
      </p:sp>
      <p:sp>
        <p:nvSpPr>
          <p:cNvPr id="8" name="ts:ladder#ladder/rows/4/label"/>
          <p:cNvSpPr txBox="1"/>
          <p:nvPr/>
        </p:nvSpPr>
        <p:spPr>
          <a:xfrm>
            <a:off x="1043940" y="4754987"/>
            <a:ext cx="10122408" cy="167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2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Launch in every language</a:t>
            </a:r>
            <a:pPr algn="l" indent="0" marL="0">
              <a:lnSpc>
                <a:spcPts val="1320"/>
              </a:lnSpc>
              <a:buNone/>
            </a:pPr>
            <a:r>
              <a:rPr lang="en-US" sz="1200" spc="5868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 </a:t>
            </a:r>
            <a:pPr algn="l" indent="0" marL="0">
              <a:lnSpc>
                <a:spcPts val="1320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lead 17px / 1.55</a:t>
            </a:r>
            <a:endParaRPr lang="en-US" sz="1200" dirty="0"/>
          </a:p>
        </p:txBody>
      </p:sp>
      <p:sp>
        <p:nvSpPr>
          <p:cNvPr id="9" name="ts:ladder#ladder/rows/5/label"/>
          <p:cNvSpPr txBox="1"/>
          <p:nvPr/>
        </p:nvSpPr>
        <p:spPr>
          <a:xfrm>
            <a:off x="1043940" y="5030577"/>
            <a:ext cx="10122408" cy="1592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54"/>
              </a:lnSpc>
              <a:buNone/>
            </a:pPr>
            <a:r>
              <a:rPr lang="en-US" sz="1140" dirty="0">
                <a:solidFill>
                  <a:srgbClr val="F2F2F0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Launch in every language</a:t>
            </a:r>
            <a:pPr algn="l" indent="0" marL="0">
              <a:lnSpc>
                <a:spcPts val="1254"/>
              </a:lnSpc>
              <a:buNone/>
            </a:pPr>
            <a:r>
              <a:rPr lang="en-US" sz="1140" spc="59419" dirty="0">
                <a:solidFill>
                  <a:srgbClr val="F2F2F0">
                    <a:alpha val="0"/>
                  </a:srgbClr>
                </a:solidFill>
                <a:latin typeface="GT Inter Text 18" pitchFamily="34" charset="0"/>
                <a:ea typeface="GT Inter Text 18" pitchFamily="34" charset="-122"/>
                <a:cs typeface="GT Inter Text 18" pitchFamily="34" charset="-120"/>
              </a:rPr>
              <a:t> </a:t>
            </a:r>
            <a:pPr algn="l" indent="0" marL="0">
              <a:lnSpc>
                <a:spcPts val="1254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body 16px / 1.6</a:t>
            </a:r>
            <a:endParaRPr lang="en-US" sz="1140" dirty="0"/>
          </a:p>
        </p:txBody>
      </p:sp>
      <p:sp>
        <p:nvSpPr>
          <p:cNvPr id="10" name="ts:ladder#ladder/rows/6/label"/>
          <p:cNvSpPr txBox="1"/>
          <p:nvPr/>
        </p:nvSpPr>
        <p:spPr>
          <a:xfrm>
            <a:off x="1043940" y="5307266"/>
            <a:ext cx="10122408" cy="134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56"/>
              </a:lnSpc>
              <a:buNone/>
            </a:pPr>
            <a:r>
              <a:rPr lang="en-US" sz="960" dirty="0">
                <a:solidFill>
                  <a:srgbClr val="F2F2F0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Launch in every language</a:t>
            </a:r>
            <a:pPr algn="l" indent="0" marL="0">
              <a:lnSpc>
                <a:spcPts val="1056"/>
              </a:lnSpc>
              <a:buNone/>
            </a:pPr>
            <a:r>
              <a:rPr lang="en-US" sz="960" spc="60833" dirty="0">
                <a:solidFill>
                  <a:srgbClr val="F2F2F0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 </a:t>
            </a:r>
            <a:pPr algn="l" indent="0" marL="0">
              <a:lnSpc>
                <a:spcPts val="1056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small 14px / 1.55</a:t>
            </a:r>
            <a:endParaRPr lang="en-US" sz="960" dirty="0"/>
          </a:p>
        </p:txBody>
      </p:sp>
      <p:sp>
        <p:nvSpPr>
          <p:cNvPr id="11" name="ts:ladder#ladder/rows/7/label"/>
          <p:cNvSpPr txBox="1"/>
          <p:nvPr/>
        </p:nvSpPr>
        <p:spPr>
          <a:xfrm>
            <a:off x="1043940" y="5556546"/>
            <a:ext cx="10122408" cy="1257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Launch in every language</a:t>
            </a:r>
            <a:pPr algn="l" indent="0" marL="0">
              <a:lnSpc>
                <a:spcPts val="990"/>
              </a:lnSpc>
              <a:buNone/>
            </a:pPr>
            <a:r>
              <a:rPr lang="en-US" sz="900" spc="64230" dirty="0">
                <a:solidFill>
                  <a:srgbClr val="F2F2F0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 </a:t>
            </a:r>
            <a:pPr algn="l" indent="0" marL="0">
              <a:lnSpc>
                <a:spcPts val="990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label 13px</a:t>
            </a:r>
            <a:endParaRPr lang="en-US" sz="900" dirty="0"/>
          </a:p>
        </p:txBody>
      </p:sp>
      <p:sp>
        <p:nvSpPr>
          <p:cNvPr id="12" name="ts:ladd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21 / 85</a:t>
            </a:r>
            <a:endParaRPr lang="en-US" sz="780" dirty="0"/>
          </a:p>
        </p:txBody>
      </p:sp>
      <p:pic>
        <p:nvPicPr>
          <p:cNvPr id="13" name="ts:ladder#sheet" descr="Type scal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ine rul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lines#title" hidden="1"/>
          <p:cNvSpPr txBox="1">
            <a:spLocks noGrp="1"/>
          </p:cNvSpPr>
          <p:nvPr>
            <p:ph type="title"/>
          </p:nvPr>
        </p:nvSpPr>
        <p:spPr>
          <a:xfrm>
            <a:off x="1043940" y="1809521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Line rules</a:t>
            </a:r>
            <a:endParaRPr lang="en-US" sz="2640" dirty="0"/>
          </a:p>
        </p:txBody>
      </p:sp>
      <p:sp>
        <p:nvSpPr>
          <p:cNvPr id="2" name="ts:lines#h/text"/>
          <p:cNvSpPr txBox="1"/>
          <p:nvPr/>
        </p:nvSpPr>
        <p:spPr>
          <a:xfrm>
            <a:off x="1043940" y="181334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Line rules</a:t>
            </a:r>
            <a:endParaRPr lang="en-US" sz="2640" dirty="0"/>
          </a:p>
        </p:txBody>
      </p:sp>
      <p:sp>
        <p:nvSpPr>
          <p:cNvPr id="3" name="ts:lines#p1/text"/>
          <p:cNvSpPr txBox="1"/>
          <p:nvPr/>
        </p:nvSpPr>
        <p:spPr>
          <a:xfrm>
            <a:off x="1043940" y="2446485"/>
            <a:ext cx="3999738" cy="1760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line is drawn exactly once. Layout structure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comes from 1px hairlines. The row draws every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structural line, and a cell never draws a border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parallel to a row seam, so no line is doubled. Where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two hairlines cross, a small registration cross marks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intersection. It is the only decorative element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allowed at a junction.</a:t>
            </a:r>
            <a:endParaRPr lang="en-US" sz="1320" dirty="0"/>
          </a:p>
        </p:txBody>
      </p:sp>
      <p:sp>
        <p:nvSpPr>
          <p:cNvPr id="4" name="ts:lines#p2/text"/>
          <p:cNvSpPr txBox="1"/>
          <p:nvPr/>
        </p:nvSpPr>
        <p:spPr>
          <a:xfrm>
            <a:off x="1043940" y="4531542"/>
            <a:ext cx="399973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lint script reconstructs every rule from computed CSS and reports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doubled lines, missing seams, self-stacked borders, and low-contrast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seams before a page ships.</a:t>
            </a:r>
            <a:endParaRPr lang="en-US" sz="900" dirty="0"/>
          </a:p>
        </p:txBody>
      </p:sp>
      <p:sp>
        <p:nvSpPr>
          <p:cNvPr id="5" name="ts:lin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22 / 85</a:t>
            </a:r>
            <a:endParaRPr lang="en-US" sz="780" dirty="0"/>
          </a:p>
        </p:txBody>
      </p:sp>
      <p:pic>
        <p:nvPicPr>
          <p:cNvPr id="6" name="ts:lines#sheet" descr="Line rul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doubled lin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doubled-line#title" hidden="1"/>
          <p:cNvSpPr txBox="1">
            <a:spLocks noGrp="1"/>
          </p:cNvSpPr>
          <p:nvPr>
            <p:ph type="title"/>
          </p:nvPr>
        </p:nvSpPr>
        <p:spPr>
          <a:xfrm>
            <a:off x="1043940" y="1683791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doubled line</a:t>
            </a:r>
            <a:endParaRPr lang="en-US" sz="2640" dirty="0"/>
          </a:p>
        </p:txBody>
      </p:sp>
      <p:sp>
        <p:nvSpPr>
          <p:cNvPr id="2" name="ts:doubled-line#h/text"/>
          <p:cNvSpPr txBox="1"/>
          <p:nvPr/>
        </p:nvSpPr>
        <p:spPr>
          <a:xfrm>
            <a:off x="1043940" y="168761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doubled line</a:t>
            </a:r>
            <a:endParaRPr lang="en-US" sz="2640" dirty="0"/>
          </a:p>
        </p:txBody>
      </p:sp>
      <p:sp>
        <p:nvSpPr>
          <p:cNvPr id="3" name="ts:doubled-line#p1/text"/>
          <p:cNvSpPr txBox="1"/>
          <p:nvPr/>
        </p:nvSpPr>
        <p:spPr>
          <a:xfrm>
            <a:off x="1043940" y="2320755"/>
            <a:ext cx="399973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standard connector in diagrams is one SVG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path stroked twice: a wider stroke in the text color,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then a narrower stroke in the background color 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top. The result is two parallel 1.5px lines with a 3px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gap that follow any curve. An animated pulse is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third copy of the same path in the accent color.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Where paths join, the second stroke merges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junction into one clean pair.</a:t>
            </a:r>
            <a:endParaRPr lang="en-US" sz="1320" dirty="0"/>
          </a:p>
        </p:txBody>
      </p:sp>
      <p:sp>
        <p:nvSpPr>
          <p:cNvPr id="4" name="ts:doubled-line#p2/text"/>
          <p:cNvSpPr txBox="1"/>
          <p:nvPr/>
        </p:nvSpPr>
        <p:spPr>
          <a:xfrm>
            <a:off x="1043940" y="4657272"/>
            <a:ext cx="399973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gauge is 1.5px, the gap is 3px, and the strokes do not scale with the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drawing. Draw order is all outer strokes, then pulses, then all inner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strokes.</a:t>
            </a:r>
            <a:endParaRPr lang="en-US" sz="900" dirty="0"/>
          </a:p>
        </p:txBody>
      </p:sp>
      <p:sp>
        <p:nvSpPr>
          <p:cNvPr id="5" name="ts:doubled-lin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23 / 85</a:t>
            </a:r>
            <a:endParaRPr lang="en-US" sz="780" dirty="0"/>
          </a:p>
        </p:txBody>
      </p:sp>
      <p:pic>
        <p:nvPicPr>
          <p:cNvPr id="6" name="ts:doubled-line#sheet" descr="The doubled lin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Karahisari's calligraphy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calligraphy#title" hidden="1"/>
          <p:cNvSpPr txBox="1">
            <a:spLocks noGrp="1"/>
          </p:cNvSpPr>
          <p:nvPr>
            <p:ph type="title"/>
          </p:nvPr>
        </p:nvSpPr>
        <p:spPr>
          <a:xfrm>
            <a:off x="7078980" y="4000271"/>
            <a:ext cx="3870960" cy="3621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Karahisari's calligraphy</a:t>
            </a:r>
            <a:endParaRPr lang="en-US" sz="2640" dirty="0"/>
          </a:p>
        </p:txBody>
      </p:sp>
      <p:sp>
        <p:nvSpPr>
          <p:cNvPr id="2" name="ts:mood-calligraphy#h/text"/>
          <p:cNvSpPr txBox="1"/>
          <p:nvPr/>
        </p:nvSpPr>
        <p:spPr>
          <a:xfrm>
            <a:off x="7078980" y="4007446"/>
            <a:ext cx="38892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Karahisari's calligraphy</a:t>
            </a:r>
            <a:endParaRPr lang="en-US" sz="2640" dirty="0"/>
          </a:p>
        </p:txBody>
      </p:sp>
      <p:sp>
        <p:nvSpPr>
          <p:cNvPr id="3" name="ts:mood-calligraphy#p1/text"/>
          <p:cNvSpPr txBox="1"/>
          <p:nvPr/>
        </p:nvSpPr>
        <p:spPr>
          <a:xfrm>
            <a:off x="7078980" y="4421513"/>
            <a:ext cx="3889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sixteenth-century practice sheet where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letterforms are the whole design. The design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system makes the same choice: type carries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identity.</a:t>
            </a:r>
            <a:endParaRPr lang="en-US" sz="1320" dirty="0"/>
          </a:p>
        </p:txBody>
      </p:sp>
      <p:sp>
        <p:nvSpPr>
          <p:cNvPr id="4" name="ts:mood-calligraphy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Calligraphy: Ahmed Karahisari, 16th century, public domain</a:t>
            </a:r>
            <a:endParaRPr lang="en-US" sz="900" dirty="0"/>
          </a:p>
        </p:txBody>
      </p:sp>
      <p:sp>
        <p:nvSpPr>
          <p:cNvPr id="5" name="ts:mood-calligraphy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24 / 85</a:t>
            </a:r>
            <a:endParaRPr lang="en-US" sz="780" dirty="0"/>
          </a:p>
        </p:txBody>
      </p:sp>
      <p:pic>
        <p:nvPicPr>
          <p:cNvPr id="6" name="ts:mood-calligraphy#sheet" descr="Karahisari's calligraphy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agram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s:diagram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Diagrams</a:t>
            </a:r>
            <a:endParaRPr lang="en-US" sz="2640" dirty="0"/>
          </a:p>
        </p:txBody>
      </p:sp>
      <p:sp>
        <p:nvSpPr>
          <p:cNvPr id="2" name="ts:diagrams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Diagrams</a:t>
            </a:r>
            <a:endParaRPr lang="en-US" sz="2640" dirty="0"/>
          </a:p>
        </p:txBody>
      </p:sp>
      <p:sp>
        <p:nvSpPr>
          <p:cNvPr id="3" name="ts:diagrams#p1/text"/>
          <p:cNvSpPr txBox="1"/>
          <p:nvPr/>
        </p:nvSpPr>
        <p:spPr>
          <a:xfrm>
            <a:off x="1043940" y="1450779"/>
            <a:ext cx="1012240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diagram is an inline SVG drawn in one grammar. The rows state the grammar, and the four examples below follow it.</a:t>
            </a:r>
            <a:endParaRPr lang="en-US" sz="1320" dirty="0"/>
          </a:p>
        </p:txBody>
      </p:sp>
      <p:grpSp>
        <p:nvGrpSpPr>
          <p:cNvPr id="18" name="rows/row/0"/>
          <p:cNvGrpSpPr/>
          <p:nvPr/>
        </p:nvGrpSpPr>
        <p:grpSpPr>
          <a:xfrm>
            <a:off x="1043940" y="2099798"/>
            <a:ext cx="4826508" cy="441960"/>
            <a:chOff x="1043940" y="2099798"/>
            <a:chExt cx="4826508" cy="441960"/>
          </a:xfrm>
        </p:grpSpPr>
        <p:sp>
          <p:nvSpPr>
            <p:cNvPr id="4" name="ts:diagrams#rows/items/0/key@rows/row/0"/>
            <p:cNvSpPr txBox="1"/>
            <p:nvPr/>
          </p:nvSpPr>
          <p:spPr>
            <a:xfrm>
              <a:off x="1043940" y="2099798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Strokes</a:t>
              </a:r>
              <a:endParaRPr lang="en-US" sz="1200" dirty="0"/>
            </a:p>
          </p:txBody>
        </p:sp>
        <p:sp>
          <p:nvSpPr>
            <p:cNvPr id="5" name="ts:diagrams#rows/items/0/value@rows/row/0"/>
            <p:cNvSpPr txBox="1"/>
            <p:nvPr/>
          </p:nvSpPr>
          <p:spPr>
            <a:xfrm>
              <a:off x="2110740" y="2099798"/>
              <a:ext cx="375970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Lines are 1px or 1.5px in ink, the body text tone, or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hairline, with square caps and no rounded joins.</a:t>
              </a:r>
              <a:endParaRPr lang="en-US" sz="1200" dirty="0"/>
            </a:p>
          </p:txBody>
        </p:sp>
      </p:grpSp>
      <p:grpSp>
        <p:nvGrpSpPr>
          <p:cNvPr id="19" name="rows/row/1"/>
          <p:cNvGrpSpPr/>
          <p:nvPr/>
        </p:nvGrpSpPr>
        <p:grpSpPr>
          <a:xfrm>
            <a:off x="1043940" y="2701778"/>
            <a:ext cx="4826508" cy="441960"/>
            <a:chOff x="1043940" y="2701778"/>
            <a:chExt cx="4826508" cy="441960"/>
          </a:xfrm>
        </p:grpSpPr>
        <p:sp>
          <p:nvSpPr>
            <p:cNvPr id="6" name="ts:diagrams#rows/items/1/key@rows/row/1"/>
            <p:cNvSpPr txBox="1"/>
            <p:nvPr/>
          </p:nvSpPr>
          <p:spPr>
            <a:xfrm>
              <a:off x="1043940" y="2701778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Labels</a:t>
              </a:r>
              <a:endParaRPr lang="en-US" sz="1200" dirty="0"/>
            </a:p>
          </p:txBody>
        </p:sp>
        <p:sp>
          <p:nvSpPr>
            <p:cNvPr id="7" name="ts:diagrams#rows/items/1/value@rows/row/1"/>
            <p:cNvSpPr txBox="1"/>
            <p:nvPr/>
          </p:nvSpPr>
          <p:spPr>
            <a:xfrm>
              <a:off x="2110740" y="2701778"/>
              <a:ext cx="375970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Labels are 20px in the body text tone or 26px in ink,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always horizontal and 12px clear of any line.</a:t>
              </a:r>
              <a:endParaRPr lang="en-US" sz="1200" dirty="0"/>
            </a:p>
          </p:txBody>
        </p:sp>
      </p:grpSp>
      <p:grpSp>
        <p:nvGrpSpPr>
          <p:cNvPr id="20" name="rows/row/2"/>
          <p:cNvGrpSpPr/>
          <p:nvPr/>
        </p:nvGrpSpPr>
        <p:grpSpPr>
          <a:xfrm>
            <a:off x="1043940" y="3303758"/>
            <a:ext cx="4826508" cy="441960"/>
            <a:chOff x="1043940" y="3303758"/>
            <a:chExt cx="4826508" cy="441960"/>
          </a:xfrm>
        </p:grpSpPr>
        <p:sp>
          <p:nvSpPr>
            <p:cNvPr id="8" name="ts:diagrams#rows/items/2/key@rows/row/2"/>
            <p:cNvSpPr txBox="1"/>
            <p:nvPr/>
          </p:nvSpPr>
          <p:spPr>
            <a:xfrm>
              <a:off x="1043940" y="3303758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Markers</a:t>
              </a:r>
              <a:endParaRPr lang="en-US" sz="1200" dirty="0"/>
            </a:p>
          </p:txBody>
        </p:sp>
        <p:sp>
          <p:nvSpPr>
            <p:cNvPr id="9" name="ts:diagrams#rows/items/2/value@rows/row/2"/>
            <p:cNvSpPr txBox="1"/>
            <p:nvPr/>
          </p:nvSpPr>
          <p:spPr>
            <a:xfrm>
              <a:off x="2110740" y="3303758"/>
              <a:ext cx="375970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 value on a scale or a step on a flow is marked with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an 11px filled square in ink.</a:t>
              </a:r>
              <a:endParaRPr lang="en-US" sz="1200" dirty="0"/>
            </a:p>
          </p:txBody>
        </p:sp>
      </p:grpSp>
      <p:grpSp>
        <p:nvGrpSpPr>
          <p:cNvPr id="21" name="rows2/row/0"/>
          <p:cNvGrpSpPr/>
          <p:nvPr/>
        </p:nvGrpSpPr>
        <p:grpSpPr>
          <a:xfrm>
            <a:off x="6339840" y="2099798"/>
            <a:ext cx="4826508" cy="441960"/>
            <a:chOff x="6339840" y="2099798"/>
            <a:chExt cx="4826508" cy="441960"/>
          </a:xfrm>
        </p:grpSpPr>
        <p:sp>
          <p:nvSpPr>
            <p:cNvPr id="10" name="ts:diagrams#rows2/items/0/key@rows2/row/0"/>
            <p:cNvSpPr txBox="1"/>
            <p:nvPr/>
          </p:nvSpPr>
          <p:spPr>
            <a:xfrm>
              <a:off x="6339840" y="2099798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Arrowheads</a:t>
              </a:r>
              <a:endParaRPr lang="en-US" sz="1200" dirty="0"/>
            </a:p>
          </p:txBody>
        </p:sp>
        <p:sp>
          <p:nvSpPr>
            <p:cNvPr id="11" name="ts:diagrams#rows2/items/0/value@rows2/row/0"/>
            <p:cNvSpPr txBox="1"/>
            <p:nvPr/>
          </p:nvSpPr>
          <p:spPr>
            <a:xfrm>
              <a:off x="7406640" y="2099798"/>
              <a:ext cx="375970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Arrowheads are never drawn. Direction comes from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reading order, a marker, or a short tick.</a:t>
              </a:r>
              <a:endParaRPr lang="en-US" sz="1200" dirty="0"/>
            </a:p>
          </p:txBody>
        </p:sp>
      </p:grpSp>
      <p:grpSp>
        <p:nvGrpSpPr>
          <p:cNvPr id="22" name="rows2/row/1"/>
          <p:cNvGrpSpPr/>
          <p:nvPr/>
        </p:nvGrpSpPr>
        <p:grpSpPr>
          <a:xfrm>
            <a:off x="6339840" y="2701778"/>
            <a:ext cx="4826508" cy="441960"/>
            <a:chOff x="6339840" y="2701778"/>
            <a:chExt cx="4826508" cy="441960"/>
          </a:xfrm>
        </p:grpSpPr>
        <p:sp>
          <p:nvSpPr>
            <p:cNvPr id="12" name="ts:diagrams#rows2/items/1/key@rows2/row/1"/>
            <p:cNvSpPr txBox="1"/>
            <p:nvPr/>
          </p:nvSpPr>
          <p:spPr>
            <a:xfrm>
              <a:off x="6339840" y="2701778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Objects</a:t>
              </a:r>
              <a:endParaRPr lang="en-US" sz="1200" dirty="0"/>
            </a:p>
          </p:txBody>
        </p:sp>
        <p:sp>
          <p:nvSpPr>
            <p:cNvPr id="13" name="ts:diagrams#rows2/items/1/value@rows2/row/1"/>
            <p:cNvSpPr txBox="1"/>
            <p:nvPr/>
          </p:nvSpPr>
          <p:spPr>
            <a:xfrm>
              <a:off x="7406640" y="2701778"/>
              <a:ext cx="375970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Objects use one isometric projection at 30 degrees,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with faces shaded 4, 9, and 15 percent.</a:t>
              </a:r>
              <a:endParaRPr lang="en-US" sz="1200" dirty="0"/>
            </a:p>
          </p:txBody>
        </p:sp>
      </p:grpSp>
      <p:grpSp>
        <p:nvGrpSpPr>
          <p:cNvPr id="23" name="rows2/row/2"/>
          <p:cNvGrpSpPr/>
          <p:nvPr/>
        </p:nvGrpSpPr>
        <p:grpSpPr>
          <a:xfrm>
            <a:off x="6339840" y="3303758"/>
            <a:ext cx="4826508" cy="441960"/>
            <a:chOff x="6339840" y="3303758"/>
            <a:chExt cx="4826508" cy="441960"/>
          </a:xfrm>
        </p:grpSpPr>
        <p:sp>
          <p:nvSpPr>
            <p:cNvPr id="14" name="ts:diagrams#rows2/items/2/key@rows2/row/2"/>
            <p:cNvSpPr txBox="1"/>
            <p:nvPr/>
          </p:nvSpPr>
          <p:spPr>
            <a:xfrm>
              <a:off x="6339840" y="3303758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Links</a:t>
              </a:r>
              <a:endParaRPr lang="en-US" sz="1200" dirty="0"/>
            </a:p>
          </p:txBody>
        </p:sp>
        <p:sp>
          <p:nvSpPr>
            <p:cNvPr id="15" name="ts:diagrams#rows2/items/2/value@rows2/row/2"/>
            <p:cNvSpPr txBox="1"/>
            <p:nvPr/>
          </p:nvSpPr>
          <p:spPr>
            <a:xfrm>
              <a:off x="7406640" y="3303758"/>
              <a:ext cx="375970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Links between objects use the doubled connector.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Flows, axes, and scales use a single 1px line.</a:t>
              </a:r>
              <a:endParaRPr lang="en-US" sz="1200" dirty="0"/>
            </a:p>
          </p:txBody>
        </p:sp>
      </p:grpSp>
      <p:sp>
        <p:nvSpPr>
          <p:cNvPr id="16" name="ts:diagram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25 / 85</a:t>
            </a:r>
            <a:endParaRPr lang="en-US" sz="780" dirty="0"/>
          </a:p>
        </p:txBody>
      </p:sp>
      <p:pic>
        <p:nvPicPr>
          <p:cNvPr id="17" name="ts:diagrams#sheet" descr="Diagram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ther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dithe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Dither</a:t>
            </a:r>
            <a:endParaRPr lang="en-US" sz="2640" dirty="0"/>
          </a:p>
        </p:txBody>
      </p:sp>
      <p:sp>
        <p:nvSpPr>
          <p:cNvPr id="2" name="ts:dither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Dither</a:t>
            </a:r>
            <a:endParaRPr lang="en-US" sz="2640" dirty="0"/>
          </a:p>
        </p:txBody>
      </p:sp>
      <p:sp>
        <p:nvSpPr>
          <p:cNvPr id="3" name="ts:dither#p1/text"/>
          <p:cNvSpPr txBox="1"/>
          <p:nvPr/>
        </p:nvSpPr>
        <p:spPr>
          <a:xfrm>
            <a:off x="1043940" y="1450779"/>
            <a:ext cx="5867324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Tonal ramps use ordered dither instead of opacity. The two screens are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4 by 4 Bayer matrix and its 8 by 8 recursion, which gives 65 linear tone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levels. Coverage tiers are nested, so adjacent regions at different tiers form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exact ramps. Cells are square device pixels and stay 1-bit at any zoom level.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is the brand's only texture.</a:t>
            </a:r>
            <a:endParaRPr lang="en-US" sz="1320" dirty="0"/>
          </a:p>
        </p:txBody>
      </p:sp>
      <p:sp>
        <p:nvSpPr>
          <p:cNvPr id="4" name="ts:dither#p2/text"/>
          <p:cNvSpPr txBox="1"/>
          <p:nvPr/>
        </p:nvSpPr>
        <p:spPr>
          <a:xfrm>
            <a:off x="1043940" y="5144952"/>
            <a:ext cx="795832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ramp is drawn with the 8 by 8 screen and runs from solid ink on the left to paper on the right.</a:t>
            </a:r>
            <a:endParaRPr lang="en-US" sz="900" dirty="0"/>
          </a:p>
        </p:txBody>
      </p:sp>
      <p:sp>
        <p:nvSpPr>
          <p:cNvPr id="5" name="ts:dither#p3/text"/>
          <p:cNvSpPr txBox="1"/>
          <p:nvPr/>
        </p:nvSpPr>
        <p:spPr>
          <a:xfrm>
            <a:off x="9471660" y="5144952"/>
            <a:ext cx="169468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8 by 8 screen is built from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four offset copies of this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4 by 4 threshold matrix.</a:t>
            </a:r>
            <a:endParaRPr lang="en-US" sz="900" dirty="0"/>
          </a:p>
        </p:txBody>
      </p:sp>
      <p:sp>
        <p:nvSpPr>
          <p:cNvPr id="6" name="ts:dith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26 / 85</a:t>
            </a:r>
            <a:endParaRPr lang="en-US" sz="780" dirty="0"/>
          </a:p>
        </p:txBody>
      </p:sp>
      <p:pic>
        <p:nvPicPr>
          <p:cNvPr id="7" name="ts:dither#sheet" descr="Dither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Isometric illustration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iso#title" hidden="1"/>
          <p:cNvSpPr txBox="1">
            <a:spLocks noGrp="1"/>
          </p:cNvSpPr>
          <p:nvPr>
            <p:ph type="title"/>
          </p:nvPr>
        </p:nvSpPr>
        <p:spPr>
          <a:xfrm>
            <a:off x="1043940" y="1849526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Isometric illustration</a:t>
            </a:r>
            <a:endParaRPr lang="en-US" sz="2640" dirty="0"/>
          </a:p>
        </p:txBody>
      </p:sp>
      <p:sp>
        <p:nvSpPr>
          <p:cNvPr id="2" name="ts:iso#h/text"/>
          <p:cNvSpPr txBox="1"/>
          <p:nvPr/>
        </p:nvSpPr>
        <p:spPr>
          <a:xfrm>
            <a:off x="1043940" y="1853349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Isometric illustration</a:t>
            </a:r>
            <a:endParaRPr lang="en-US" sz="2640" dirty="0"/>
          </a:p>
        </p:txBody>
      </p:sp>
      <p:sp>
        <p:nvSpPr>
          <p:cNvPr id="3" name="ts:iso#p1/text"/>
          <p:cNvSpPr txBox="1"/>
          <p:nvPr/>
        </p:nvSpPr>
        <p:spPr>
          <a:xfrm>
            <a:off x="1043940" y="2486490"/>
            <a:ext cx="399973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All illustrations use one isometric projection.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projection is axonometric at 30 degrees,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light comes from the upper left. Three faces are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visible, shaded at 4, 9, and 15 percent. The whole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family uses square corners. Marks are rendered as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alpha masks so they take the surface color,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only animated effect is a Bayer-dithered highlight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sweep.</a:t>
            </a:r>
            <a:endParaRPr lang="en-US" sz="1320" dirty="0"/>
          </a:p>
        </p:txBody>
      </p:sp>
      <p:sp>
        <p:nvSpPr>
          <p:cNvPr id="4" name="ts:iso#p2/text"/>
          <p:cNvSpPr txBox="1"/>
          <p:nvPr/>
        </p:nvSpPr>
        <p:spPr>
          <a:xfrm>
            <a:off x="1043940" y="4823007"/>
            <a:ext cx="399973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project(x, y, z) = [(x - y) cos 30, (x + y) sin 30 - z]</a:t>
            </a:r>
            <a:endParaRPr lang="en-US" sz="900" dirty="0"/>
          </a:p>
        </p:txBody>
      </p:sp>
      <p:sp>
        <p:nvSpPr>
          <p:cNvPr id="5" name="ts:iso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27 / 85</a:t>
            </a:r>
            <a:endParaRPr lang="en-US" sz="780" dirty="0"/>
          </a:p>
        </p:txBody>
      </p:sp>
      <p:pic>
        <p:nvPicPr>
          <p:cNvPr id="6" name="ts:iso#sheet" descr="Isometric illustration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imated text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s:language-as-material#title" hidden="1"/>
          <p:cNvSpPr txBox="1">
            <a:spLocks noGrp="1"/>
          </p:cNvSpPr>
          <p:nvPr>
            <p:ph type="title"/>
          </p:nvPr>
        </p:nvSpPr>
        <p:spPr>
          <a:xfrm>
            <a:off x="1043940" y="1695145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Animated text</a:t>
            </a:r>
            <a:endParaRPr lang="en-US" sz="2640" dirty="0"/>
          </a:p>
        </p:txBody>
      </p:sp>
      <p:sp>
        <p:nvSpPr>
          <p:cNvPr id="2" name="ts:language-as-material#h/text"/>
          <p:cNvSpPr txBox="1"/>
          <p:nvPr/>
        </p:nvSpPr>
        <p:spPr>
          <a:xfrm>
            <a:off x="1043940" y="1698967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Animated text</a:t>
            </a:r>
            <a:endParaRPr lang="en-US" sz="2640" dirty="0"/>
          </a:p>
        </p:txBody>
      </p:sp>
      <p:sp>
        <p:nvSpPr>
          <p:cNvPr id="3" name="ts:language-as-material#p1/text"/>
          <p:cNvSpPr txBox="1"/>
          <p:nvPr/>
        </p:nvSpPr>
        <p:spPr>
          <a:xfrm>
            <a:off x="1043940" y="2332109"/>
            <a:ext cx="47960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Text is the primary animated element. The signature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animations are built from characters. A headline breaks into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individual glyphs and reassembles as the same sentence in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next language, using the same number of particles.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particle field of characters from eight writing systems resolves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into the word for language in each script in turn.</a:t>
            </a:r>
            <a:endParaRPr lang="en-US" sz="1320" dirty="0"/>
          </a:p>
        </p:txBody>
      </p:sp>
      <p:grpSp>
        <p:nvGrpSpPr>
          <p:cNvPr id="12" name="rows/row/0"/>
          <p:cNvGrpSpPr/>
          <p:nvPr/>
        </p:nvGrpSpPr>
        <p:grpSpPr>
          <a:xfrm>
            <a:off x="6598920" y="2515926"/>
            <a:ext cx="4567428" cy="441960"/>
            <a:chOff x="6598920" y="2515926"/>
            <a:chExt cx="4567428" cy="441960"/>
          </a:xfrm>
        </p:grpSpPr>
        <p:sp>
          <p:nvSpPr>
            <p:cNvPr id="4" name="ts:language-as-material#rows/items/0/key@rows/row/0"/>
            <p:cNvSpPr txBox="1"/>
            <p:nvPr/>
          </p:nvSpPr>
          <p:spPr>
            <a:xfrm>
              <a:off x="6598920" y="251592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Text node</a:t>
              </a:r>
              <a:endParaRPr lang="en-US" sz="1200" dirty="0"/>
            </a:p>
          </p:txBody>
        </p:sp>
        <p:sp>
          <p:nvSpPr>
            <p:cNvPr id="5" name="ts:language-as-material#rows/items/0/value@rows/row/0"/>
            <p:cNvSpPr txBox="1"/>
            <p:nvPr/>
          </p:nvSpPr>
          <p:spPr>
            <a:xfrm>
              <a:off x="7696200" y="2515926"/>
              <a:ext cx="347014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morphing unit is one shaped text node.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Per-character spans break Arabic joining.</a:t>
              </a:r>
              <a:endParaRPr lang="en-US" sz="1200" dirty="0"/>
            </a:p>
          </p:txBody>
        </p:sp>
      </p:grpSp>
      <p:grpSp>
        <p:nvGrpSpPr>
          <p:cNvPr id="13" name="rows/row/1"/>
          <p:cNvGrpSpPr/>
          <p:nvPr/>
        </p:nvGrpSpPr>
        <p:grpSpPr>
          <a:xfrm>
            <a:off x="6598920" y="3178866"/>
            <a:ext cx="4567428" cy="441960"/>
            <a:chOff x="6598920" y="3178866"/>
            <a:chExt cx="4567428" cy="441960"/>
          </a:xfrm>
        </p:grpSpPr>
        <p:sp>
          <p:nvSpPr>
            <p:cNvPr id="6" name="ts:language-as-material#rows/items/1/key@rows/row/1"/>
            <p:cNvSpPr txBox="1"/>
            <p:nvPr/>
          </p:nvSpPr>
          <p:spPr>
            <a:xfrm>
              <a:off x="6598920" y="317886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Width</a:t>
              </a:r>
              <a:endParaRPr lang="en-US" sz="1200" dirty="0"/>
            </a:p>
          </p:txBody>
        </p:sp>
        <p:sp>
          <p:nvSpPr>
            <p:cNvPr id="7" name="ts:language-as-material#rows/items/1/value@rows/row/1"/>
            <p:cNvSpPr txBox="1"/>
            <p:nvPr/>
          </p:nvSpPr>
          <p:spPr>
            <a:xfrm>
              <a:off x="7696200" y="3178866"/>
              <a:ext cx="347014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 hidden probe in the word's language sets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width. Only container width animates.</a:t>
              </a:r>
              <a:endParaRPr lang="en-US" sz="1200" dirty="0"/>
            </a:p>
          </p:txBody>
        </p:sp>
      </p:grpSp>
      <p:grpSp>
        <p:nvGrpSpPr>
          <p:cNvPr id="14" name="rows/row/2"/>
          <p:cNvGrpSpPr/>
          <p:nvPr/>
        </p:nvGrpSpPr>
        <p:grpSpPr>
          <a:xfrm>
            <a:off x="6598920" y="3841806"/>
            <a:ext cx="4567428" cy="441960"/>
            <a:chOff x="6598920" y="3841806"/>
            <a:chExt cx="4567428" cy="441960"/>
          </a:xfrm>
        </p:grpSpPr>
        <p:sp>
          <p:nvSpPr>
            <p:cNvPr id="8" name="ts:language-as-material#rows/items/2/key@rows/row/2"/>
            <p:cNvSpPr txBox="1"/>
            <p:nvPr/>
          </p:nvSpPr>
          <p:spPr>
            <a:xfrm>
              <a:off x="6598920" y="384180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Clock</a:t>
              </a:r>
              <a:endParaRPr lang="en-US" sz="1200" dirty="0"/>
            </a:p>
          </p:txBody>
        </p:sp>
        <p:sp>
          <p:nvSpPr>
            <p:cNvPr id="9" name="ts:language-as-material#rows/items/2/value@rows/row/2"/>
            <p:cNvSpPr txBox="1"/>
            <p:nvPr/>
          </p:nvSpPr>
          <p:spPr>
            <a:xfrm>
              <a:off x="7696200" y="3841806"/>
              <a:ext cx="347014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component has no timer. The host page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drives it, so every animation shares one clock.</a:t>
              </a:r>
              <a:endParaRPr lang="en-US" sz="1200" dirty="0"/>
            </a:p>
          </p:txBody>
        </p:sp>
      </p:grpSp>
      <p:sp>
        <p:nvSpPr>
          <p:cNvPr id="10" name="ts:language-as-material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28 / 85</a:t>
            </a:r>
            <a:endParaRPr lang="en-US" sz="780" dirty="0"/>
          </a:p>
        </p:txBody>
      </p:sp>
      <p:pic>
        <p:nvPicPr>
          <p:cNvPr id="11" name="ts:language-as-material#sheet" descr="Animated text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otion rul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s:motion#title" hidden="1"/>
          <p:cNvSpPr txBox="1">
            <a:spLocks noGrp="1"/>
          </p:cNvSpPr>
          <p:nvPr>
            <p:ph type="title"/>
          </p:nvPr>
        </p:nvSpPr>
        <p:spPr>
          <a:xfrm>
            <a:off x="1043940" y="2120189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Motion rules</a:t>
            </a:r>
            <a:endParaRPr lang="en-US" sz="2640" dirty="0"/>
          </a:p>
        </p:txBody>
      </p:sp>
      <p:sp>
        <p:nvSpPr>
          <p:cNvPr id="2" name="ts:motion#h/text"/>
          <p:cNvSpPr txBox="1"/>
          <p:nvPr/>
        </p:nvSpPr>
        <p:spPr>
          <a:xfrm>
            <a:off x="1043940" y="2124011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Motion rules</a:t>
            </a:r>
            <a:endParaRPr lang="en-US" sz="2640" dirty="0"/>
          </a:p>
        </p:txBody>
      </p:sp>
      <p:grpSp>
        <p:nvGrpSpPr>
          <p:cNvPr id="15" name="rows/row/0"/>
          <p:cNvGrpSpPr/>
          <p:nvPr/>
        </p:nvGrpSpPr>
        <p:grpSpPr>
          <a:xfrm>
            <a:off x="6598920" y="1852986"/>
            <a:ext cx="4567428" cy="441960"/>
            <a:chOff x="6598920" y="1852986"/>
            <a:chExt cx="4567428" cy="441960"/>
          </a:xfrm>
        </p:grpSpPr>
        <p:sp>
          <p:nvSpPr>
            <p:cNvPr id="3" name="ts:motion#rows/items/0/key@rows/row/0"/>
            <p:cNvSpPr txBox="1"/>
            <p:nvPr/>
          </p:nvSpPr>
          <p:spPr>
            <a:xfrm>
              <a:off x="6598920" y="185298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Entrance</a:t>
              </a:r>
              <a:endParaRPr lang="en-US" sz="1200" dirty="0"/>
            </a:p>
          </p:txBody>
        </p:sp>
        <p:sp>
          <p:nvSpPr>
            <p:cNvPr id="4" name="ts:motion#rows/items/0/value@rows/row/0"/>
            <p:cNvSpPr txBox="1"/>
            <p:nvPr/>
          </p:nvSpPr>
          <p:spPr>
            <a:xfrm>
              <a:off x="7985760" y="1852986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Content enters once with a 16px rise. It does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not re-animate when scrolling back up.</a:t>
              </a:r>
              <a:endParaRPr lang="en-US" sz="1200" dirty="0"/>
            </a:p>
          </p:txBody>
        </p:sp>
      </p:grpSp>
      <p:grpSp>
        <p:nvGrpSpPr>
          <p:cNvPr id="16" name="rows/row/1"/>
          <p:cNvGrpSpPr/>
          <p:nvPr/>
        </p:nvGrpSpPr>
        <p:grpSpPr>
          <a:xfrm>
            <a:off x="6598920" y="2515926"/>
            <a:ext cx="4567428" cy="441960"/>
            <a:chOff x="6598920" y="2515926"/>
            <a:chExt cx="4567428" cy="441960"/>
          </a:xfrm>
        </p:grpSpPr>
        <p:sp>
          <p:nvSpPr>
            <p:cNvPr id="5" name="ts:motion#rows/items/1/key@rows/row/1"/>
            <p:cNvSpPr txBox="1"/>
            <p:nvPr/>
          </p:nvSpPr>
          <p:spPr>
            <a:xfrm>
              <a:off x="6598920" y="2515926"/>
              <a:ext cx="11612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Paused by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default</a:t>
              </a:r>
              <a:endParaRPr lang="en-US" sz="1200" dirty="0"/>
            </a:p>
          </p:txBody>
        </p:sp>
        <p:sp>
          <p:nvSpPr>
            <p:cNvPr id="6" name="ts:motion#rows/items/1/value@rows/row/1"/>
            <p:cNvSpPr txBox="1"/>
            <p:nvPr/>
          </p:nvSpPr>
          <p:spPr>
            <a:xfrm>
              <a:off x="7985760" y="2515926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Every loop starts paused and plays only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while its section and tab are visible.</a:t>
              </a:r>
              <a:endParaRPr lang="en-US" sz="1200" dirty="0"/>
            </a:p>
          </p:txBody>
        </p:sp>
      </p:grpSp>
      <p:grpSp>
        <p:nvGrpSpPr>
          <p:cNvPr id="17" name="rows/row/2"/>
          <p:cNvGrpSpPr/>
          <p:nvPr/>
        </p:nvGrpSpPr>
        <p:grpSpPr>
          <a:xfrm>
            <a:off x="6598920" y="3178866"/>
            <a:ext cx="4567428" cy="441960"/>
            <a:chOff x="6598920" y="3178866"/>
            <a:chExt cx="4567428" cy="441960"/>
          </a:xfrm>
        </p:grpSpPr>
        <p:sp>
          <p:nvSpPr>
            <p:cNvPr id="7" name="ts:motion#rows/items/2/key@rows/row/2"/>
            <p:cNvSpPr txBox="1"/>
            <p:nvPr/>
          </p:nvSpPr>
          <p:spPr>
            <a:xfrm>
              <a:off x="6598920" y="317886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Timeline</a:t>
              </a:r>
              <a:endParaRPr lang="en-US" sz="1200" dirty="0"/>
            </a:p>
          </p:txBody>
        </p:sp>
        <p:sp>
          <p:nvSpPr>
            <p:cNvPr id="8" name="ts:motion#rows/items/2/value@rows/row/2"/>
            <p:cNvSpPr txBox="1"/>
            <p:nvPr/>
          </p:nvSpPr>
          <p:spPr>
            <a:xfrm>
              <a:off x="7985760" y="3178866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Multi-step choreography runs on one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timeline so steps cannot drift out of sync.</a:t>
              </a:r>
              <a:endParaRPr lang="en-US" sz="1200" dirty="0"/>
            </a:p>
          </p:txBody>
        </p:sp>
      </p:grpSp>
      <p:grpSp>
        <p:nvGrpSpPr>
          <p:cNvPr id="18" name="rows/row/3"/>
          <p:cNvGrpSpPr/>
          <p:nvPr/>
        </p:nvGrpSpPr>
        <p:grpSpPr>
          <a:xfrm>
            <a:off x="6598920" y="3841806"/>
            <a:ext cx="4567428" cy="441960"/>
            <a:chOff x="6598920" y="3841806"/>
            <a:chExt cx="4567428" cy="441960"/>
          </a:xfrm>
        </p:grpSpPr>
        <p:sp>
          <p:nvSpPr>
            <p:cNvPr id="9" name="ts:motion#rows/items/3/key@rows/row/3"/>
            <p:cNvSpPr txBox="1"/>
            <p:nvPr/>
          </p:nvSpPr>
          <p:spPr>
            <a:xfrm>
              <a:off x="6598920" y="384180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Reduced motion</a:t>
              </a:r>
              <a:endParaRPr lang="en-US" sz="1200" dirty="0"/>
            </a:p>
          </p:txBody>
        </p:sp>
        <p:sp>
          <p:nvSpPr>
            <p:cNvPr id="10" name="ts:motion#rows/items/3/value@rows/row/3"/>
            <p:cNvSpPr txBox="1"/>
            <p:nvPr/>
          </p:nvSpPr>
          <p:spPr>
            <a:xfrm>
              <a:off x="7985760" y="3841806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Under prefers-reduced-motion, nothing is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animated. The markup is the final frame.</a:t>
              </a:r>
              <a:endParaRPr lang="en-US" sz="1200" dirty="0"/>
            </a:p>
          </p:txBody>
        </p:sp>
      </p:grpSp>
      <p:grpSp>
        <p:nvGrpSpPr>
          <p:cNvPr id="19" name="rows/row/4"/>
          <p:cNvGrpSpPr/>
          <p:nvPr/>
        </p:nvGrpSpPr>
        <p:grpSpPr>
          <a:xfrm>
            <a:off x="6598920" y="4504746"/>
            <a:ext cx="4567428" cy="441960"/>
            <a:chOff x="6598920" y="4504746"/>
            <a:chExt cx="4567428" cy="441960"/>
          </a:xfrm>
        </p:grpSpPr>
        <p:sp>
          <p:nvSpPr>
            <p:cNvPr id="11" name="ts:motion#rows/items/4/key@rows/row/4"/>
            <p:cNvSpPr txBox="1"/>
            <p:nvPr/>
          </p:nvSpPr>
          <p:spPr>
            <a:xfrm>
              <a:off x="6598920" y="450474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Native scroll</a:t>
              </a:r>
              <a:endParaRPr lang="en-US" sz="1200" dirty="0"/>
            </a:p>
          </p:txBody>
        </p:sp>
        <p:sp>
          <p:nvSpPr>
            <p:cNvPr id="12" name="ts:motion#rows/items/4/value@rows/row/4"/>
            <p:cNvSpPr txBox="1"/>
            <p:nvPr/>
          </p:nvSpPr>
          <p:spPr>
            <a:xfrm>
              <a:off x="7985760" y="4504746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browser scrolls. No library adds smooth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scrolling, scroll hijacking, or inertia.</a:t>
              </a:r>
              <a:endParaRPr lang="en-US" sz="1200" dirty="0"/>
            </a:p>
          </p:txBody>
        </p:sp>
      </p:grpSp>
      <p:sp>
        <p:nvSpPr>
          <p:cNvPr id="13" name="ts:motion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29 / 85</a:t>
            </a:r>
            <a:endParaRPr lang="en-US" sz="780" dirty="0"/>
          </a:p>
        </p:txBody>
      </p:sp>
      <p:pic>
        <p:nvPicPr>
          <p:cNvPr id="14" name="ts:motion#sheet" descr="Motion rul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nti-pattern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s:avoid#title" hidden="1"/>
          <p:cNvSpPr txBox="1">
            <a:spLocks noGrp="1"/>
          </p:cNvSpPr>
          <p:nvPr>
            <p:ph type="title"/>
          </p:nvPr>
        </p:nvSpPr>
        <p:spPr>
          <a:xfrm>
            <a:off x="1043940" y="2964942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Anti-patterns</a:t>
            </a:r>
            <a:endParaRPr lang="en-US" sz="2640" dirty="0"/>
          </a:p>
        </p:txBody>
      </p:sp>
      <p:sp>
        <p:nvSpPr>
          <p:cNvPr id="2" name="ts:avoid#h/text"/>
          <p:cNvSpPr txBox="1"/>
          <p:nvPr/>
        </p:nvSpPr>
        <p:spPr>
          <a:xfrm>
            <a:off x="1043940" y="296876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Anti-patterns</a:t>
            </a:r>
            <a:endParaRPr lang="en-US" sz="2640" dirty="0"/>
          </a:p>
        </p:txBody>
      </p:sp>
      <p:sp>
        <p:nvSpPr>
          <p:cNvPr id="3" name="ts:avoid#p1/text"/>
          <p:cNvSpPr txBox="1"/>
          <p:nvPr/>
        </p:nvSpPr>
        <p:spPr>
          <a:xfrm>
            <a:off x="1043940" y="3601905"/>
            <a:ext cx="399973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None of these appears on any </a:t>
            </a:r>
            <a:pPr algn="l" indent="0" marL="0">
              <a:lnSpc>
                <a:spcPts val="1980"/>
              </a:lnSpc>
              <a:buNone/>
            </a:pPr>
            <a:r>
              <a:rPr lang="en-US" sz="1320" spc="-116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GT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 surface.</a:t>
            </a:r>
            <a:endParaRPr lang="en-US" sz="1320" dirty="0"/>
          </a:p>
        </p:txBody>
      </p:sp>
      <p:sp>
        <p:nvSpPr>
          <p:cNvPr id="4" name="ts:avoid#list/items/0/text@list/item/0"/>
          <p:cNvSpPr txBox="1"/>
          <p:nvPr/>
        </p:nvSpPr>
        <p:spPr>
          <a:xfrm>
            <a:off x="5848350" y="1486894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Monospace is not the brand typeface.</a:t>
            </a:r>
            <a:endParaRPr lang="en-US" sz="1440" dirty="0"/>
          </a:p>
        </p:txBody>
      </p:sp>
      <p:sp>
        <p:nvSpPr>
          <p:cNvPr id="5" name="ts:avoid#list/items/1/text@list/item/1"/>
          <p:cNvSpPr txBox="1"/>
          <p:nvPr/>
        </p:nvSpPr>
        <p:spPr>
          <a:xfrm>
            <a:off x="5848350" y="1933349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Eyebrow labels are not used as decoration.</a:t>
            </a:r>
            <a:endParaRPr lang="en-US" sz="1440" dirty="0"/>
          </a:p>
        </p:txBody>
      </p:sp>
      <p:sp>
        <p:nvSpPr>
          <p:cNvPr id="6" name="ts:avoid#list/items/2/text@list/item/2"/>
          <p:cNvSpPr txBox="1"/>
          <p:nvPr/>
        </p:nvSpPr>
        <p:spPr>
          <a:xfrm>
            <a:off x="5848350" y="2379881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Smooth scrolling and scroll hijacking are not used.</a:t>
            </a:r>
            <a:endParaRPr lang="en-US" sz="1440" dirty="0"/>
          </a:p>
        </p:txBody>
      </p:sp>
      <p:sp>
        <p:nvSpPr>
          <p:cNvPr id="7" name="ts:avoid#list/items/3/text@list/item/3"/>
          <p:cNvSpPr txBox="1"/>
          <p:nvPr/>
        </p:nvSpPr>
        <p:spPr>
          <a:xfrm>
            <a:off x="5848350" y="2826337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Robot and sparkle iconography is not used to represent AI.</a:t>
            </a:r>
            <a:endParaRPr lang="en-US" sz="1440" dirty="0"/>
          </a:p>
        </p:txBody>
      </p:sp>
      <p:sp>
        <p:nvSpPr>
          <p:cNvPr id="8" name="ts:avoid#list/items/4/text@list/item/4"/>
          <p:cNvSpPr txBox="1"/>
          <p:nvPr/>
        </p:nvSpPr>
        <p:spPr>
          <a:xfrm>
            <a:off x="5848350" y="3272793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Flags are not used except as SVG chips next to locale codes.</a:t>
            </a:r>
            <a:endParaRPr lang="en-US" sz="1440" dirty="0"/>
          </a:p>
        </p:txBody>
      </p:sp>
      <p:sp>
        <p:nvSpPr>
          <p:cNvPr id="9" name="ts:avoid#list/items/5/text@list/item/5"/>
          <p:cNvSpPr txBox="1"/>
          <p:nvPr/>
        </p:nvSpPr>
        <p:spPr>
          <a:xfrm>
            <a:off x="5848350" y="3719325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Iridescent gradients are not used outside the horizon ring.</a:t>
            </a:r>
            <a:endParaRPr lang="en-US" sz="1440" dirty="0"/>
          </a:p>
        </p:txBody>
      </p:sp>
      <p:sp>
        <p:nvSpPr>
          <p:cNvPr id="10" name="ts:avoid#list/items/6/text@list/item/6"/>
          <p:cNvSpPr txBox="1"/>
          <p:nvPr/>
        </p:nvSpPr>
        <p:spPr>
          <a:xfrm>
            <a:off x="5848350" y="4165781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Glassmorphism is not used.</a:t>
            </a:r>
            <a:endParaRPr lang="en-US" sz="1440" dirty="0"/>
          </a:p>
        </p:txBody>
      </p:sp>
      <p:sp>
        <p:nvSpPr>
          <p:cNvPr id="11" name="ts:avoid#list/items/7/text@list/item/7"/>
          <p:cNvSpPr txBox="1"/>
          <p:nvPr/>
        </p:nvSpPr>
        <p:spPr>
          <a:xfrm>
            <a:off x="5848350" y="4612237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Em dashes do not appear in rendered text.</a:t>
            </a:r>
            <a:endParaRPr lang="en-US" sz="1440" dirty="0"/>
          </a:p>
        </p:txBody>
      </p:sp>
      <p:sp>
        <p:nvSpPr>
          <p:cNvPr id="12" name="ts:avoid#list/items/8/text@list/item/8"/>
          <p:cNvSpPr txBox="1"/>
          <p:nvPr/>
        </p:nvSpPr>
        <p:spPr>
          <a:xfrm>
            <a:off x="5848350" y="5058769"/>
            <a:ext cx="53179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Exclamation marks are not used.</a:t>
            </a:r>
            <a:endParaRPr lang="en-US" sz="1440" dirty="0"/>
          </a:p>
        </p:txBody>
      </p:sp>
      <p:sp>
        <p:nvSpPr>
          <p:cNvPr id="13" name="ts:avoi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30 / 85</a:t>
            </a:r>
            <a:endParaRPr lang="en-US" sz="780" dirty="0"/>
          </a:p>
        </p:txBody>
      </p:sp>
      <p:pic>
        <p:nvPicPr>
          <p:cNvPr id="14" name="ts:avoid#sheet" descr="Anti-pattern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Websit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opener-website#title" hidden="1"/>
          <p:cNvSpPr txBox="1">
            <a:spLocks noGrp="1"/>
          </p:cNvSpPr>
          <p:nvPr>
            <p:ph type="title"/>
          </p:nvPr>
        </p:nvSpPr>
        <p:spPr>
          <a:xfrm>
            <a:off x="1242060" y="4269334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Website</a:t>
            </a:r>
            <a:endParaRPr lang="en-US" sz="4320" dirty="0"/>
          </a:p>
        </p:txBody>
      </p:sp>
      <p:sp>
        <p:nvSpPr>
          <p:cNvPr id="2" name="ts:opener-website#h/text"/>
          <p:cNvSpPr txBox="1"/>
          <p:nvPr/>
        </p:nvSpPr>
        <p:spPr>
          <a:xfrm>
            <a:off x="1242060" y="4297314"/>
            <a:ext cx="526084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Website</a:t>
            </a:r>
            <a:endParaRPr lang="en-US" sz="4320" dirty="0"/>
          </a:p>
        </p:txBody>
      </p:sp>
      <p:sp>
        <p:nvSpPr>
          <p:cNvPr id="3" name="ts:opener-website#p1/text"/>
          <p:cNvSpPr txBox="1"/>
          <p:nvPr/>
        </p:nvSpPr>
        <p:spPr>
          <a:xfrm>
            <a:off x="1242060" y="4924433"/>
            <a:ext cx="5260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section covers the production site page by page, its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measurements, and its shaders.</a:t>
            </a:r>
            <a:endParaRPr lang="en-US" sz="1320" dirty="0"/>
          </a:p>
        </p:txBody>
      </p:sp>
      <p:sp>
        <p:nvSpPr>
          <p:cNvPr id="4" name="ts:opener-website#credit/text"/>
          <p:cNvSpPr txBox="1"/>
          <p:nvPr/>
        </p:nvSpPr>
        <p:spPr>
          <a:xfrm>
            <a:off x="1242060" y="5538829"/>
            <a:ext cx="52608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Glyph Rain, a Prototemplate direction</a:t>
            </a:r>
            <a:endParaRPr lang="en-US" sz="900" dirty="0"/>
          </a:p>
        </p:txBody>
      </p:sp>
      <p:sp>
        <p:nvSpPr>
          <p:cNvPr id="5" name="ts:opener-websit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31 / 85</a:t>
            </a:r>
            <a:endParaRPr lang="en-US" sz="780" dirty="0"/>
          </a:p>
        </p:txBody>
      </p:sp>
      <p:pic>
        <p:nvPicPr>
          <p:cNvPr id="6" name="ts:opener-website#sheet" descr="Websit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ublic surfac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s:surfaces#title" hidden="1"/>
          <p:cNvSpPr txBox="1">
            <a:spLocks noGrp="1"/>
          </p:cNvSpPr>
          <p:nvPr>
            <p:ph type="title"/>
          </p:nvPr>
        </p:nvSpPr>
        <p:spPr>
          <a:xfrm>
            <a:off x="1043940" y="2084832"/>
            <a:ext cx="29718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Public surfaces</a:t>
            </a:r>
            <a:endParaRPr lang="en-US" sz="2640" dirty="0"/>
          </a:p>
        </p:txBody>
      </p:sp>
      <p:sp>
        <p:nvSpPr>
          <p:cNvPr id="2" name="ts:surfaces#h/text"/>
          <p:cNvSpPr txBox="1"/>
          <p:nvPr/>
        </p:nvSpPr>
        <p:spPr>
          <a:xfrm>
            <a:off x="1043940" y="2088654"/>
            <a:ext cx="29900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Public surfaces</a:t>
            </a:r>
            <a:endParaRPr lang="en-US" sz="2640" dirty="0"/>
          </a:p>
        </p:txBody>
      </p:sp>
      <p:sp>
        <p:nvSpPr>
          <p:cNvPr id="3" name="ts:surfaces#p1/text"/>
          <p:cNvSpPr txBox="1"/>
          <p:nvPr/>
        </p:nvSpPr>
        <p:spPr>
          <a:xfrm>
            <a:off x="1043940" y="2721795"/>
            <a:ext cx="2990088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brand is live on these surfaces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today. The surface index in the viewer,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under Surfaces in the toolbar or the R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key, lists each one with a preview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link. 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prototemplate.com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brand directives and every exploration.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glyphfield.com</a:t>
            </a:r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 holds the design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motion tooling.</a:t>
            </a:r>
            <a:endParaRPr lang="en-US" sz="1320" dirty="0"/>
          </a:p>
        </p:txBody>
      </p:sp>
      <p:grpSp>
        <p:nvGrpSpPr>
          <p:cNvPr id="26" name="rows/row/0"/>
          <p:cNvGrpSpPr/>
          <p:nvPr/>
        </p:nvGrpSpPr>
        <p:grpSpPr>
          <a:xfrm>
            <a:off x="4792980" y="1190046"/>
            <a:ext cx="6373368" cy="220980"/>
            <a:chOff x="4792980" y="1190046"/>
            <a:chExt cx="6373368" cy="220980"/>
          </a:xfrm>
        </p:grpSpPr>
        <p:sp>
          <p:nvSpPr>
            <p:cNvPr id="4" name="ts:surfaces#rows/items/0/key@rows/row/0"/>
            <p:cNvSpPr txBox="1"/>
            <p:nvPr/>
          </p:nvSpPr>
          <p:spPr>
            <a:xfrm>
              <a:off x="4792980" y="119004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Landing</a:t>
              </a:r>
              <a:endParaRPr lang="en-US" sz="1200" dirty="0"/>
            </a:p>
          </p:txBody>
        </p:sp>
        <p:sp>
          <p:nvSpPr>
            <p:cNvPr id="5" name="ts:surfaces#rows/items/0/value@rows/row/0"/>
            <p:cNvSpPr txBox="1"/>
            <p:nvPr/>
          </p:nvSpPr>
          <p:spPr>
            <a:xfrm>
              <a:off x="6484620" y="119004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generaltranslation.com</a:t>
              </a:r>
              <a:endParaRPr lang="en-US" sz="1200" dirty="0"/>
            </a:p>
          </p:txBody>
        </p:sp>
      </p:grpSp>
      <p:grpSp>
        <p:nvGrpSpPr>
          <p:cNvPr id="27" name="rows/row/1"/>
          <p:cNvGrpSpPr/>
          <p:nvPr/>
        </p:nvGrpSpPr>
        <p:grpSpPr>
          <a:xfrm>
            <a:off x="4792980" y="1632006"/>
            <a:ext cx="6373368" cy="220980"/>
            <a:chOff x="4792980" y="1632006"/>
            <a:chExt cx="6373368" cy="220980"/>
          </a:xfrm>
        </p:grpSpPr>
        <p:sp>
          <p:nvSpPr>
            <p:cNvPr id="6" name="ts:surfaces#rows/items/1/key@rows/row/1"/>
            <p:cNvSpPr txBox="1"/>
            <p:nvPr/>
          </p:nvSpPr>
          <p:spPr>
            <a:xfrm>
              <a:off x="4792980" y="163200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Pricing</a:t>
              </a:r>
              <a:endParaRPr lang="en-US" sz="1200" dirty="0"/>
            </a:p>
          </p:txBody>
        </p:sp>
        <p:sp>
          <p:nvSpPr>
            <p:cNvPr id="7" name="ts:surfaces#rows/items/1/value@rows/row/1"/>
            <p:cNvSpPr txBox="1"/>
            <p:nvPr/>
          </p:nvSpPr>
          <p:spPr>
            <a:xfrm>
              <a:off x="6484620" y="163200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/pricing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spc="935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 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 and 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/pricing/usage</a:t>
              </a:r>
              <a:endParaRPr lang="en-US" sz="1200" dirty="0"/>
            </a:p>
          </p:txBody>
        </p:sp>
      </p:grpSp>
      <p:grpSp>
        <p:nvGrpSpPr>
          <p:cNvPr id="28" name="rows/row/2"/>
          <p:cNvGrpSpPr/>
          <p:nvPr/>
        </p:nvGrpSpPr>
        <p:grpSpPr>
          <a:xfrm>
            <a:off x="4792980" y="2073966"/>
            <a:ext cx="6373368" cy="220980"/>
            <a:chOff x="4792980" y="2073966"/>
            <a:chExt cx="6373368" cy="220980"/>
          </a:xfrm>
        </p:grpSpPr>
        <p:sp>
          <p:nvSpPr>
            <p:cNvPr id="8" name="ts:surfaces#rows/items/2/key@rows/row/2"/>
            <p:cNvSpPr txBox="1"/>
            <p:nvPr/>
          </p:nvSpPr>
          <p:spPr>
            <a:xfrm>
              <a:off x="4792980" y="207396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Enterprise</a:t>
              </a:r>
              <a:endParaRPr lang="en-US" sz="1200" dirty="0"/>
            </a:p>
          </p:txBody>
        </p:sp>
        <p:sp>
          <p:nvSpPr>
            <p:cNvPr id="9" name="ts:surfaces#rows/items/2/value@rows/row/2"/>
            <p:cNvSpPr txBox="1"/>
            <p:nvPr/>
          </p:nvSpPr>
          <p:spPr>
            <a:xfrm>
              <a:off x="6484620" y="207396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/enterprise</a:t>
              </a:r>
              <a:endParaRPr lang="en-US" sz="1200" dirty="0"/>
            </a:p>
          </p:txBody>
        </p:sp>
      </p:grpSp>
      <p:grpSp>
        <p:nvGrpSpPr>
          <p:cNvPr id="29" name="rows/row/3"/>
          <p:cNvGrpSpPr/>
          <p:nvPr/>
        </p:nvGrpSpPr>
        <p:grpSpPr>
          <a:xfrm>
            <a:off x="4792980" y="2515926"/>
            <a:ext cx="6373368" cy="220980"/>
            <a:chOff x="4792980" y="2515926"/>
            <a:chExt cx="6373368" cy="220980"/>
          </a:xfrm>
        </p:grpSpPr>
        <p:sp>
          <p:nvSpPr>
            <p:cNvPr id="10" name="ts:surfaces#rows/items/3/key@rows/row/3"/>
            <p:cNvSpPr txBox="1"/>
            <p:nvPr/>
          </p:nvSpPr>
          <p:spPr>
            <a:xfrm>
              <a:off x="4792980" y="251592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Careers</a:t>
              </a:r>
              <a:endParaRPr lang="en-US" sz="1200" dirty="0"/>
            </a:p>
          </p:txBody>
        </p:sp>
        <p:sp>
          <p:nvSpPr>
            <p:cNvPr id="11" name="ts:surfaces#rows/items/3/value@rows/row/3"/>
            <p:cNvSpPr txBox="1"/>
            <p:nvPr/>
          </p:nvSpPr>
          <p:spPr>
            <a:xfrm>
              <a:off x="6484620" y="251592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/careers</a:t>
              </a:r>
              <a:endParaRPr lang="en-US" sz="1200" dirty="0"/>
            </a:p>
          </p:txBody>
        </p:sp>
      </p:grpSp>
      <p:grpSp>
        <p:nvGrpSpPr>
          <p:cNvPr id="30" name="rows/row/4"/>
          <p:cNvGrpSpPr/>
          <p:nvPr/>
        </p:nvGrpSpPr>
        <p:grpSpPr>
          <a:xfrm>
            <a:off x="4792980" y="2957886"/>
            <a:ext cx="6373368" cy="220980"/>
            <a:chOff x="4792980" y="2957886"/>
            <a:chExt cx="6373368" cy="220980"/>
          </a:xfrm>
        </p:grpSpPr>
        <p:sp>
          <p:nvSpPr>
            <p:cNvPr id="12" name="ts:surfaces#rows/items/4/key@rows/row/4"/>
            <p:cNvSpPr txBox="1"/>
            <p:nvPr/>
          </p:nvSpPr>
          <p:spPr>
            <a:xfrm>
              <a:off x="4792980" y="295788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Documentation</a:t>
              </a:r>
              <a:endParaRPr lang="en-US" sz="1200" dirty="0"/>
            </a:p>
          </p:txBody>
        </p:sp>
        <p:sp>
          <p:nvSpPr>
            <p:cNvPr id="13" name="ts:surfaces#rows/items/4/value@rows/row/4"/>
            <p:cNvSpPr txBox="1"/>
            <p:nvPr/>
          </p:nvSpPr>
          <p:spPr>
            <a:xfrm>
              <a:off x="6484620" y="295788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/docs</a:t>
              </a:r>
              <a:endParaRPr lang="en-US" sz="1200" dirty="0"/>
            </a:p>
          </p:txBody>
        </p:sp>
      </p:grpSp>
      <p:grpSp>
        <p:nvGrpSpPr>
          <p:cNvPr id="31" name="rows/row/5"/>
          <p:cNvGrpSpPr/>
          <p:nvPr/>
        </p:nvGrpSpPr>
        <p:grpSpPr>
          <a:xfrm>
            <a:off x="4792980" y="3399846"/>
            <a:ext cx="6373368" cy="220980"/>
            <a:chOff x="4792980" y="3399846"/>
            <a:chExt cx="6373368" cy="220980"/>
          </a:xfrm>
        </p:grpSpPr>
        <p:sp>
          <p:nvSpPr>
            <p:cNvPr id="14" name="ts:surfaces#rows/items/5/key@rows/row/5"/>
            <p:cNvSpPr txBox="1"/>
            <p:nvPr/>
          </p:nvSpPr>
          <p:spPr>
            <a:xfrm>
              <a:off x="4792980" y="339984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Report card</a:t>
              </a:r>
              <a:endParaRPr lang="en-US" sz="1200" dirty="0"/>
            </a:p>
          </p:txBody>
        </p:sp>
        <p:sp>
          <p:nvSpPr>
            <p:cNvPr id="15" name="ts:surfaces#rows/items/5/value@rows/row/5"/>
            <p:cNvSpPr txBox="1"/>
            <p:nvPr/>
          </p:nvSpPr>
          <p:spPr>
            <a:xfrm>
              <a:off x="6484620" y="339984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/report-card</a:t>
              </a:r>
              <a:endParaRPr lang="en-US" sz="1200" dirty="0"/>
            </a:p>
          </p:txBody>
        </p:sp>
      </p:grpSp>
      <p:grpSp>
        <p:nvGrpSpPr>
          <p:cNvPr id="32" name="rows/row/6"/>
          <p:cNvGrpSpPr/>
          <p:nvPr/>
        </p:nvGrpSpPr>
        <p:grpSpPr>
          <a:xfrm>
            <a:off x="4792980" y="3841806"/>
            <a:ext cx="6373368" cy="220980"/>
            <a:chOff x="4792980" y="3841806"/>
            <a:chExt cx="6373368" cy="220980"/>
          </a:xfrm>
        </p:grpSpPr>
        <p:sp>
          <p:nvSpPr>
            <p:cNvPr id="16" name="ts:surfaces#rows/items/6/key@rows/row/6"/>
            <p:cNvSpPr txBox="1"/>
            <p:nvPr/>
          </p:nvSpPr>
          <p:spPr>
            <a:xfrm>
              <a:off x="4792980" y="384180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Blog and changelog</a:t>
              </a:r>
              <a:endParaRPr lang="en-US" sz="1200" dirty="0"/>
            </a:p>
          </p:txBody>
        </p:sp>
        <p:sp>
          <p:nvSpPr>
            <p:cNvPr id="17" name="ts:surfaces#rows/items/6/value@rows/row/6"/>
            <p:cNvSpPr txBox="1"/>
            <p:nvPr/>
          </p:nvSpPr>
          <p:spPr>
            <a:xfrm>
              <a:off x="6484620" y="384180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/blog</a:t>
              </a:r>
              <a:endParaRPr lang="en-US" sz="1200" dirty="0"/>
            </a:p>
          </p:txBody>
        </p:sp>
      </p:grpSp>
      <p:grpSp>
        <p:nvGrpSpPr>
          <p:cNvPr id="33" name="rows/row/7"/>
          <p:cNvGrpSpPr/>
          <p:nvPr/>
        </p:nvGrpSpPr>
        <p:grpSpPr>
          <a:xfrm>
            <a:off x="4792980" y="4283766"/>
            <a:ext cx="6373368" cy="220980"/>
            <a:chOff x="4792980" y="4283766"/>
            <a:chExt cx="6373368" cy="220980"/>
          </a:xfrm>
        </p:grpSpPr>
        <p:sp>
          <p:nvSpPr>
            <p:cNvPr id="18" name="ts:surfaces#rows/items/7/key@rows/row/7"/>
            <p:cNvSpPr txBox="1"/>
            <p:nvPr/>
          </p:nvSpPr>
          <p:spPr>
            <a:xfrm>
              <a:off x="4792980" y="428376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Contact and legal</a:t>
              </a:r>
              <a:endParaRPr lang="en-US" sz="1200" dirty="0"/>
            </a:p>
          </p:txBody>
        </p:sp>
        <p:sp>
          <p:nvSpPr>
            <p:cNvPr id="19" name="ts:surfaces#rows/items/7/value@rows/row/7"/>
            <p:cNvSpPr txBox="1"/>
            <p:nvPr/>
          </p:nvSpPr>
          <p:spPr>
            <a:xfrm>
              <a:off x="6484620" y="428376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/contact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spc="935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 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 and 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/legal</a:t>
              </a:r>
              <a:endParaRPr lang="en-US" sz="1200" dirty="0"/>
            </a:p>
          </p:txBody>
        </p:sp>
      </p:grpSp>
      <p:grpSp>
        <p:nvGrpSpPr>
          <p:cNvPr id="34" name="rows/row/8"/>
          <p:cNvGrpSpPr/>
          <p:nvPr/>
        </p:nvGrpSpPr>
        <p:grpSpPr>
          <a:xfrm>
            <a:off x="4792980" y="4725726"/>
            <a:ext cx="6373368" cy="220980"/>
            <a:chOff x="4792980" y="4725726"/>
            <a:chExt cx="6373368" cy="220980"/>
          </a:xfrm>
        </p:grpSpPr>
        <p:sp>
          <p:nvSpPr>
            <p:cNvPr id="20" name="ts:surfaces#rows/items/8/key@rows/row/8"/>
            <p:cNvSpPr txBox="1"/>
            <p:nvPr/>
          </p:nvSpPr>
          <p:spPr>
            <a:xfrm>
              <a:off x="4792980" y="472572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Dashboard</a:t>
              </a:r>
              <a:endParaRPr lang="en-US" sz="1200" dirty="0"/>
            </a:p>
          </p:txBody>
        </p:sp>
        <p:sp>
          <p:nvSpPr>
            <p:cNvPr id="21" name="ts:surfaces#rows/items/8/value@rows/row/8"/>
            <p:cNvSpPr txBox="1"/>
            <p:nvPr/>
          </p:nvSpPr>
          <p:spPr>
            <a:xfrm>
              <a:off x="6484620" y="4725726"/>
              <a:ext cx="468172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dash.generaltranslation.com</a:t>
              </a:r>
              <a:endParaRPr lang="en-US" sz="1200" dirty="0"/>
            </a:p>
          </p:txBody>
        </p:sp>
      </p:grpSp>
      <p:grpSp>
        <p:nvGrpSpPr>
          <p:cNvPr id="35" name="rows/row/9"/>
          <p:cNvGrpSpPr/>
          <p:nvPr/>
        </p:nvGrpSpPr>
        <p:grpSpPr>
          <a:xfrm>
            <a:off x="4792980" y="5167686"/>
            <a:ext cx="6373368" cy="441960"/>
            <a:chOff x="4792980" y="5167686"/>
            <a:chExt cx="6373368" cy="441960"/>
          </a:xfrm>
        </p:grpSpPr>
        <p:sp>
          <p:nvSpPr>
            <p:cNvPr id="22" name="ts:surfaces#rows/items/9/key@rows/row/9"/>
            <p:cNvSpPr txBox="1"/>
            <p:nvPr/>
          </p:nvSpPr>
          <p:spPr>
            <a:xfrm>
              <a:off x="4792980" y="5167686"/>
              <a:ext cx="1466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Social</a:t>
              </a:r>
              <a:endParaRPr lang="en-US" sz="1200" dirty="0"/>
            </a:p>
          </p:txBody>
        </p:sp>
        <p:sp>
          <p:nvSpPr>
            <p:cNvPr id="23" name="ts:surfaces#rows/items/9/value@rows/row/9"/>
            <p:cNvSpPr txBox="1"/>
            <p:nvPr/>
          </p:nvSpPr>
          <p:spPr>
            <a:xfrm>
              <a:off x="6484620" y="5167686"/>
              <a:ext cx="468172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x.com/generaltxn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spc="935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 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, 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linkedin.com/company/generaltranslation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spc="935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 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B9BCC3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github.com/generaltranslation/gt</a:t>
              </a:r>
              <a:endParaRPr lang="en-US" sz="1200" dirty="0"/>
            </a:p>
          </p:txBody>
        </p:sp>
      </p:grpSp>
      <p:sp>
        <p:nvSpPr>
          <p:cNvPr id="24" name="ts:surfac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32 / 85</a:t>
            </a:r>
            <a:endParaRPr lang="en-US" sz="780" dirty="0"/>
          </a:p>
        </p:txBody>
      </p:sp>
      <p:pic>
        <p:nvPicPr>
          <p:cNvPr id="25" name="ts:surfaces#sheet" descr="Public surfac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production sit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site#title" hidden="1"/>
          <p:cNvSpPr txBox="1">
            <a:spLocks noGrp="1"/>
          </p:cNvSpPr>
          <p:nvPr>
            <p:ph type="title"/>
          </p:nvPr>
        </p:nvSpPr>
        <p:spPr>
          <a:xfrm>
            <a:off x="1043940" y="183337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production site</a:t>
            </a:r>
            <a:endParaRPr lang="en-US" sz="2640" dirty="0"/>
          </a:p>
        </p:txBody>
      </p:sp>
      <p:sp>
        <p:nvSpPr>
          <p:cNvPr id="2" name="ts:site#h/text"/>
          <p:cNvSpPr txBox="1"/>
          <p:nvPr/>
        </p:nvSpPr>
        <p:spPr>
          <a:xfrm>
            <a:off x="1043940" y="183719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production site</a:t>
            </a:r>
            <a:endParaRPr lang="en-US" sz="2640" dirty="0"/>
          </a:p>
        </p:txBody>
      </p:sp>
      <p:sp>
        <p:nvSpPr>
          <p:cNvPr id="3" name="ts:site#p1/text"/>
          <p:cNvSpPr txBox="1"/>
          <p:nvPr/>
        </p:nvSpPr>
        <p:spPr>
          <a:xfrm>
            <a:off x="1043940" y="2470335"/>
            <a:ext cx="320344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site shown is the production build in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September 2026. generaltranslation.com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was rebuilt page by page on one layout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system: a single ruled column, hairline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seams between sections, registration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crosses at junctions, and one display face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at one weight. The Dossier direction 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prototemplate.com was the reference,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and the production codebase set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constraints.</a:t>
            </a:r>
            <a:endParaRPr lang="en-US" sz="1320" dirty="0"/>
          </a:p>
        </p:txBody>
      </p:sp>
      <p:sp>
        <p:nvSpPr>
          <p:cNvPr id="4" name="ts:site#fig/caption"/>
          <p:cNvSpPr txBox="1"/>
          <p:nvPr/>
        </p:nvSpPr>
        <p:spPr>
          <a:xfrm>
            <a:off x="4777740" y="5270004"/>
            <a:ext cx="638860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home page at 1440 by 900 shows the navigation bar closed by one hairline, the hero inside the rails, the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product demo, and the customer logo row in ruled cells.</a:t>
            </a:r>
            <a:endParaRPr lang="en-US" sz="960" dirty="0"/>
          </a:p>
        </p:txBody>
      </p:sp>
      <p:sp>
        <p:nvSpPr>
          <p:cNvPr id="5" name="ts:sit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33 / 85</a:t>
            </a:r>
            <a:endParaRPr lang="en-US" sz="780" dirty="0"/>
          </a:p>
        </p:txBody>
      </p:sp>
      <p:pic>
        <p:nvPicPr>
          <p:cNvPr id="6" name="ts:site#sheet" descr="The production sit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ark mod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dark-mod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Dark mode</a:t>
            </a:r>
            <a:endParaRPr lang="en-US" sz="2640" dirty="0"/>
          </a:p>
        </p:txBody>
      </p:sp>
      <p:sp>
        <p:nvSpPr>
          <p:cNvPr id="2" name="ts:dark-mode#h/text"/>
          <p:cNvSpPr txBox="1"/>
          <p:nvPr/>
        </p:nvSpPr>
        <p:spPr>
          <a:xfrm>
            <a:off x="1043940" y="985278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Dark mode</a:t>
            </a:r>
            <a:endParaRPr lang="en-US" sz="2640" dirty="0"/>
          </a:p>
        </p:txBody>
      </p:sp>
      <p:sp>
        <p:nvSpPr>
          <p:cNvPr id="3" name="ts:dark-mode#p1/text"/>
          <p:cNvSpPr txBox="1"/>
          <p:nvPr/>
        </p:nvSpPr>
        <p:spPr>
          <a:xfrm>
            <a:off x="5574030" y="944888"/>
            <a:ext cx="55923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Dark mode is a token remap. Background tokens map to black, text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tokens map to white, and hairline opacity increases so a 1px seam stays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visible between two black surfaces. Both captures below are fixed files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and do not follow the deck theme.</a:t>
            </a:r>
            <a:endParaRPr lang="en-US" sz="1320" dirty="0"/>
          </a:p>
        </p:txBody>
      </p:sp>
      <p:sp>
        <p:nvSpPr>
          <p:cNvPr id="4" name="ts:dark-mode#pair/figures/0/caption"/>
          <p:cNvSpPr txBox="1"/>
          <p:nvPr/>
        </p:nvSpPr>
        <p:spPr>
          <a:xfrm>
            <a:off x="1043940" y="5629287"/>
            <a:ext cx="4963668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home page in the light theme separates sections with hairline seams.</a:t>
            </a:r>
            <a:endParaRPr lang="en-US" sz="960" dirty="0"/>
          </a:p>
        </p:txBody>
      </p:sp>
      <p:sp>
        <p:nvSpPr>
          <p:cNvPr id="5" name="ts:dark-mode#pair/figures/1/caption"/>
          <p:cNvSpPr txBox="1"/>
          <p:nvPr/>
        </p:nvSpPr>
        <p:spPr>
          <a:xfrm>
            <a:off x="6202680" y="5629287"/>
            <a:ext cx="4963668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same page in the dark theme keeps the seams visible on black.</a:t>
            </a:r>
            <a:endParaRPr lang="en-US" sz="960" dirty="0"/>
          </a:p>
        </p:txBody>
      </p:sp>
      <p:sp>
        <p:nvSpPr>
          <p:cNvPr id="6" name="ts:dark-mod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34 / 85</a:t>
            </a:r>
            <a:endParaRPr lang="en-US" sz="780" dirty="0"/>
          </a:p>
        </p:txBody>
      </p:sp>
      <p:pic>
        <p:nvPicPr>
          <p:cNvPr id="7" name="ts:dark-mode#sheet" descr="Dark mod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icing and enterpris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pages-a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Pricing and enterprise</a:t>
            </a:r>
            <a:endParaRPr lang="en-US" sz="2640" dirty="0"/>
          </a:p>
        </p:txBody>
      </p:sp>
      <p:sp>
        <p:nvSpPr>
          <p:cNvPr id="2" name="ts:pages-a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Pricing and enterprise</a:t>
            </a:r>
            <a:endParaRPr lang="en-US" sz="2640" dirty="0"/>
          </a:p>
        </p:txBody>
      </p:sp>
      <p:sp>
        <p:nvSpPr>
          <p:cNvPr id="3" name="ts:pages-a#pair/figures/0/caption"/>
          <p:cNvSpPr txBox="1"/>
          <p:nvPr/>
        </p:nvSpPr>
        <p:spPr>
          <a:xfrm>
            <a:off x="1043940" y="5202567"/>
            <a:ext cx="4963668" cy="5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pricing page sets the Starter and Enterprise cards on one shared seam under the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hero rule, and the Enterprise card is the only surface with a dotted plate and an accent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border.</a:t>
            </a:r>
            <a:endParaRPr lang="en-US" sz="960" dirty="0"/>
          </a:p>
        </p:txBody>
      </p:sp>
      <p:sp>
        <p:nvSpPr>
          <p:cNvPr id="4" name="ts:pages-a#pair/figures/1/caption"/>
          <p:cNvSpPr txBox="1"/>
          <p:nvPr/>
        </p:nvSpPr>
        <p:spPr>
          <a:xfrm>
            <a:off x="6202680" y="5202567"/>
            <a:ext cx="4963668" cy="5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enterprise page pairs the headline column with a ruled customer list, one single-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ink logo per row at a fixed cap height and the locale count on the right, and closes the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band with a customer quote.</a:t>
            </a:r>
            <a:endParaRPr lang="en-US" sz="960" dirty="0"/>
          </a:p>
        </p:txBody>
      </p:sp>
      <p:sp>
        <p:nvSpPr>
          <p:cNvPr id="5" name="ts:pages-a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35 / 85</a:t>
            </a:r>
            <a:endParaRPr lang="en-US" sz="780" dirty="0"/>
          </a:p>
        </p:txBody>
      </p:sp>
      <p:pic>
        <p:nvPicPr>
          <p:cNvPr id="6" name="ts:pages-a#sheet" descr="Pricing and enterpris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ntact and report card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pages-b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Contact and report card</a:t>
            </a:r>
            <a:endParaRPr lang="en-US" sz="2640" dirty="0"/>
          </a:p>
        </p:txBody>
      </p:sp>
      <p:sp>
        <p:nvSpPr>
          <p:cNvPr id="2" name="ts:pages-b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Contact and report card</a:t>
            </a:r>
            <a:endParaRPr lang="en-US" sz="2640" dirty="0"/>
          </a:p>
        </p:txBody>
      </p:sp>
      <p:sp>
        <p:nvSpPr>
          <p:cNvPr id="3" name="ts:pages-b#pair/figures/0/caption"/>
          <p:cNvSpPr txBox="1"/>
          <p:nvPr/>
        </p:nvSpPr>
        <p:spPr>
          <a:xfrm>
            <a:off x="1043940" y="5290959"/>
            <a:ext cx="496366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contact page sets the dashed mark and two support rows in the left column and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form in the right column, with one hairline dividing them.</a:t>
            </a:r>
            <a:endParaRPr lang="en-US" sz="960" dirty="0"/>
          </a:p>
        </p:txBody>
      </p:sp>
      <p:sp>
        <p:nvSpPr>
          <p:cNvPr id="4" name="ts:pages-b#pair/figures/1/caption"/>
          <p:cNvSpPr txBox="1"/>
          <p:nvPr/>
        </p:nvSpPr>
        <p:spPr>
          <a:xfrm>
            <a:off x="6202680" y="5290959"/>
            <a:ext cx="496366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report card page places the URL field under the headline, the dithered globe on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right, and the graded results in hairline cells below.</a:t>
            </a:r>
            <a:endParaRPr lang="en-US" sz="960" dirty="0"/>
          </a:p>
        </p:txBody>
      </p:sp>
      <p:sp>
        <p:nvSpPr>
          <p:cNvPr id="5" name="ts:pages-b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36 / 85</a:t>
            </a:r>
            <a:endParaRPr lang="en-US" sz="780" dirty="0"/>
          </a:p>
        </p:txBody>
      </p:sp>
      <p:pic>
        <p:nvPicPr>
          <p:cNvPr id="6" name="ts:pages-b#sheet" descr="Contact and report card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ouisbourg lighthous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lighthouse#title" hidden="1"/>
          <p:cNvSpPr txBox="1">
            <a:spLocks noGrp="1"/>
          </p:cNvSpPr>
          <p:nvPr>
            <p:ph type="title"/>
          </p:nvPr>
        </p:nvSpPr>
        <p:spPr>
          <a:xfrm>
            <a:off x="7078980" y="4251731"/>
            <a:ext cx="3870960" cy="3621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Louisbourg lighthouse</a:t>
            </a:r>
            <a:endParaRPr lang="en-US" sz="2640" dirty="0"/>
          </a:p>
        </p:txBody>
      </p:sp>
      <p:sp>
        <p:nvSpPr>
          <p:cNvPr id="2" name="ts:mood-lighthouse#h/text"/>
          <p:cNvSpPr txBox="1"/>
          <p:nvPr/>
        </p:nvSpPr>
        <p:spPr>
          <a:xfrm>
            <a:off x="7078980" y="4258906"/>
            <a:ext cx="38892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Louisbourg lighthouse</a:t>
            </a:r>
            <a:endParaRPr lang="en-US" sz="2640" dirty="0"/>
          </a:p>
        </p:txBody>
      </p:sp>
      <p:sp>
        <p:nvSpPr>
          <p:cNvPr id="3" name="ts:mood-lighthouse#p1/text"/>
          <p:cNvSpPr txBox="1"/>
          <p:nvPr/>
        </p:nvSpPr>
        <p:spPr>
          <a:xfrm>
            <a:off x="7078980" y="4672973"/>
            <a:ext cx="38892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working light in a storm, built to be read at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distance in any weather. The site is held to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same standard, in light and in dark.</a:t>
            </a:r>
            <a:endParaRPr lang="en-US" sz="1320" dirty="0"/>
          </a:p>
        </p:txBody>
      </p:sp>
      <p:sp>
        <p:nvSpPr>
          <p:cNvPr id="4" name="ts:mood-lighthouse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Photograph: Ken Heaton, CC BY-SA 4.0</a:t>
            </a:r>
            <a:endParaRPr lang="en-US" sz="900" dirty="0"/>
          </a:p>
        </p:txBody>
      </p:sp>
      <p:sp>
        <p:nvSpPr>
          <p:cNvPr id="5" name="ts:mood-lighthous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37 / 85</a:t>
            </a:r>
            <a:endParaRPr lang="en-US" sz="780" dirty="0"/>
          </a:p>
        </p:txBody>
      </p:sp>
      <p:pic>
        <p:nvPicPr>
          <p:cNvPr id="6" name="ts:mood-lighthouse#sheet" descr="Louisbourg lighthous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tail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s:detail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Details</a:t>
            </a:r>
            <a:endParaRPr lang="en-US" sz="2640" dirty="0"/>
          </a:p>
        </p:txBody>
      </p:sp>
      <p:sp>
        <p:nvSpPr>
          <p:cNvPr id="2" name="ts:details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Details</a:t>
            </a:r>
            <a:endParaRPr lang="en-US" sz="2640" dirty="0"/>
          </a:p>
        </p:txBody>
      </p:sp>
      <p:sp>
        <p:nvSpPr>
          <p:cNvPr id="3" name="ts:details#p1/text"/>
          <p:cNvSpPr txBox="1"/>
          <p:nvPr/>
        </p:nvSpPr>
        <p:spPr>
          <a:xfrm>
            <a:off x="4777740" y="944888"/>
            <a:ext cx="638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Each crop is cut from the same pixel region of the light and the dark capture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follows the deck theme. No text is smaller than it is on the site.</a:t>
            </a:r>
            <a:endParaRPr lang="en-US" sz="1320" dirty="0"/>
          </a:p>
        </p:txBody>
      </p:sp>
      <p:sp>
        <p:nvSpPr>
          <p:cNvPr id="4" name="ts:details#grid/items/0/caption"/>
          <p:cNvSpPr txBox="1"/>
          <p:nvPr/>
        </p:nvSpPr>
        <p:spPr>
          <a:xfrm>
            <a:off x="1043940" y="3087094"/>
            <a:ext cx="325678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header pairs an outlined Sign In button with a filled Get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Demo button, and the page rail starts at its hairline.</a:t>
            </a:r>
            <a:endParaRPr lang="en-US" sz="900" dirty="0"/>
          </a:p>
        </p:txBody>
      </p:sp>
      <p:sp>
        <p:nvSpPr>
          <p:cNvPr id="5" name="ts:details#grid/items/1/caption"/>
          <p:cNvSpPr txBox="1"/>
          <p:nvPr/>
        </p:nvSpPr>
        <p:spPr>
          <a:xfrm>
            <a:off x="4476750" y="3087094"/>
            <a:ext cx="325678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two pricing cards share one vertical seam, and only the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Enterprise card has a dotted plate and an accent border.</a:t>
            </a:r>
            <a:endParaRPr lang="en-US" sz="900" dirty="0"/>
          </a:p>
        </p:txBody>
      </p:sp>
      <p:sp>
        <p:nvSpPr>
          <p:cNvPr id="6" name="ts:details#grid/items/2/caption"/>
          <p:cNvSpPr txBox="1"/>
          <p:nvPr/>
        </p:nvSpPr>
        <p:spPr>
          <a:xfrm>
            <a:off x="7909560" y="3087094"/>
            <a:ext cx="325678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Customer logos sit in ruled cells with one hairline per seam,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in a single ink at a common cap height.</a:t>
            </a:r>
            <a:endParaRPr lang="en-US" sz="900" dirty="0"/>
          </a:p>
        </p:txBody>
      </p:sp>
      <p:sp>
        <p:nvSpPr>
          <p:cNvPr id="7" name="ts:details#grid/items/3/caption"/>
          <p:cNvSpPr txBox="1"/>
          <p:nvPr/>
        </p:nvSpPr>
        <p:spPr>
          <a:xfrm>
            <a:off x="1043940" y="5475964"/>
            <a:ext cx="325678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table of contents marks the active heading and its sub-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heading with a hairline that steps in at an elbow.</a:t>
            </a:r>
            <a:endParaRPr lang="en-US" sz="900" dirty="0"/>
          </a:p>
        </p:txBody>
      </p:sp>
      <p:sp>
        <p:nvSpPr>
          <p:cNvPr id="8" name="ts:details#grid/items/4/caption"/>
          <p:cNvSpPr txBox="1"/>
          <p:nvPr/>
        </p:nvSpPr>
        <p:spPr>
          <a:xfrm>
            <a:off x="4476750" y="5475964"/>
            <a:ext cx="325678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404 page states the failure in full sentences and offers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filled and an outlined button over the ring artwork.</a:t>
            </a:r>
            <a:endParaRPr lang="en-US" sz="900" dirty="0"/>
          </a:p>
        </p:txBody>
      </p:sp>
      <p:sp>
        <p:nvSpPr>
          <p:cNvPr id="9" name="ts:details#grid/items/5/caption"/>
          <p:cNvSpPr txBox="1"/>
          <p:nvPr/>
        </p:nvSpPr>
        <p:spPr>
          <a:xfrm>
            <a:off x="7909560" y="5475964"/>
            <a:ext cx="325678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footer rule meets the page rail at a registration cross,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and the link columns are set at one text size.</a:t>
            </a:r>
            <a:endParaRPr lang="en-US" sz="900" dirty="0"/>
          </a:p>
        </p:txBody>
      </p:sp>
      <p:sp>
        <p:nvSpPr>
          <p:cNvPr id="10" name="ts:detail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38 / 85</a:t>
            </a:r>
            <a:endParaRPr lang="en-US" sz="780" dirty="0"/>
          </a:p>
        </p:txBody>
      </p:sp>
      <p:pic>
        <p:nvPicPr>
          <p:cNvPr id="11" name="ts:details#sheet" descr="Detail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ree close-up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s:details-two#title" hidden="1"/>
          <p:cNvSpPr txBox="1">
            <a:spLocks noGrp="1"/>
          </p:cNvSpPr>
          <p:nvPr>
            <p:ph type="title"/>
          </p:nvPr>
        </p:nvSpPr>
        <p:spPr>
          <a:xfrm>
            <a:off x="1043940" y="2060981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Three close-ups</a:t>
            </a:r>
            <a:endParaRPr lang="en-US" sz="2640" dirty="0"/>
          </a:p>
        </p:txBody>
      </p:sp>
      <p:sp>
        <p:nvSpPr>
          <p:cNvPr id="2" name="ts:details-two#h/text"/>
          <p:cNvSpPr txBox="1"/>
          <p:nvPr/>
        </p:nvSpPr>
        <p:spPr>
          <a:xfrm>
            <a:off x="1043940" y="206480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Three close-ups</a:t>
            </a:r>
            <a:endParaRPr lang="en-US" sz="2640" dirty="0"/>
          </a:p>
        </p:txBody>
      </p:sp>
      <p:sp>
        <p:nvSpPr>
          <p:cNvPr id="3" name="ts:details-two#p1/text"/>
          <p:cNvSpPr txBox="1"/>
          <p:nvPr/>
        </p:nvSpPr>
        <p:spPr>
          <a:xfrm>
            <a:off x="1043940" y="2697945"/>
            <a:ext cx="320344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These three crops are shown at 1.4 times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their size on a 1440px screen.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hairline under the header, the rail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arms of the cross are 1px on the site,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at this size each line is visible on its own.</a:t>
            </a:r>
            <a:endParaRPr lang="en-US" sz="1320" dirty="0"/>
          </a:p>
        </p:txBody>
      </p:sp>
      <p:sp>
        <p:nvSpPr>
          <p:cNvPr id="4" name="ts:details-two#p2/text"/>
          <p:cNvSpPr txBox="1"/>
          <p:nvPr/>
        </p:nvSpPr>
        <p:spPr>
          <a:xfrm>
            <a:off x="1043940" y="4280082"/>
            <a:ext cx="320344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install panel is from the docs. Its plate is light in light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mode and near-black in dark mode, and the deck's own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code panel rule does not apply to it.</a:t>
            </a:r>
            <a:endParaRPr lang="en-US" sz="900" dirty="0"/>
          </a:p>
        </p:txBody>
      </p:sp>
      <p:sp>
        <p:nvSpPr>
          <p:cNvPr id="5" name="ts:details-two#fig/caption"/>
          <p:cNvSpPr txBox="1"/>
          <p:nvPr/>
        </p:nvSpPr>
        <p:spPr>
          <a:xfrm>
            <a:off x="4777740" y="2351460"/>
            <a:ext cx="638860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navigation bar carries the mark and four text links and is closed by one hairline, where the left page rail starts.</a:t>
            </a:r>
            <a:endParaRPr lang="en-US" sz="900" dirty="0"/>
          </a:p>
        </p:txBody>
      </p:sp>
      <p:sp>
        <p:nvSpPr>
          <p:cNvPr id="6" name="ts:details-two#fig2/caption"/>
          <p:cNvSpPr txBox="1"/>
          <p:nvPr/>
        </p:nvSpPr>
        <p:spPr>
          <a:xfrm>
            <a:off x="4777740" y="3850695"/>
            <a:ext cx="638860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registration cross marks the point where the left rail meets the rule that closes the hero band.</a:t>
            </a:r>
            <a:endParaRPr lang="en-US" sz="900" dirty="0"/>
          </a:p>
        </p:txBody>
      </p:sp>
      <p:sp>
        <p:nvSpPr>
          <p:cNvPr id="7" name="ts:details-two#fig3/caption"/>
          <p:cNvSpPr txBox="1"/>
          <p:nvPr/>
        </p:nvSpPr>
        <p:spPr>
          <a:xfrm>
            <a:off x="4777740" y="5289351"/>
            <a:ext cx="638860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install panel keeps the package manager tabs on a plate above the code and marks the active tab with a short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underline.</a:t>
            </a:r>
            <a:endParaRPr lang="en-US" sz="900" dirty="0"/>
          </a:p>
        </p:txBody>
      </p:sp>
      <p:sp>
        <p:nvSpPr>
          <p:cNvPr id="8" name="ts:details-two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39 / 85</a:t>
            </a:r>
            <a:endParaRPr lang="en-US" sz="780" dirty="0"/>
          </a:p>
        </p:txBody>
      </p:sp>
      <p:pic>
        <p:nvPicPr>
          <p:cNvPr id="9" name="ts:details-two#sheet" descr="Three close-up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Layout measurement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s:shell-numbers#title" hidden="1"/>
          <p:cNvSpPr txBox="1">
            <a:spLocks noGrp="1"/>
          </p:cNvSpPr>
          <p:nvPr>
            <p:ph type="title"/>
          </p:nvPr>
        </p:nvSpPr>
        <p:spPr>
          <a:xfrm>
            <a:off x="1043940" y="1484376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Layout measurements</a:t>
            </a:r>
            <a:endParaRPr lang="en-US" sz="2640" dirty="0"/>
          </a:p>
        </p:txBody>
      </p:sp>
      <p:sp>
        <p:nvSpPr>
          <p:cNvPr id="2" name="ts:shell-numbers#h/text"/>
          <p:cNvSpPr txBox="1"/>
          <p:nvPr/>
        </p:nvSpPr>
        <p:spPr>
          <a:xfrm>
            <a:off x="1043940" y="1488198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Layout measurements</a:t>
            </a:r>
            <a:endParaRPr lang="en-US" sz="2640" dirty="0"/>
          </a:p>
        </p:txBody>
      </p:sp>
      <p:sp>
        <p:nvSpPr>
          <p:cNvPr id="3" name="ts:shell-numbers#p1/text"/>
          <p:cNvSpPr txBox="1"/>
          <p:nvPr/>
        </p:nvSpPr>
        <p:spPr>
          <a:xfrm>
            <a:off x="1043940" y="2121339"/>
            <a:ext cx="399973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page uses these measurements, so a new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page can be checked against them.</a:t>
            </a:r>
            <a:endParaRPr lang="en-US" sz="1320" dirty="0"/>
          </a:p>
        </p:txBody>
      </p:sp>
      <p:grpSp>
        <p:nvGrpSpPr>
          <p:cNvPr id="20" name="rows/row/0"/>
          <p:cNvGrpSpPr/>
          <p:nvPr/>
        </p:nvGrpSpPr>
        <p:grpSpPr>
          <a:xfrm>
            <a:off x="5802630" y="1190046"/>
            <a:ext cx="5363718" cy="441960"/>
            <a:chOff x="5802630" y="1190046"/>
            <a:chExt cx="5363718" cy="441960"/>
          </a:xfrm>
        </p:grpSpPr>
        <p:sp>
          <p:nvSpPr>
            <p:cNvPr id="4" name="ts:shell-numbers#rows/items/0/key@rows/row/0"/>
            <p:cNvSpPr txBox="1"/>
            <p:nvPr/>
          </p:nvSpPr>
          <p:spPr>
            <a:xfrm>
              <a:off x="5802630" y="119004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Column</a:t>
              </a:r>
              <a:endParaRPr lang="en-US" sz="1200" dirty="0"/>
            </a:p>
          </p:txBody>
        </p:sp>
        <p:sp>
          <p:nvSpPr>
            <p:cNvPr id="5" name="ts:shell-numbers#rows/items/0/value@rows/row/0"/>
            <p:cNvSpPr txBox="1"/>
            <p:nvPr/>
          </p:nvSpPr>
          <p:spPr>
            <a:xfrm>
              <a:off x="7646670" y="1190046"/>
              <a:ext cx="35196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ruled column is 1104px wide, with a second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pair of rails 10px outside it.</a:t>
              </a:r>
              <a:endParaRPr lang="en-US" sz="1200" dirty="0"/>
            </a:p>
          </p:txBody>
        </p:sp>
      </p:grpSp>
      <p:grpSp>
        <p:nvGrpSpPr>
          <p:cNvPr id="21" name="rows/row/1"/>
          <p:cNvGrpSpPr/>
          <p:nvPr/>
        </p:nvGrpSpPr>
        <p:grpSpPr>
          <a:xfrm>
            <a:off x="5802630" y="1852986"/>
            <a:ext cx="5363718" cy="441960"/>
            <a:chOff x="5802630" y="1852986"/>
            <a:chExt cx="5363718" cy="441960"/>
          </a:xfrm>
        </p:grpSpPr>
        <p:sp>
          <p:nvSpPr>
            <p:cNvPr id="6" name="ts:shell-numbers#rows/items/1/key@rows/row/1"/>
            <p:cNvSpPr txBox="1"/>
            <p:nvPr/>
          </p:nvSpPr>
          <p:spPr>
            <a:xfrm>
              <a:off x="5802630" y="185298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Navigation</a:t>
              </a:r>
              <a:endParaRPr lang="en-US" sz="1200" dirty="0"/>
            </a:p>
          </p:txBody>
        </p:sp>
        <p:sp>
          <p:nvSpPr>
            <p:cNvPr id="7" name="ts:shell-numbers#rows/items/1/value@rows/row/1"/>
            <p:cNvSpPr txBox="1"/>
            <p:nvPr/>
          </p:nvSpPr>
          <p:spPr>
            <a:xfrm>
              <a:off x="7646670" y="1852986"/>
              <a:ext cx="35196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navigation bar is 58px tall and uses the same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column.</a:t>
              </a:r>
              <a:endParaRPr lang="en-US" sz="1200" dirty="0"/>
            </a:p>
          </p:txBody>
        </p:sp>
      </p:grpSp>
      <p:grpSp>
        <p:nvGrpSpPr>
          <p:cNvPr id="22" name="rows/row/2"/>
          <p:cNvGrpSpPr/>
          <p:nvPr/>
        </p:nvGrpSpPr>
        <p:grpSpPr>
          <a:xfrm>
            <a:off x="5802630" y="2515926"/>
            <a:ext cx="5363718" cy="441960"/>
            <a:chOff x="5802630" y="2515926"/>
            <a:chExt cx="5363718" cy="441960"/>
          </a:xfrm>
        </p:grpSpPr>
        <p:sp>
          <p:nvSpPr>
            <p:cNvPr id="8" name="ts:shell-numbers#rows/items/2/key@rows/row/2"/>
            <p:cNvSpPr txBox="1"/>
            <p:nvPr/>
          </p:nvSpPr>
          <p:spPr>
            <a:xfrm>
              <a:off x="5802630" y="251592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Cross</a:t>
              </a:r>
              <a:endParaRPr lang="en-US" sz="1200" dirty="0"/>
            </a:p>
          </p:txBody>
        </p:sp>
        <p:sp>
          <p:nvSpPr>
            <p:cNvPr id="9" name="ts:shell-numbers#rows/items/2/value@rows/row/2"/>
            <p:cNvSpPr txBox="1"/>
            <p:nvPr/>
          </p:nvSpPr>
          <p:spPr>
            <a:xfrm>
              <a:off x="7646670" y="2515926"/>
              <a:ext cx="35196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 9px registration cross with 1px arms sits at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every point where a seam meets a rail.</a:t>
              </a:r>
              <a:endParaRPr lang="en-US" sz="1200" dirty="0"/>
            </a:p>
          </p:txBody>
        </p:sp>
      </p:grpSp>
      <p:grpSp>
        <p:nvGrpSpPr>
          <p:cNvPr id="23" name="rows/row/3"/>
          <p:cNvGrpSpPr/>
          <p:nvPr/>
        </p:nvGrpSpPr>
        <p:grpSpPr>
          <a:xfrm>
            <a:off x="5802630" y="3178866"/>
            <a:ext cx="5363718" cy="441960"/>
            <a:chOff x="5802630" y="3178866"/>
            <a:chExt cx="5363718" cy="441960"/>
          </a:xfrm>
        </p:grpSpPr>
        <p:sp>
          <p:nvSpPr>
            <p:cNvPr id="10" name="ts:shell-numbers#rows/items/3/key@rows/row/3"/>
            <p:cNvSpPr txBox="1"/>
            <p:nvPr/>
          </p:nvSpPr>
          <p:spPr>
            <a:xfrm>
              <a:off x="5802630" y="317886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Breakpoint</a:t>
              </a:r>
              <a:endParaRPr lang="en-US" sz="1200" dirty="0"/>
            </a:p>
          </p:txBody>
        </p:sp>
        <p:sp>
          <p:nvSpPr>
            <p:cNvPr id="11" name="ts:shell-numbers#rows/items/3/value@rows/row/3"/>
            <p:cNvSpPr txBox="1"/>
            <p:nvPr/>
          </p:nvSpPr>
          <p:spPr>
            <a:xfrm>
              <a:off x="7646670" y="3178866"/>
              <a:ext cx="35196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layout has one breakpoint, 1023px. Below it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every row is one column and hairlines stay 1px.</a:t>
              </a:r>
              <a:endParaRPr lang="en-US" sz="1200" dirty="0"/>
            </a:p>
          </p:txBody>
        </p:sp>
      </p:grpSp>
      <p:grpSp>
        <p:nvGrpSpPr>
          <p:cNvPr id="24" name="rows/row/4"/>
          <p:cNvGrpSpPr/>
          <p:nvPr/>
        </p:nvGrpSpPr>
        <p:grpSpPr>
          <a:xfrm>
            <a:off x="5802630" y="3841806"/>
            <a:ext cx="5363718" cy="441960"/>
            <a:chOff x="5802630" y="3841806"/>
            <a:chExt cx="5363718" cy="441960"/>
          </a:xfrm>
        </p:grpSpPr>
        <p:sp>
          <p:nvSpPr>
            <p:cNvPr id="12" name="ts:shell-numbers#rows/items/4/key@rows/row/4"/>
            <p:cNvSpPr txBox="1"/>
            <p:nvPr/>
          </p:nvSpPr>
          <p:spPr>
            <a:xfrm>
              <a:off x="5802630" y="384180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Hero type</a:t>
              </a:r>
              <a:endParaRPr lang="en-US" sz="1200" dirty="0"/>
            </a:p>
          </p:txBody>
        </p:sp>
        <p:sp>
          <p:nvSpPr>
            <p:cNvPr id="13" name="ts:shell-numbers#rows/items/4/value@rows/row/4"/>
            <p:cNvSpPr txBox="1"/>
            <p:nvPr/>
          </p:nvSpPr>
          <p:spPr>
            <a:xfrm>
              <a:off x="7646670" y="3841806"/>
              <a:ext cx="35196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hero type has its own threshold at 720px,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below which it is fixed at 2.5rem.</a:t>
              </a:r>
              <a:endParaRPr lang="en-US" sz="1200" dirty="0"/>
            </a:p>
          </p:txBody>
        </p:sp>
      </p:grpSp>
      <p:grpSp>
        <p:nvGrpSpPr>
          <p:cNvPr id="25" name="rows/row/5"/>
          <p:cNvGrpSpPr/>
          <p:nvPr/>
        </p:nvGrpSpPr>
        <p:grpSpPr>
          <a:xfrm>
            <a:off x="5802630" y="4504746"/>
            <a:ext cx="5363718" cy="441960"/>
            <a:chOff x="5802630" y="4504746"/>
            <a:chExt cx="5363718" cy="441960"/>
          </a:xfrm>
        </p:grpSpPr>
        <p:sp>
          <p:nvSpPr>
            <p:cNvPr id="14" name="ts:shell-numbers#rows/items/5/key@rows/row/5"/>
            <p:cNvSpPr txBox="1"/>
            <p:nvPr/>
          </p:nvSpPr>
          <p:spPr>
            <a:xfrm>
              <a:off x="5802630" y="450474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Hatch</a:t>
              </a:r>
              <a:endParaRPr lang="en-US" sz="1200" dirty="0"/>
            </a:p>
          </p:txBody>
        </p:sp>
        <p:sp>
          <p:nvSpPr>
            <p:cNvPr id="15" name="ts:shell-numbers#rows/items/5/value@rows/row/5"/>
            <p:cNvSpPr txBox="1"/>
            <p:nvPr/>
          </p:nvSpPr>
          <p:spPr>
            <a:xfrm>
              <a:off x="7646670" y="4504746"/>
              <a:ext cx="35196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 hatch strip, 45 degree hairlines every 8px,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separates rows where the topic changes.</a:t>
              </a:r>
              <a:endParaRPr lang="en-US" sz="1200" dirty="0"/>
            </a:p>
          </p:txBody>
        </p:sp>
      </p:grpSp>
      <p:grpSp>
        <p:nvGrpSpPr>
          <p:cNvPr id="26" name="rows/row/6"/>
          <p:cNvGrpSpPr/>
          <p:nvPr/>
        </p:nvGrpSpPr>
        <p:grpSpPr>
          <a:xfrm>
            <a:off x="5802630" y="5167686"/>
            <a:ext cx="5363718" cy="441960"/>
            <a:chOff x="5802630" y="5167686"/>
            <a:chExt cx="5363718" cy="441960"/>
          </a:xfrm>
        </p:grpSpPr>
        <p:sp>
          <p:nvSpPr>
            <p:cNvPr id="16" name="ts:shell-numbers#rows/items/6/key@rows/row/6"/>
            <p:cNvSpPr txBox="1"/>
            <p:nvPr/>
          </p:nvSpPr>
          <p:spPr>
            <a:xfrm>
              <a:off x="5802630" y="5167686"/>
              <a:ext cx="16184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Seam</a:t>
              </a:r>
              <a:endParaRPr lang="en-US" sz="1200" dirty="0"/>
            </a:p>
          </p:txBody>
        </p:sp>
        <p:sp>
          <p:nvSpPr>
            <p:cNvPr id="17" name="ts:shell-numbers#rows/items/6/value@rows/row/6"/>
            <p:cNvSpPr txBox="1"/>
            <p:nvPr/>
          </p:nvSpPr>
          <p:spPr>
            <a:xfrm>
              <a:off x="7646670" y="5167686"/>
              <a:ext cx="35196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slide-to-compare handle is the doubled line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in CSS: two 1px borders and one grip element.</a:t>
              </a:r>
              <a:endParaRPr lang="en-US" sz="1200" dirty="0"/>
            </a:p>
          </p:txBody>
        </p:sp>
      </p:grpSp>
      <p:sp>
        <p:nvSpPr>
          <p:cNvPr id="18" name="ts:shell-number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40 / 85</a:t>
            </a:r>
            <a:endParaRPr lang="en-US" sz="780" dirty="0"/>
          </a:p>
        </p:txBody>
      </p:sp>
      <p:pic>
        <p:nvPicPr>
          <p:cNvPr id="19" name="ts:shell-numbers#sheet" descr="Layout measurement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horizon field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horizon#title" hidden="1"/>
          <p:cNvSpPr txBox="1">
            <a:spLocks noGrp="1"/>
          </p:cNvSpPr>
          <p:nvPr>
            <p:ph type="title"/>
          </p:nvPr>
        </p:nvSpPr>
        <p:spPr>
          <a:xfrm>
            <a:off x="1043940" y="158191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horizon field</a:t>
            </a:r>
            <a:endParaRPr lang="en-US" sz="2640" dirty="0"/>
          </a:p>
        </p:txBody>
      </p:sp>
      <p:sp>
        <p:nvSpPr>
          <p:cNvPr id="2" name="ts:horizon#h/text"/>
          <p:cNvSpPr txBox="1"/>
          <p:nvPr/>
        </p:nvSpPr>
        <p:spPr>
          <a:xfrm>
            <a:off x="1043940" y="158573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horizon field</a:t>
            </a:r>
            <a:endParaRPr lang="en-US" sz="2640" dirty="0"/>
          </a:p>
        </p:txBody>
      </p:sp>
      <p:sp>
        <p:nvSpPr>
          <p:cNvPr id="3" name="ts:horizon#p1/text"/>
          <p:cNvSpPr txBox="1"/>
          <p:nvPr/>
        </p:nvSpPr>
        <p:spPr>
          <a:xfrm>
            <a:off x="1043940" y="2218875"/>
            <a:ext cx="3203448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careers page hero is the horizon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field, a WebGL gravitational-lensing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shader. Thirty locale names orbit it once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130 seconds, and it fades in from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blur over 0.9 seconds. A static fallback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disc renders if WebGL is unavailable or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shader has not loaded after 2.5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seconds, and reduced motion renders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one frame. The ring keeps its colors in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both themes. The prototemplate version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exposes lens, dither, and redshift as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toggles.</a:t>
            </a:r>
            <a:endParaRPr lang="en-US" sz="1320" dirty="0"/>
          </a:p>
        </p:txBody>
      </p:sp>
      <p:sp>
        <p:nvSpPr>
          <p:cNvPr id="4" name="ts:horizon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41 / 85</a:t>
            </a:r>
            <a:endParaRPr lang="en-US" sz="780" dirty="0"/>
          </a:p>
        </p:txBody>
      </p:sp>
      <p:pic>
        <p:nvPicPr>
          <p:cNvPr id="5" name="ts:horizon#sheet" descr="The horizon field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ocumentation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opener-documentation#title" hidden="1"/>
          <p:cNvSpPr txBox="1">
            <a:spLocks noGrp="1"/>
          </p:cNvSpPr>
          <p:nvPr>
            <p:ph type="title"/>
          </p:nvPr>
        </p:nvSpPr>
        <p:spPr>
          <a:xfrm>
            <a:off x="1242060" y="4017874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Documentation</a:t>
            </a:r>
            <a:endParaRPr lang="en-US" sz="4320" dirty="0"/>
          </a:p>
        </p:txBody>
      </p:sp>
      <p:sp>
        <p:nvSpPr>
          <p:cNvPr id="2" name="ts:opener-documentation#h/text"/>
          <p:cNvSpPr txBox="1"/>
          <p:nvPr/>
        </p:nvSpPr>
        <p:spPr>
          <a:xfrm>
            <a:off x="1242060" y="4045854"/>
            <a:ext cx="526084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Documentation</a:t>
            </a:r>
            <a:endParaRPr lang="en-US" sz="4320" dirty="0"/>
          </a:p>
        </p:txBody>
      </p:sp>
      <p:sp>
        <p:nvSpPr>
          <p:cNvPr id="3" name="ts:opener-documentation#p1/text"/>
          <p:cNvSpPr txBox="1"/>
          <p:nvPr/>
        </p:nvSpPr>
        <p:spPr>
          <a:xfrm>
            <a:off x="1242060" y="4672973"/>
            <a:ext cx="526084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section covers the docs: 393 pages in eight sections served in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eight locales, the routing that sends a mistyped URL to the nearest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page, and the markdown twins published for agents.</a:t>
            </a:r>
            <a:endParaRPr lang="en-US" sz="1320" dirty="0"/>
          </a:p>
        </p:txBody>
      </p:sp>
      <p:sp>
        <p:nvSpPr>
          <p:cNvPr id="4" name="ts:opener-documentation#credit/text"/>
          <p:cNvSpPr txBox="1"/>
          <p:nvPr/>
        </p:nvSpPr>
        <p:spPr>
          <a:xfrm>
            <a:off x="1242060" y="5538829"/>
            <a:ext cx="52608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Lens Gate, a Prototemplate direction</a:t>
            </a:r>
            <a:endParaRPr lang="en-US" sz="900" dirty="0"/>
          </a:p>
        </p:txBody>
      </p:sp>
      <p:sp>
        <p:nvSpPr>
          <p:cNvPr id="5" name="ts:opener-documentation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42 / 85</a:t>
            </a:r>
            <a:endParaRPr lang="en-US" sz="780" dirty="0"/>
          </a:p>
        </p:txBody>
      </p:sp>
      <p:pic>
        <p:nvPicPr>
          <p:cNvPr id="6" name="ts:opener-documentation#sheet" descr="Documentation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doc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docs#title" hidden="1"/>
          <p:cNvSpPr txBox="1">
            <a:spLocks noGrp="1"/>
          </p:cNvSpPr>
          <p:nvPr>
            <p:ph type="title"/>
          </p:nvPr>
        </p:nvSpPr>
        <p:spPr>
          <a:xfrm>
            <a:off x="1043940" y="147523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docs</a:t>
            </a:r>
            <a:endParaRPr lang="en-US" sz="2640" dirty="0"/>
          </a:p>
        </p:txBody>
      </p:sp>
      <p:sp>
        <p:nvSpPr>
          <p:cNvPr id="2" name="ts:docs#h/text"/>
          <p:cNvSpPr txBox="1"/>
          <p:nvPr/>
        </p:nvSpPr>
        <p:spPr>
          <a:xfrm>
            <a:off x="1043940" y="147905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docs</a:t>
            </a:r>
            <a:endParaRPr lang="en-US" sz="2640" dirty="0"/>
          </a:p>
        </p:txBody>
      </p:sp>
      <p:sp>
        <p:nvSpPr>
          <p:cNvPr id="3" name="ts:docs#p1/text"/>
          <p:cNvSpPr txBox="1"/>
          <p:nvPr/>
        </p:nvSpPr>
        <p:spPr>
          <a:xfrm>
            <a:off x="1043940" y="2112195"/>
            <a:ext cx="3203448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docs have 393 pages in eight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sections and are served in eight locales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from one English source. The palette is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neutral gray with hairlines instead of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shadows and one accent color for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active sidebar row and the table-of-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contents indicator. Sidebar indentation is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drawn as vertical rails, and the controls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sit in one floating toolbar.</a:t>
            </a:r>
            <a:endParaRPr lang="en-US" sz="1320" dirty="0"/>
          </a:p>
        </p:txBody>
      </p:sp>
      <p:sp>
        <p:nvSpPr>
          <p:cNvPr id="4" name="ts:docs#p2/text"/>
          <p:cNvSpPr txBox="1"/>
          <p:nvPr/>
        </p:nvSpPr>
        <p:spPr>
          <a:xfrm>
            <a:off x="1043940" y="4700096"/>
            <a:ext cx="3203448" cy="6629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palette follows Vercel's Geist grays. The sidebar rails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use Fumadocs' own table-of-contents indicator technique,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related pages follow the Next.js docs convention, and the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markdown versions follow llmstxt.org.</a:t>
            </a:r>
            <a:endParaRPr lang="en-US" sz="900" dirty="0"/>
          </a:p>
        </p:txBody>
      </p:sp>
      <p:sp>
        <p:nvSpPr>
          <p:cNvPr id="5" name="ts:docs#fig/caption"/>
          <p:cNvSpPr txBox="1"/>
          <p:nvPr/>
        </p:nvSpPr>
        <p:spPr>
          <a:xfrm>
            <a:off x="4777740" y="5270004"/>
            <a:ext cx="638860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docs front page hangs each sidebar group from a vertical hairline, marks the active row and the active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table-of-contents entry in the accent color, and lists the quickstarts as cards with a 1px border.</a:t>
            </a:r>
            <a:endParaRPr lang="en-US" sz="960" dirty="0"/>
          </a:p>
        </p:txBody>
      </p:sp>
      <p:sp>
        <p:nvSpPr>
          <p:cNvPr id="6" name="ts:doc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43 / 85</a:t>
            </a:r>
            <a:endParaRPr lang="en-US" sz="780" dirty="0"/>
          </a:p>
        </p:txBody>
      </p:sp>
      <p:pic>
        <p:nvPicPr>
          <p:cNvPr id="7" name="ts:docs#sheet" descr="The doc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Nearest-page routing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nearest-page-routing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Nearest-page routing</a:t>
            </a:r>
            <a:endParaRPr lang="en-US" sz="2640" dirty="0"/>
          </a:p>
        </p:txBody>
      </p:sp>
      <p:sp>
        <p:nvSpPr>
          <p:cNvPr id="2" name="ts:nearest-page-routing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Nearest-page routing</a:t>
            </a:r>
            <a:endParaRPr lang="en-US" sz="2640" dirty="0"/>
          </a:p>
        </p:txBody>
      </p:sp>
      <p:sp>
        <p:nvSpPr>
          <p:cNvPr id="3" name="ts:nearest-page-routing#p1/text"/>
          <p:cNvSpPr txBox="1"/>
          <p:nvPr/>
        </p:nvSpPr>
        <p:spPr>
          <a:xfrm>
            <a:off x="1043940" y="1450779"/>
            <a:ext cx="5867324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mistyped docs URL resolves to the nearest page. The resolver, merged 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September 8, tries four rungs in order and then shows suggestions.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difference in version numbers is never treated as a typo.</a:t>
            </a:r>
            <a:endParaRPr lang="en-US" sz="1320" dirty="0"/>
          </a:p>
        </p:txBody>
      </p:sp>
      <p:sp>
        <p:nvSpPr>
          <p:cNvPr id="4" name="ts:nearest-page-routing#code/code"/>
          <p:cNvSpPr txBox="1"/>
          <p:nvPr/>
        </p:nvSpPr>
        <p:spPr>
          <a:xfrm>
            <a:off x="1249680" y="5142349"/>
            <a:ext cx="9916668" cy="440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Requested  /docs/react/referense/hooks/use-locale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Resolved   /docs/react/reference/hooks/use-locale</a:t>
            </a:r>
            <a:endParaRPr lang="en-US" sz="1020" dirty="0"/>
          </a:p>
        </p:txBody>
      </p:sp>
      <p:sp>
        <p:nvSpPr>
          <p:cNvPr id="5" name="ts:nearest-page-routin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44 / 85</a:t>
            </a:r>
            <a:endParaRPr lang="en-US" sz="780" dirty="0"/>
          </a:p>
        </p:txBody>
      </p:sp>
      <p:pic>
        <p:nvPicPr>
          <p:cNvPr id="6" name="ts:nearest-page-routing#sheet" descr="Nearest-page routing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ompact Oxford English Dictionary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dictionary#title" hidden="1"/>
          <p:cNvSpPr txBox="1">
            <a:spLocks noGrp="1"/>
          </p:cNvSpPr>
          <p:nvPr>
            <p:ph type="title"/>
          </p:nvPr>
        </p:nvSpPr>
        <p:spPr>
          <a:xfrm>
            <a:off x="7078980" y="3638245"/>
            <a:ext cx="3870960" cy="7241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Compact Oxford English Dictionary</a:t>
            </a:r>
            <a:endParaRPr lang="en-US" sz="2640" dirty="0"/>
          </a:p>
        </p:txBody>
      </p:sp>
      <p:sp>
        <p:nvSpPr>
          <p:cNvPr id="2" name="ts:mood-dictionary#h/text"/>
          <p:cNvSpPr txBox="1"/>
          <p:nvPr/>
        </p:nvSpPr>
        <p:spPr>
          <a:xfrm>
            <a:off x="7078980" y="3645420"/>
            <a:ext cx="3889248" cy="7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Compact Oxford</a:t>
            </a:r>
            <a:br/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English Dictionary</a:t>
            </a:r>
            <a:endParaRPr lang="en-US" sz="2640" dirty="0"/>
          </a:p>
        </p:txBody>
      </p:sp>
      <p:sp>
        <p:nvSpPr>
          <p:cNvPr id="3" name="ts:mood-dictionary#p1/text"/>
          <p:cNvSpPr txBox="1"/>
          <p:nvPr/>
        </p:nvSpPr>
        <p:spPr>
          <a:xfrm>
            <a:off x="7078980" y="4421513"/>
            <a:ext cx="3889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full dictionary is printed small enough to need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magnifier, and it is still complete. The docs are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built in the same order: the set is complete before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it is made compact.</a:t>
            </a:r>
            <a:endParaRPr lang="en-US" sz="1320" dirty="0"/>
          </a:p>
        </p:txBody>
      </p:sp>
      <p:sp>
        <p:nvSpPr>
          <p:cNvPr id="4" name="ts:mood-dictionary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Photograph: Cullen328, CC BY-SA 4.0</a:t>
            </a:r>
            <a:endParaRPr lang="en-US" sz="900" dirty="0"/>
          </a:p>
        </p:txBody>
      </p:sp>
      <p:sp>
        <p:nvSpPr>
          <p:cNvPr id="5" name="ts:mood-dictionary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45 / 85</a:t>
            </a:r>
            <a:endParaRPr lang="en-US" sz="780" dirty="0"/>
          </a:p>
        </p:txBody>
      </p:sp>
      <p:pic>
        <p:nvPicPr>
          <p:cNvPr id="6" name="ts:mood-dictionary#sheet" descr="The Compact Oxford English Dictionary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Markdown twin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s:docs-for-agents#title" hidden="1"/>
          <p:cNvSpPr txBox="1">
            <a:spLocks noGrp="1"/>
          </p:cNvSpPr>
          <p:nvPr>
            <p:ph type="title"/>
          </p:nvPr>
        </p:nvSpPr>
        <p:spPr>
          <a:xfrm>
            <a:off x="1043940" y="1530248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Markdown twins</a:t>
            </a:r>
            <a:endParaRPr lang="en-US" sz="2640" dirty="0"/>
          </a:p>
        </p:txBody>
      </p:sp>
      <p:sp>
        <p:nvSpPr>
          <p:cNvPr id="2" name="ts:docs-for-agents#h/text"/>
          <p:cNvSpPr txBox="1"/>
          <p:nvPr/>
        </p:nvSpPr>
        <p:spPr>
          <a:xfrm>
            <a:off x="1043940" y="1534071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Markdown twins</a:t>
            </a:r>
            <a:endParaRPr lang="en-US" sz="2640" dirty="0"/>
          </a:p>
        </p:txBody>
      </p:sp>
      <p:sp>
        <p:nvSpPr>
          <p:cNvPr id="3" name="ts:docs-for-agents#p1/text"/>
          <p:cNvSpPr txBox="1"/>
          <p:nvPr/>
        </p:nvSpPr>
        <p:spPr>
          <a:xfrm>
            <a:off x="1043940" y="2167212"/>
            <a:ext cx="3999738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Developers and coding agents read the same docs.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page is also published as markdown,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Copy page menu can open it in Claude or ChatGPT.</a:t>
            </a:r>
            <a:endParaRPr lang="en-US" sz="1320" dirty="0"/>
          </a:p>
        </p:txBody>
      </p:sp>
      <p:sp>
        <p:nvSpPr>
          <p:cNvPr id="4" name="ts:docs-for-agents#p2/text"/>
          <p:cNvSpPr txBox="1"/>
          <p:nvPr/>
        </p:nvSpPr>
        <p:spPr>
          <a:xfrm>
            <a:off x="1043940" y="4976550"/>
            <a:ext cx="399973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Currently only the English versions are prebuilt. The seven translated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locales are covered by a fix now in review.</a:t>
            </a:r>
            <a:endParaRPr lang="en-US" sz="900" dirty="0"/>
          </a:p>
        </p:txBody>
      </p:sp>
      <p:grpSp>
        <p:nvGrpSpPr>
          <p:cNvPr id="15" name="rows/row/0"/>
          <p:cNvGrpSpPr/>
          <p:nvPr/>
        </p:nvGrpSpPr>
        <p:grpSpPr>
          <a:xfrm>
            <a:off x="5802630" y="2184456"/>
            <a:ext cx="5363718" cy="441960"/>
            <a:chOff x="5802630" y="2184456"/>
            <a:chExt cx="5363718" cy="441960"/>
          </a:xfrm>
        </p:grpSpPr>
        <p:sp>
          <p:nvSpPr>
            <p:cNvPr id="5" name="ts:docs-for-agents#rows/items/0/key@rows/row/0"/>
            <p:cNvSpPr txBox="1"/>
            <p:nvPr/>
          </p:nvSpPr>
          <p:spPr>
            <a:xfrm>
              <a:off x="5802630" y="218445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Markdown</a:t>
              </a:r>
              <a:endParaRPr lang="en-US" sz="1200" dirty="0"/>
            </a:p>
          </p:txBody>
        </p:sp>
        <p:sp>
          <p:nvSpPr>
            <p:cNvPr id="6" name="ts:docs-for-agents#rows/items/0/value@rows/row/0"/>
            <p:cNvSpPr txBox="1"/>
            <p:nvPr/>
          </p:nvSpPr>
          <p:spPr>
            <a:xfrm>
              <a:off x="7189470" y="218445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Data-driven components, such as the supported-locales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table, are expanded into plain markdown.</a:t>
              </a:r>
              <a:endParaRPr lang="en-US" sz="1200" dirty="0"/>
            </a:p>
          </p:txBody>
        </p:sp>
      </p:grpSp>
      <p:grpSp>
        <p:nvGrpSpPr>
          <p:cNvPr id="16" name="rows/row/1"/>
          <p:cNvGrpSpPr/>
          <p:nvPr/>
        </p:nvGrpSpPr>
        <p:grpSpPr>
          <a:xfrm>
            <a:off x="5802630" y="2847396"/>
            <a:ext cx="5363718" cy="441960"/>
            <a:chOff x="5802630" y="2847396"/>
            <a:chExt cx="5363718" cy="441960"/>
          </a:xfrm>
        </p:grpSpPr>
        <p:sp>
          <p:nvSpPr>
            <p:cNvPr id="7" name="ts:docs-for-agents#rows/items/1/key@rows/row/1"/>
            <p:cNvSpPr txBox="1"/>
            <p:nvPr/>
          </p:nvSpPr>
          <p:spPr>
            <a:xfrm>
              <a:off x="5802630" y="284739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Preference</a:t>
              </a:r>
              <a:endParaRPr lang="en-US" sz="1200" dirty="0"/>
            </a:p>
          </p:txBody>
        </p:sp>
        <p:sp>
          <p:nvSpPr>
            <p:cNvPr id="8" name="ts:docs-for-agents#rows/items/1/value@rows/row/1"/>
            <p:cNvSpPr txBox="1"/>
            <p:nvPr/>
          </p:nvSpPr>
          <p:spPr>
            <a:xfrm>
              <a:off x="7189470" y="284739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Framework preference is stored in a cookie and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URL, so each variant is a separately cached page.</a:t>
              </a:r>
              <a:endParaRPr lang="en-US" sz="1200" dirty="0"/>
            </a:p>
          </p:txBody>
        </p:sp>
      </p:grpSp>
      <p:grpSp>
        <p:nvGrpSpPr>
          <p:cNvPr id="17" name="rows/row/2"/>
          <p:cNvGrpSpPr/>
          <p:nvPr/>
        </p:nvGrpSpPr>
        <p:grpSpPr>
          <a:xfrm>
            <a:off x="5802630" y="3510336"/>
            <a:ext cx="5363718" cy="441960"/>
            <a:chOff x="5802630" y="3510336"/>
            <a:chExt cx="5363718" cy="441960"/>
          </a:xfrm>
        </p:grpSpPr>
        <p:sp>
          <p:nvSpPr>
            <p:cNvPr id="9" name="ts:docs-for-agents#rows/items/2/key@rows/row/2"/>
            <p:cNvSpPr txBox="1"/>
            <p:nvPr/>
          </p:nvSpPr>
          <p:spPr>
            <a:xfrm>
              <a:off x="5802630" y="351033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Search</a:t>
              </a:r>
              <a:endParaRPr lang="en-US" sz="1200" dirty="0"/>
            </a:p>
          </p:txBody>
        </p:sp>
        <p:sp>
          <p:nvSpPr>
            <p:cNvPr id="10" name="ts:docs-for-agents#rows/items/2/value@rows/row/2"/>
            <p:cNvSpPr txBox="1"/>
            <p:nvPr/>
          </p:nvSpPr>
          <p:spPr>
            <a:xfrm>
              <a:off x="7189470" y="351033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Pagefind indexes the built HTML after every deploy, with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one index partition per locale.</a:t>
              </a:r>
              <a:endParaRPr lang="en-US" sz="1200" dirty="0"/>
            </a:p>
          </p:txBody>
        </p:sp>
      </p:grpSp>
      <p:grpSp>
        <p:nvGrpSpPr>
          <p:cNvPr id="18" name="rows/row/3"/>
          <p:cNvGrpSpPr/>
          <p:nvPr/>
        </p:nvGrpSpPr>
        <p:grpSpPr>
          <a:xfrm>
            <a:off x="5802630" y="4173276"/>
            <a:ext cx="5363718" cy="441960"/>
            <a:chOff x="5802630" y="4173276"/>
            <a:chExt cx="5363718" cy="441960"/>
          </a:xfrm>
        </p:grpSpPr>
        <p:sp>
          <p:nvSpPr>
            <p:cNvPr id="11" name="ts:docs-for-agents#rows/items/3/key@rows/row/3"/>
            <p:cNvSpPr txBox="1"/>
            <p:nvPr/>
          </p:nvSpPr>
          <p:spPr>
            <a:xfrm>
              <a:off x="5802630" y="417327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Locales</a:t>
              </a:r>
              <a:endParaRPr lang="en-US" sz="1200" dirty="0"/>
            </a:p>
          </p:txBody>
        </p:sp>
        <p:sp>
          <p:nvSpPr>
            <p:cNvPr id="12" name="ts:docs-for-agents#rows/items/3/value@rows/row/3"/>
            <p:cNvSpPr txBox="1"/>
            <p:nvPr/>
          </p:nvSpPr>
          <p:spPr>
            <a:xfrm>
              <a:off x="7189470" y="417327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English tree defines structure and locale trees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supply labels, so every sidebar lists every page.</a:t>
              </a:r>
              <a:endParaRPr lang="en-US" sz="1200" dirty="0"/>
            </a:p>
          </p:txBody>
        </p:sp>
      </p:grpSp>
      <p:sp>
        <p:nvSpPr>
          <p:cNvPr id="13" name="ts:docs-for-agent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46 / 85</a:t>
            </a:r>
            <a:endParaRPr lang="en-US" sz="780" dirty="0"/>
          </a:p>
        </p:txBody>
      </p:sp>
      <p:pic>
        <p:nvPicPr>
          <p:cNvPr id="14" name="ts:docs-for-agents#sheet" descr="Markdown twin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g and content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opener-blog#title" hidden="1"/>
          <p:cNvSpPr txBox="1">
            <a:spLocks noGrp="1"/>
          </p:cNvSpPr>
          <p:nvPr>
            <p:ph type="title"/>
          </p:nvPr>
        </p:nvSpPr>
        <p:spPr>
          <a:xfrm>
            <a:off x="1242060" y="4269334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Blog and content</a:t>
            </a:r>
            <a:endParaRPr lang="en-US" sz="4320" dirty="0"/>
          </a:p>
        </p:txBody>
      </p:sp>
      <p:sp>
        <p:nvSpPr>
          <p:cNvPr id="2" name="ts:opener-blog#h/text"/>
          <p:cNvSpPr txBox="1"/>
          <p:nvPr/>
        </p:nvSpPr>
        <p:spPr>
          <a:xfrm>
            <a:off x="1242060" y="4297314"/>
            <a:ext cx="526084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Blog and content</a:t>
            </a:r>
            <a:endParaRPr lang="en-US" sz="4320" dirty="0"/>
          </a:p>
        </p:txBody>
      </p:sp>
      <p:sp>
        <p:nvSpPr>
          <p:cNvPr id="3" name="ts:opener-blog#p1/text"/>
          <p:cNvSpPr txBox="1"/>
          <p:nvPr/>
        </p:nvSpPr>
        <p:spPr>
          <a:xfrm>
            <a:off x="1242060" y="4924433"/>
            <a:ext cx="5260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section covers the blog, its covers, the content rules,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brand assets outside the site.</a:t>
            </a:r>
            <a:endParaRPr lang="en-US" sz="1320" dirty="0"/>
          </a:p>
        </p:txBody>
      </p:sp>
      <p:sp>
        <p:nvSpPr>
          <p:cNvPr id="4" name="ts:opener-blog#credit/text"/>
          <p:cNvSpPr txBox="1"/>
          <p:nvPr/>
        </p:nvSpPr>
        <p:spPr>
          <a:xfrm>
            <a:off x="1242060" y="5538829"/>
            <a:ext cx="52608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gem smoke, Paper Shaders, rendered in Glyphfield</a:t>
            </a:r>
            <a:endParaRPr lang="en-US" sz="900" dirty="0"/>
          </a:p>
        </p:txBody>
      </p:sp>
      <p:sp>
        <p:nvSpPr>
          <p:cNvPr id="5" name="ts:opener-blo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47 / 85</a:t>
            </a:r>
            <a:endParaRPr lang="en-US" sz="780" dirty="0"/>
          </a:p>
        </p:txBody>
      </p:sp>
      <p:pic>
        <p:nvPicPr>
          <p:cNvPr id="6" name="ts:opener-blog#sheet" descr="Blog and content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g index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blog-index#title" hidden="1"/>
          <p:cNvSpPr txBox="1">
            <a:spLocks noGrp="1"/>
          </p:cNvSpPr>
          <p:nvPr>
            <p:ph type="title"/>
          </p:nvPr>
        </p:nvSpPr>
        <p:spPr>
          <a:xfrm>
            <a:off x="1043940" y="195910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Blog index</a:t>
            </a:r>
            <a:endParaRPr lang="en-US" sz="2640" dirty="0"/>
          </a:p>
        </p:txBody>
      </p:sp>
      <p:sp>
        <p:nvSpPr>
          <p:cNvPr id="2" name="ts:blog-index#h/text"/>
          <p:cNvSpPr txBox="1"/>
          <p:nvPr/>
        </p:nvSpPr>
        <p:spPr>
          <a:xfrm>
            <a:off x="1043940" y="196292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Blog index</a:t>
            </a:r>
            <a:endParaRPr lang="en-US" sz="2640" dirty="0"/>
          </a:p>
        </p:txBody>
      </p:sp>
      <p:sp>
        <p:nvSpPr>
          <p:cNvPr id="3" name="ts:blog-index#p1/text"/>
          <p:cNvSpPr txBox="1"/>
          <p:nvPr/>
        </p:nvSpPr>
        <p:spPr>
          <a:xfrm>
            <a:off x="1043940" y="2596065"/>
            <a:ext cx="3203448" cy="22631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index uses a split-flap display: two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tickers cycle the word for news through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fifteen languages above and below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headline. The changelog is a horizontal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strip of release cards. Below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changelog, posts are listed in a card grid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and filtered by four categories: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Engineering, Craft, Community,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News.</a:t>
            </a:r>
            <a:endParaRPr lang="en-US" sz="1320" dirty="0"/>
          </a:p>
        </p:txBody>
      </p:sp>
      <p:sp>
        <p:nvSpPr>
          <p:cNvPr id="4" name="ts:blog-index#fig/caption"/>
          <p:cNvSpPr txBox="1"/>
          <p:nvPr/>
        </p:nvSpPr>
        <p:spPr>
          <a:xfrm>
            <a:off x="5036820" y="5472849"/>
            <a:ext cx="587044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blog index runs the two tickers above and below the headline, sets the changelog strip between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two registration crosses on the left rail, and starts the post grid under the category filter.</a:t>
            </a:r>
            <a:endParaRPr lang="en-US" sz="960" dirty="0"/>
          </a:p>
        </p:txBody>
      </p:sp>
      <p:sp>
        <p:nvSpPr>
          <p:cNvPr id="5" name="ts:blog-index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48 / 85</a:t>
            </a:r>
            <a:endParaRPr lang="en-US" sz="780" dirty="0"/>
          </a:p>
        </p:txBody>
      </p:sp>
      <p:pic>
        <p:nvPicPr>
          <p:cNvPr id="6" name="ts:blog-index#sheet" descr="Blog index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enerated cover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blog-covers#title" hidden="1"/>
          <p:cNvSpPr txBox="1">
            <a:spLocks noGrp="1"/>
          </p:cNvSpPr>
          <p:nvPr>
            <p:ph type="title"/>
          </p:nvPr>
        </p:nvSpPr>
        <p:spPr>
          <a:xfrm>
            <a:off x="1043940" y="183337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Generated covers</a:t>
            </a:r>
            <a:endParaRPr lang="en-US" sz="2640" dirty="0"/>
          </a:p>
        </p:txBody>
      </p:sp>
      <p:sp>
        <p:nvSpPr>
          <p:cNvPr id="2" name="ts:blog-covers#h/text"/>
          <p:cNvSpPr txBox="1"/>
          <p:nvPr/>
        </p:nvSpPr>
        <p:spPr>
          <a:xfrm>
            <a:off x="1043940" y="183719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Generated covers</a:t>
            </a:r>
            <a:endParaRPr lang="en-US" sz="2640" dirty="0"/>
          </a:p>
        </p:txBody>
      </p:sp>
      <p:sp>
        <p:nvSpPr>
          <p:cNvPr id="3" name="ts:blog-covers#p1/text"/>
          <p:cNvSpPr txBox="1"/>
          <p:nvPr/>
        </p:nvSpPr>
        <p:spPr>
          <a:xfrm>
            <a:off x="1043940" y="2470335"/>
            <a:ext cx="3203448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Posts without a cover image get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generated one: a keyword from the title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(SEO, Next.js, i18n, React) or the package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name of a release, rendered through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ten-tier Bayer dither ramp on a 400 by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225 canvas and rotated by an angle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derived from the slug. Two posts have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designed covers, both dithered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compositions with a lockup. The rest use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generated type covers.</a:t>
            </a:r>
            <a:endParaRPr lang="en-US" sz="1320" dirty="0"/>
          </a:p>
        </p:txBody>
      </p:sp>
      <p:sp>
        <p:nvSpPr>
          <p:cNvPr id="4" name="ts:blog-covers#fig/caption"/>
          <p:cNvSpPr txBox="1"/>
          <p:nvPr/>
        </p:nvSpPr>
        <p:spPr>
          <a:xfrm>
            <a:off x="4777740" y="5001628"/>
            <a:ext cx="638860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gt-rrweb 0.2.0 release note uses a generated type cover: the package name is set through the ten-tier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dither ramp on a plate that follows the page theme.</a:t>
            </a:r>
            <a:endParaRPr lang="en-US" sz="960" dirty="0"/>
          </a:p>
        </p:txBody>
      </p:sp>
      <p:sp>
        <p:nvSpPr>
          <p:cNvPr id="5" name="ts:blog-cover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49 / 85</a:t>
            </a:r>
            <a:endParaRPr lang="en-US" sz="780" dirty="0"/>
          </a:p>
        </p:txBody>
      </p:sp>
      <p:pic>
        <p:nvPicPr>
          <p:cNvPr id="6" name="ts:blog-covers#sheet" descr="Generated cover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A Devanagari manuscript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devanagari#title" hidden="1"/>
          <p:cNvSpPr txBox="1">
            <a:spLocks noGrp="1"/>
          </p:cNvSpPr>
          <p:nvPr>
            <p:ph type="title"/>
          </p:nvPr>
        </p:nvSpPr>
        <p:spPr>
          <a:xfrm>
            <a:off x="7078980" y="4000271"/>
            <a:ext cx="3870960" cy="3621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A Devanagari manuscript</a:t>
            </a:r>
            <a:endParaRPr lang="en-US" sz="2640" dirty="0"/>
          </a:p>
        </p:txBody>
      </p:sp>
      <p:sp>
        <p:nvSpPr>
          <p:cNvPr id="2" name="ts:mood-devanagari#h/text"/>
          <p:cNvSpPr txBox="1"/>
          <p:nvPr/>
        </p:nvSpPr>
        <p:spPr>
          <a:xfrm>
            <a:off x="7078980" y="4007446"/>
            <a:ext cx="38892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 Devanagari manuscript</a:t>
            </a:r>
            <a:endParaRPr lang="en-US" sz="2640" dirty="0"/>
          </a:p>
        </p:txBody>
      </p:sp>
      <p:sp>
        <p:nvSpPr>
          <p:cNvPr id="3" name="ts:mood-devanagari#p1/text"/>
          <p:cNvSpPr txBox="1"/>
          <p:nvPr/>
        </p:nvSpPr>
        <p:spPr>
          <a:xfrm>
            <a:off x="7078980" y="4421513"/>
            <a:ext cx="3889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 page of the Prashna Upanishad, copied by hand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so the text could travel. The company's writing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exists to travel the same way, between scripts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readers.</a:t>
            </a:r>
            <a:endParaRPr lang="en-US" sz="1320" dirty="0"/>
          </a:p>
        </p:txBody>
      </p:sp>
      <p:sp>
        <p:nvSpPr>
          <p:cNvPr id="4" name="ts:mood-devanagari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Photograph: Ms Sarah Welch, CC BY-SA 4.0</a:t>
            </a:r>
            <a:endParaRPr lang="en-US" sz="900" dirty="0"/>
          </a:p>
        </p:txBody>
      </p:sp>
      <p:sp>
        <p:nvSpPr>
          <p:cNvPr id="5" name="ts:mood-devanagari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50 / 85</a:t>
            </a:r>
            <a:endParaRPr lang="en-US" sz="780" dirty="0"/>
          </a:p>
        </p:txBody>
      </p:sp>
      <p:pic>
        <p:nvPicPr>
          <p:cNvPr id="6" name="ts:mood-devanagari#sheet" descr="A Devanagari manuscript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signed cover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gem-smok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Designed covers</a:t>
            </a:r>
            <a:endParaRPr lang="en-US" sz="2640" dirty="0"/>
          </a:p>
        </p:txBody>
      </p:sp>
      <p:sp>
        <p:nvSpPr>
          <p:cNvPr id="2" name="ts:gem-smoke#h/text"/>
          <p:cNvSpPr txBox="1"/>
          <p:nvPr/>
        </p:nvSpPr>
        <p:spPr>
          <a:xfrm>
            <a:off x="1043940" y="985278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Designed covers</a:t>
            </a:r>
            <a:endParaRPr lang="en-US" sz="2640" dirty="0"/>
          </a:p>
        </p:txBody>
      </p:sp>
      <p:sp>
        <p:nvSpPr>
          <p:cNvPr id="3" name="ts:gem-smoke#p1/text"/>
          <p:cNvSpPr txBox="1"/>
          <p:nvPr/>
        </p:nvSpPr>
        <p:spPr>
          <a:xfrm>
            <a:off x="5574030" y="944888"/>
            <a:ext cx="559231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Designed covers and the reel use one GPU material from Glyphfield, gem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smoke, driven by two color uniforms: a dark base and a brand color.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Partner covers change only the brand color and the lockup, so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partner color is each page's single accent.</a:t>
            </a:r>
            <a:endParaRPr lang="en-US" sz="1320" dirty="0"/>
          </a:p>
        </p:txBody>
      </p:sp>
      <p:sp>
        <p:nvSpPr>
          <p:cNvPr id="4" name="ts:gem-smoke#pair/figures/0/caption"/>
          <p:cNvSpPr txBox="1"/>
          <p:nvPr/>
        </p:nvSpPr>
        <p:spPr>
          <a:xfrm>
            <a:off x="1043940" y="5475287"/>
            <a:ext cx="4963668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</a:t>
            </a:r>
            <a:pPr algn="l" indent="0" marL="0">
              <a:lnSpc>
                <a:spcPts val="1392"/>
              </a:lnSpc>
              <a:buNone/>
            </a:pPr>
            <a:r>
              <a:rPr lang="en-US" sz="960" spc="-93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GT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 open-source announcement cover sets the brand color to </a:t>
            </a:r>
            <a:pPr algn="l" indent="0" marL="0">
              <a:lnSpc>
                <a:spcPts val="1392"/>
              </a:lnSpc>
              <a:buNone/>
            </a:pPr>
            <a:r>
              <a:rPr lang="en-US" sz="960" spc="-93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GT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 blue.</a:t>
            </a:r>
            <a:endParaRPr lang="en-US" sz="960" dirty="0"/>
          </a:p>
        </p:txBody>
      </p:sp>
      <p:sp>
        <p:nvSpPr>
          <p:cNvPr id="5" name="ts:gem-smoke#pair/figures/1/caption"/>
          <p:cNvSpPr txBox="1"/>
          <p:nvPr/>
        </p:nvSpPr>
        <p:spPr>
          <a:xfrm>
            <a:off x="6202680" y="5475287"/>
            <a:ext cx="4963668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Fumadocs grantee profile cover sets the brand color to Fumadocs orange.</a:t>
            </a:r>
            <a:endParaRPr lang="en-US" sz="960" dirty="0"/>
          </a:p>
        </p:txBody>
      </p:sp>
      <p:sp>
        <p:nvSpPr>
          <p:cNvPr id="6" name="ts:gem-smok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51 / 85</a:t>
            </a:r>
            <a:endParaRPr lang="en-US" sz="780" dirty="0"/>
          </a:p>
        </p:txBody>
      </p:sp>
      <p:pic>
        <p:nvPicPr>
          <p:cNvPr id="7" name="ts:gem-smoke#sheet" descr="Designed cover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log content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s:blog-vision#title" hidden="1"/>
          <p:cNvSpPr txBox="1">
            <a:spLocks noGrp="1"/>
          </p:cNvSpPr>
          <p:nvPr>
            <p:ph type="title"/>
          </p:nvPr>
        </p:nvSpPr>
        <p:spPr>
          <a:xfrm>
            <a:off x="1043940" y="1379982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Blog content</a:t>
            </a:r>
            <a:endParaRPr lang="en-US" sz="2640" dirty="0"/>
          </a:p>
        </p:txBody>
      </p:sp>
      <p:sp>
        <p:nvSpPr>
          <p:cNvPr id="2" name="ts:blog-vision#h/text"/>
          <p:cNvSpPr txBox="1"/>
          <p:nvPr/>
        </p:nvSpPr>
        <p:spPr>
          <a:xfrm>
            <a:off x="1043940" y="1383804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Blog content</a:t>
            </a:r>
            <a:endParaRPr lang="en-US" sz="2640" dirty="0"/>
          </a:p>
        </p:txBody>
      </p:sp>
      <p:sp>
        <p:nvSpPr>
          <p:cNvPr id="3" name="ts:blog-vision#p1/text"/>
          <p:cNvSpPr txBox="1"/>
          <p:nvPr/>
        </p:nvSpPr>
        <p:spPr>
          <a:xfrm>
            <a:off x="1043940" y="2016945"/>
            <a:ext cx="47960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blog relaunched in August 2026 with an open-source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grant program: $15,000 across fifteen developers, each with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platform credits, and a profile of each grantee to follow.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first profile is Fuma Nama, the author of Fumadocs, which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docs run on.</a:t>
            </a:r>
            <a:endParaRPr lang="en-US" sz="1320" dirty="0"/>
          </a:p>
        </p:txBody>
      </p:sp>
      <p:grpSp>
        <p:nvGrpSpPr>
          <p:cNvPr id="13" name="rows/row/0"/>
          <p:cNvGrpSpPr/>
          <p:nvPr/>
        </p:nvGrpSpPr>
        <p:grpSpPr>
          <a:xfrm>
            <a:off x="1272540" y="3565124"/>
            <a:ext cx="4567428" cy="441960"/>
            <a:chOff x="1272540" y="3565124"/>
            <a:chExt cx="4567428" cy="441960"/>
          </a:xfrm>
        </p:grpSpPr>
        <p:sp>
          <p:nvSpPr>
            <p:cNvPr id="4" name="ts:blog-vision#rows/items/0/key@rows/row/0"/>
            <p:cNvSpPr txBox="1"/>
            <p:nvPr/>
          </p:nvSpPr>
          <p:spPr>
            <a:xfrm>
              <a:off x="1272540" y="3565124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Release notes</a:t>
              </a:r>
              <a:endParaRPr lang="en-US" sz="1200" dirty="0"/>
            </a:p>
          </p:txBody>
        </p:sp>
        <p:sp>
          <p:nvSpPr>
            <p:cNvPr id="5" name="ts:blog-vision#rows/items/0/value@rows/row/0"/>
            <p:cNvSpPr txBox="1"/>
            <p:nvPr/>
          </p:nvSpPr>
          <p:spPr>
            <a:xfrm>
              <a:off x="2659380" y="3565124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Fifty-four have been published. Each has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four sections and a changelog headline.</a:t>
              </a:r>
              <a:endParaRPr lang="en-US" sz="1200" dirty="0"/>
            </a:p>
          </p:txBody>
        </p:sp>
      </p:grpSp>
      <p:grpSp>
        <p:nvGrpSpPr>
          <p:cNvPr id="14" name="rows/row/1"/>
          <p:cNvGrpSpPr/>
          <p:nvPr/>
        </p:nvGrpSpPr>
        <p:grpSpPr>
          <a:xfrm>
            <a:off x="1272540" y="4228064"/>
            <a:ext cx="4567428" cy="441960"/>
            <a:chOff x="1272540" y="4228064"/>
            <a:chExt cx="4567428" cy="441960"/>
          </a:xfrm>
        </p:grpSpPr>
        <p:sp>
          <p:nvSpPr>
            <p:cNvPr id="6" name="ts:blog-vision#rows/items/1/key@rows/row/1"/>
            <p:cNvSpPr txBox="1"/>
            <p:nvPr/>
          </p:nvSpPr>
          <p:spPr>
            <a:xfrm>
              <a:off x="1272540" y="4228064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Essays</a:t>
              </a:r>
              <a:endParaRPr lang="en-US" sz="1200" dirty="0"/>
            </a:p>
          </p:txBody>
        </p:sp>
        <p:sp>
          <p:nvSpPr>
            <p:cNvPr id="7" name="ts:blog-vision#rows/items/1/value@rows/row/1"/>
            <p:cNvSpPr txBox="1"/>
            <p:nvPr/>
          </p:nvSpPr>
          <p:spPr>
            <a:xfrm>
              <a:off x="2659380" y="4228064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Eight essays were removed. New essays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argue one point with code and numbers.</a:t>
              </a:r>
              <a:endParaRPr lang="en-US" sz="1200" dirty="0"/>
            </a:p>
          </p:txBody>
        </p:sp>
      </p:grpSp>
      <p:grpSp>
        <p:nvGrpSpPr>
          <p:cNvPr id="15" name="rows/row/2"/>
          <p:cNvGrpSpPr/>
          <p:nvPr/>
        </p:nvGrpSpPr>
        <p:grpSpPr>
          <a:xfrm>
            <a:off x="1272540" y="4891004"/>
            <a:ext cx="4567428" cy="441960"/>
            <a:chOff x="1272540" y="4891004"/>
            <a:chExt cx="4567428" cy="441960"/>
          </a:xfrm>
        </p:grpSpPr>
        <p:sp>
          <p:nvSpPr>
            <p:cNvPr id="8" name="ts:blog-vision#rows/items/2/key@rows/row/2"/>
            <p:cNvSpPr txBox="1"/>
            <p:nvPr/>
          </p:nvSpPr>
          <p:spPr>
            <a:xfrm>
              <a:off x="1272540" y="4891004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Profiles</a:t>
              </a:r>
              <a:endParaRPr lang="en-US" sz="1200" dirty="0"/>
            </a:p>
          </p:txBody>
        </p:sp>
        <p:sp>
          <p:nvSpPr>
            <p:cNvPr id="9" name="ts:blog-vision#rows/items/2/value@rows/row/2"/>
            <p:cNvSpPr txBox="1"/>
            <p:nvPr/>
          </p:nvSpPr>
          <p:spPr>
            <a:xfrm>
              <a:off x="2659380" y="4891004"/>
              <a:ext cx="31805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Long-form interviews are built around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subject's own quotes.</a:t>
              </a:r>
              <a:endParaRPr lang="en-US" sz="1200" dirty="0"/>
            </a:p>
          </p:txBody>
        </p:sp>
      </p:grpSp>
      <p:sp>
        <p:nvSpPr>
          <p:cNvPr id="10" name="ts:blog-vision#fig/caption"/>
          <p:cNvSpPr txBox="1"/>
          <p:nvPr/>
        </p:nvSpPr>
        <p:spPr>
          <a:xfrm>
            <a:off x="6370320" y="4786812"/>
            <a:ext cx="479602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post announcing the grant program, published on August 17, 2026, carries one of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two designed covers.</a:t>
            </a:r>
            <a:endParaRPr lang="en-US" sz="900" dirty="0"/>
          </a:p>
        </p:txBody>
      </p:sp>
      <p:sp>
        <p:nvSpPr>
          <p:cNvPr id="11" name="ts:blog-vision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52 / 85</a:t>
            </a:r>
            <a:endParaRPr lang="en-US" sz="780" dirty="0"/>
          </a:p>
        </p:txBody>
      </p:sp>
      <p:pic>
        <p:nvPicPr>
          <p:cNvPr id="12" name="ts:blog-vision#sheet" descr="Blog content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opy test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s:content-rule#title" hidden="1"/>
          <p:cNvSpPr txBox="1">
            <a:spLocks noGrp="1"/>
          </p:cNvSpPr>
          <p:nvPr>
            <p:ph type="title"/>
          </p:nvPr>
        </p:nvSpPr>
        <p:spPr>
          <a:xfrm>
            <a:off x="1043940" y="2462022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copy test</a:t>
            </a:r>
            <a:endParaRPr lang="en-US" sz="2640" dirty="0"/>
          </a:p>
        </p:txBody>
      </p:sp>
      <p:sp>
        <p:nvSpPr>
          <p:cNvPr id="2" name="ts:content-rule#h/text"/>
          <p:cNvSpPr txBox="1"/>
          <p:nvPr/>
        </p:nvSpPr>
        <p:spPr>
          <a:xfrm>
            <a:off x="1043940" y="2465844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copy test</a:t>
            </a:r>
            <a:endParaRPr lang="en-US" sz="2640" dirty="0"/>
          </a:p>
        </p:txBody>
      </p:sp>
      <p:sp>
        <p:nvSpPr>
          <p:cNvPr id="3" name="ts:content-rule#p1/text"/>
          <p:cNvSpPr txBox="1"/>
          <p:nvPr/>
        </p:nvSpPr>
        <p:spPr>
          <a:xfrm>
            <a:off x="1043940" y="3098985"/>
            <a:ext cx="479602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line of copy states a number or a mechanism. The rule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from the product video review: if a line could appear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unchanged in a competitor's video, cut it. The same test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applies to site copy, docs introductions, blog posts, README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and CLI text, and posts on X, LinkedIn, GitHub, and Discord.</a:t>
            </a:r>
            <a:endParaRPr lang="en-US" sz="1320" dirty="0"/>
          </a:p>
        </p:txBody>
      </p:sp>
      <p:sp>
        <p:nvSpPr>
          <p:cNvPr id="4" name="ts:content-rule#list/items/0/text@list/item/0"/>
          <p:cNvSpPr txBox="1"/>
          <p:nvPr/>
        </p:nvSpPr>
        <p:spPr>
          <a:xfrm>
            <a:off x="6644640" y="2156615"/>
            <a:ext cx="4521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Legacy i18n: 12 weeks.</a:t>
            </a:r>
            <a:endParaRPr lang="en-US" sz="1440" dirty="0"/>
          </a:p>
        </p:txBody>
      </p:sp>
      <p:sp>
        <p:nvSpPr>
          <p:cNvPr id="5" name="ts:content-rule#list/items/1/text@list/item/1"/>
          <p:cNvSpPr txBox="1"/>
          <p:nvPr/>
        </p:nvSpPr>
        <p:spPr>
          <a:xfrm>
            <a:off x="6644640" y="2603071"/>
            <a:ext cx="4521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With </a:t>
            </a:r>
            <a:pPr algn="l" indent="0" marL="0">
              <a:lnSpc>
                <a:spcPts val="2016"/>
              </a:lnSpc>
              <a:buNone/>
            </a:pPr>
            <a:r>
              <a:rPr lang="en-US" sz="1440" spc="-129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GT</a:t>
            </a:r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: one pull request.</a:t>
            </a:r>
            <a:endParaRPr lang="en-US" sz="1440" dirty="0"/>
          </a:p>
        </p:txBody>
      </p:sp>
      <p:sp>
        <p:nvSpPr>
          <p:cNvPr id="6" name="ts:content-rule#list/items/2/text@list/item/2"/>
          <p:cNvSpPr txBox="1"/>
          <p:nvPr/>
        </p:nvSpPr>
        <p:spPr>
          <a:xfrm>
            <a:off x="6644640" y="3049603"/>
            <a:ext cx="4521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Eight locales from one build.</a:t>
            </a:r>
            <a:endParaRPr lang="en-US" sz="1440" dirty="0"/>
          </a:p>
        </p:txBody>
      </p:sp>
      <p:sp>
        <p:nvSpPr>
          <p:cNvPr id="7" name="ts:content-rule#list/items/3/text@list/item/3"/>
          <p:cNvSpPr txBox="1"/>
          <p:nvPr/>
        </p:nvSpPr>
        <p:spPr>
          <a:xfrm>
            <a:off x="6644640" y="3496059"/>
            <a:ext cx="4521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pc="-14" dirty="0">
                <a:solidFill>
                  <a:srgbClr val="F2F2F0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Numbers, currency, and dates localize too.</a:t>
            </a:r>
            <a:endParaRPr lang="en-US" sz="1440" dirty="0"/>
          </a:p>
        </p:txBody>
      </p:sp>
      <p:sp>
        <p:nvSpPr>
          <p:cNvPr id="8" name="ts:content-rule#list/items/4/text@list/item/4"/>
          <p:cNvSpPr txBox="1"/>
          <p:nvPr/>
        </p:nvSpPr>
        <p:spPr>
          <a:xfrm>
            <a:off x="6644640" y="3942515"/>
            <a:ext cx="4521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trike="sngStrike" spc="-14" dirty="0">
                <a:solidFill>
                  <a:srgbClr val="B9BCC3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That market is yours to gain.</a:t>
            </a:r>
            <a:endParaRPr lang="en-US" sz="1440" dirty="0"/>
          </a:p>
        </p:txBody>
      </p:sp>
      <p:sp>
        <p:nvSpPr>
          <p:cNvPr id="9" name="ts:content-rule#list/items/5/text@list/item/5"/>
          <p:cNvSpPr txBox="1"/>
          <p:nvPr/>
        </p:nvSpPr>
        <p:spPr>
          <a:xfrm>
            <a:off x="6644640" y="4389047"/>
            <a:ext cx="45217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16"/>
              </a:lnSpc>
              <a:buNone/>
            </a:pPr>
            <a:r>
              <a:rPr lang="en-US" sz="1440" strike="sngStrike" spc="-14" dirty="0">
                <a:solidFill>
                  <a:srgbClr val="B9BCC3">
                    <a:alpha val="0"/>
                  </a:srgbClr>
                </a:solidFill>
                <a:latin typeface="GT Inter Text 24 Medium" pitchFamily="34" charset="0"/>
                <a:ea typeface="GT Inter Text 24 Medium" pitchFamily="34" charset="-122"/>
                <a:cs typeface="GT Inter Text 24 Medium" pitchFamily="34" charset="-120"/>
              </a:rPr>
              <a:t>Localization is a growth lever.</a:t>
            </a:r>
            <a:endParaRPr lang="en-US" sz="1440" dirty="0"/>
          </a:p>
        </p:txBody>
      </p:sp>
      <p:sp>
        <p:nvSpPr>
          <p:cNvPr id="10" name="ts:content-ru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53 / 85</a:t>
            </a:r>
            <a:endParaRPr lang="en-US" sz="780" dirty="0"/>
          </a:p>
        </p:txBody>
      </p:sp>
      <p:pic>
        <p:nvPicPr>
          <p:cNvPr id="11" name="ts:content-rule#sheet" descr="The copy test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ite copy and founder post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s:two-registers#title" hidden="1"/>
          <p:cNvSpPr txBox="1">
            <a:spLocks noGrp="1"/>
          </p:cNvSpPr>
          <p:nvPr>
            <p:ph type="title"/>
          </p:nvPr>
        </p:nvSpPr>
        <p:spPr>
          <a:xfrm>
            <a:off x="1043940" y="2403424"/>
            <a:ext cx="318516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Site copy and founder posts</a:t>
            </a:r>
            <a:endParaRPr lang="en-US" sz="2640" dirty="0"/>
          </a:p>
        </p:txBody>
      </p:sp>
      <p:sp>
        <p:nvSpPr>
          <p:cNvPr id="2" name="ts:two-registers#h/text"/>
          <p:cNvSpPr txBox="1"/>
          <p:nvPr/>
        </p:nvSpPr>
        <p:spPr>
          <a:xfrm>
            <a:off x="1043940" y="2407246"/>
            <a:ext cx="320344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Site copy and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founder posts</a:t>
            </a:r>
            <a:endParaRPr lang="en-US" sz="2640" dirty="0"/>
          </a:p>
        </p:txBody>
      </p:sp>
      <p:sp>
        <p:nvSpPr>
          <p:cNvPr id="3" name="ts:two-registers#p1/text"/>
          <p:cNvSpPr txBox="1"/>
          <p:nvPr/>
        </p:nvSpPr>
        <p:spPr>
          <a:xfrm>
            <a:off x="1043940" y="3409119"/>
            <a:ext cx="32034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two differ in case, length,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person. Both follow the same rule 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evidence and pass the same three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checks before publishing.</a:t>
            </a:r>
            <a:endParaRPr lang="en-US" sz="1320" dirty="0"/>
          </a:p>
        </p:txBody>
      </p:sp>
      <p:grpSp>
        <p:nvGrpSpPr>
          <p:cNvPr id="14" name="rows/row/0"/>
          <p:cNvGrpSpPr/>
          <p:nvPr/>
        </p:nvGrpSpPr>
        <p:grpSpPr>
          <a:xfrm>
            <a:off x="5006340" y="2184456"/>
            <a:ext cx="6160008" cy="441960"/>
            <a:chOff x="5006340" y="2184456"/>
            <a:chExt cx="6160008" cy="441960"/>
          </a:xfrm>
        </p:grpSpPr>
        <p:sp>
          <p:nvSpPr>
            <p:cNvPr id="4" name="ts:two-registers#rows/items/0/key@rows/row/0"/>
            <p:cNvSpPr txBox="1"/>
            <p:nvPr/>
          </p:nvSpPr>
          <p:spPr>
            <a:xfrm>
              <a:off x="5006340" y="218445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Site copy</a:t>
              </a:r>
              <a:endParaRPr lang="en-US" sz="1200" dirty="0"/>
            </a:p>
          </p:txBody>
        </p:sp>
        <p:sp>
          <p:nvSpPr>
            <p:cNvPr id="5" name="ts:two-registers#rows/items/0/value@rows/row/0"/>
            <p:cNvSpPr txBox="1"/>
            <p:nvPr/>
          </p:nvSpPr>
          <p:spPr>
            <a:xfrm>
              <a:off x="6393180" y="2184456"/>
              <a:ext cx="47731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Site copy uses declarative sentences, sentence-case headings,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Title Case button labels, and short captions.</a:t>
              </a:r>
              <a:endParaRPr lang="en-US" sz="1200" dirty="0"/>
            </a:p>
          </p:txBody>
        </p:sp>
      </p:grpSp>
      <p:grpSp>
        <p:nvGrpSpPr>
          <p:cNvPr id="15" name="rows/row/1"/>
          <p:cNvGrpSpPr/>
          <p:nvPr/>
        </p:nvGrpSpPr>
        <p:grpSpPr>
          <a:xfrm>
            <a:off x="5006340" y="2847396"/>
            <a:ext cx="6160008" cy="441960"/>
            <a:chOff x="5006340" y="2847396"/>
            <a:chExt cx="6160008" cy="441960"/>
          </a:xfrm>
        </p:grpSpPr>
        <p:sp>
          <p:nvSpPr>
            <p:cNvPr id="6" name="ts:two-registers#rows/items/1/key@rows/row/1"/>
            <p:cNvSpPr txBox="1"/>
            <p:nvPr/>
          </p:nvSpPr>
          <p:spPr>
            <a:xfrm>
              <a:off x="5006340" y="284739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Founder posts</a:t>
              </a:r>
              <a:endParaRPr lang="en-US" sz="1200" dirty="0"/>
            </a:p>
          </p:txBody>
        </p:sp>
        <p:sp>
          <p:nvSpPr>
            <p:cNvPr id="7" name="ts:two-registers#rows/items/1/value@rows/row/1"/>
            <p:cNvSpPr txBox="1"/>
            <p:nvPr/>
          </p:nvSpPr>
          <p:spPr>
            <a:xfrm>
              <a:off x="6393180" y="2847396"/>
              <a:ext cx="47731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Founder posts are lowercase, terse, and first person. A post that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any founder account could have written is not ready to publish.</a:t>
              </a:r>
              <a:endParaRPr lang="en-US" sz="1200" dirty="0"/>
            </a:p>
          </p:txBody>
        </p:sp>
      </p:grpSp>
      <p:grpSp>
        <p:nvGrpSpPr>
          <p:cNvPr id="16" name="rows/row/2"/>
          <p:cNvGrpSpPr/>
          <p:nvPr/>
        </p:nvGrpSpPr>
        <p:grpSpPr>
          <a:xfrm>
            <a:off x="5006340" y="3510336"/>
            <a:ext cx="6160008" cy="441960"/>
            <a:chOff x="5006340" y="3510336"/>
            <a:chExt cx="6160008" cy="441960"/>
          </a:xfrm>
        </p:grpSpPr>
        <p:sp>
          <p:nvSpPr>
            <p:cNvPr id="8" name="ts:two-registers#rows/items/2/key@rows/row/2"/>
            <p:cNvSpPr txBox="1"/>
            <p:nvPr/>
          </p:nvSpPr>
          <p:spPr>
            <a:xfrm>
              <a:off x="5006340" y="351033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Both</a:t>
              </a:r>
              <a:endParaRPr lang="en-US" sz="1200" dirty="0"/>
            </a:p>
          </p:txBody>
        </p:sp>
        <p:sp>
          <p:nvSpPr>
            <p:cNvPr id="9" name="ts:two-registers#rows/items/2/value@rows/row/2"/>
            <p:cNvSpPr txBox="1"/>
            <p:nvPr/>
          </p:nvSpPr>
          <p:spPr>
            <a:xfrm>
              <a:off x="6393180" y="3510336"/>
              <a:ext cx="47731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Both avoid founder clichés such as thrilled to announce and make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no claim without a number, a mechanism, or an artifact.</a:t>
              </a:r>
              <a:endParaRPr lang="en-US" sz="1200" dirty="0"/>
            </a:p>
          </p:txBody>
        </p:sp>
      </p:grpSp>
      <p:grpSp>
        <p:nvGrpSpPr>
          <p:cNvPr id="17" name="rows/row/3"/>
          <p:cNvGrpSpPr/>
          <p:nvPr/>
        </p:nvGrpSpPr>
        <p:grpSpPr>
          <a:xfrm>
            <a:off x="5006340" y="4173276"/>
            <a:ext cx="6160008" cy="441960"/>
            <a:chOff x="5006340" y="4173276"/>
            <a:chExt cx="6160008" cy="441960"/>
          </a:xfrm>
        </p:grpSpPr>
        <p:sp>
          <p:nvSpPr>
            <p:cNvPr id="10" name="ts:two-registers#rows/items/3/key@rows/row/3"/>
            <p:cNvSpPr txBox="1"/>
            <p:nvPr/>
          </p:nvSpPr>
          <p:spPr>
            <a:xfrm>
              <a:off x="5006340" y="417327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Checks</a:t>
              </a:r>
              <a:endParaRPr lang="en-US" sz="1200" dirty="0"/>
            </a:p>
          </p:txBody>
        </p:sp>
        <p:sp>
          <p:nvSpPr>
            <p:cNvPr id="11" name="ts:two-registers#rows/items/3/value@rows/row/3"/>
            <p:cNvSpPr txBox="1"/>
            <p:nvPr/>
          </p:nvSpPr>
          <p:spPr>
            <a:xfrm>
              <a:off x="6393180" y="4173276"/>
              <a:ext cx="47731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Three checks run before posting: only 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spc="-109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GT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 could have written it, it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cites concrete evidence, and it supports the reputation for quality.</a:t>
              </a:r>
              <a:endParaRPr lang="en-US" sz="1200" dirty="0"/>
            </a:p>
          </p:txBody>
        </p:sp>
      </p:grpSp>
      <p:sp>
        <p:nvSpPr>
          <p:cNvPr id="12" name="ts:two-register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54 / 85</a:t>
            </a:r>
            <a:endParaRPr lang="en-US" sz="780" dirty="0"/>
          </a:p>
        </p:txBody>
      </p:sp>
      <p:pic>
        <p:nvPicPr>
          <p:cNvPr id="13" name="ts:two-registers#sheet" descr="Site copy and founder post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rand assets outside the sit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off-the-sit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981450" cy="73754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Brand assets outside the site</a:t>
            </a:r>
            <a:endParaRPr lang="en-US" sz="2640" dirty="0"/>
          </a:p>
        </p:txBody>
      </p:sp>
      <p:sp>
        <p:nvSpPr>
          <p:cNvPr id="2" name="ts:off-the-site#h/text"/>
          <p:cNvSpPr txBox="1"/>
          <p:nvPr/>
        </p:nvSpPr>
        <p:spPr>
          <a:xfrm>
            <a:off x="1043940" y="985278"/>
            <a:ext cx="3999738" cy="737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Brand assets</a:t>
            </a:r>
            <a:br/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outside the site</a:t>
            </a:r>
            <a:endParaRPr lang="en-US" sz="2640" dirty="0"/>
          </a:p>
        </p:txBody>
      </p:sp>
      <p:sp>
        <p:nvSpPr>
          <p:cNvPr id="3" name="ts:off-the-site#p1/text"/>
          <p:cNvSpPr txBox="1"/>
          <p:nvPr/>
        </p:nvSpPr>
        <p:spPr>
          <a:xfrm>
            <a:off x="5574030" y="944888"/>
            <a:ext cx="559231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X banner uses the sign-in page's dithered globe and glyph field next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 the customer logo grid. The open-source announcement reel cuts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between twelve shader materials at 0.2 seconds each and ends on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grant amount. Both were produced with Prototemplate and Glyphfield.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social share card still uses pure black (#000000) and weight 800,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outside the current rules, and has not been updated yet.</a:t>
            </a:r>
            <a:endParaRPr lang="en-US" sz="1320" dirty="0"/>
          </a:p>
        </p:txBody>
      </p:sp>
      <p:sp>
        <p:nvSpPr>
          <p:cNvPr id="4" name="ts:off-the-site#pair/figures/0/caption"/>
          <p:cNvSpPr txBox="1"/>
          <p:nvPr/>
        </p:nvSpPr>
        <p:spPr>
          <a:xfrm>
            <a:off x="1043940" y="5372646"/>
            <a:ext cx="6228740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X banner is 1500 by 500 pixels.</a:t>
            </a:r>
            <a:endParaRPr lang="en-US" sz="960" dirty="0"/>
          </a:p>
        </p:txBody>
      </p:sp>
      <p:sp>
        <p:nvSpPr>
          <p:cNvPr id="5" name="ts:off-the-site#pair/figures/1/caption"/>
          <p:cNvSpPr txBox="1"/>
          <p:nvPr/>
        </p:nvSpPr>
        <p:spPr>
          <a:xfrm>
            <a:off x="7467752" y="5369140"/>
            <a:ext cx="3698596" cy="176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reel ends on this frame with the grant amount.</a:t>
            </a:r>
            <a:endParaRPr lang="en-US" sz="960" dirty="0"/>
          </a:p>
        </p:txBody>
      </p:sp>
      <p:sp>
        <p:nvSpPr>
          <p:cNvPr id="6" name="ts:off-the-sit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55 / 85</a:t>
            </a:r>
            <a:endParaRPr lang="en-US" sz="780" dirty="0"/>
          </a:p>
        </p:txBody>
      </p:sp>
      <p:pic>
        <p:nvPicPr>
          <p:cNvPr id="7" name="ts:off-the-site#sheet" descr="Brand assets outside the sit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veloper experienc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opener-developer-experience#title" hidden="1"/>
          <p:cNvSpPr txBox="1">
            <a:spLocks noGrp="1"/>
          </p:cNvSpPr>
          <p:nvPr>
            <p:ph type="title"/>
          </p:nvPr>
        </p:nvSpPr>
        <p:spPr>
          <a:xfrm>
            <a:off x="1242060" y="4269334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Developer experience</a:t>
            </a:r>
            <a:endParaRPr lang="en-US" sz="4320" dirty="0"/>
          </a:p>
        </p:txBody>
      </p:sp>
      <p:sp>
        <p:nvSpPr>
          <p:cNvPr id="2" name="ts:opener-developer-experience#h/text"/>
          <p:cNvSpPr txBox="1"/>
          <p:nvPr/>
        </p:nvSpPr>
        <p:spPr>
          <a:xfrm>
            <a:off x="1242060" y="4297314"/>
            <a:ext cx="526084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Developer experience</a:t>
            </a:r>
            <a:endParaRPr lang="en-US" sz="4320" dirty="0"/>
          </a:p>
        </p:txBody>
      </p:sp>
      <p:sp>
        <p:nvSpPr>
          <p:cNvPr id="3" name="ts:opener-developer-experience#p1/text"/>
          <p:cNvSpPr txBox="1"/>
          <p:nvPr/>
        </p:nvSpPr>
        <p:spPr>
          <a:xfrm>
            <a:off x="1242060" y="4924433"/>
            <a:ext cx="5260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section covers the developer experience: source code as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source of truth and translation as a build step.</a:t>
            </a:r>
            <a:endParaRPr lang="en-US" sz="1320" dirty="0"/>
          </a:p>
        </p:txBody>
      </p:sp>
      <p:sp>
        <p:nvSpPr>
          <p:cNvPr id="4" name="ts:opener-developer-experience#credit/text"/>
          <p:cNvSpPr txBox="1"/>
          <p:nvPr/>
        </p:nvSpPr>
        <p:spPr>
          <a:xfrm>
            <a:off x="1242060" y="5538829"/>
            <a:ext cx="52608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gem smoke, Paper Shaders, rendered in Glyphfield</a:t>
            </a:r>
            <a:endParaRPr lang="en-US" sz="900" dirty="0"/>
          </a:p>
        </p:txBody>
      </p:sp>
      <p:sp>
        <p:nvSpPr>
          <p:cNvPr id="5" name="ts:opener-developer-experienc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56 / 85</a:t>
            </a:r>
            <a:endParaRPr lang="en-US" sz="780" dirty="0"/>
          </a:p>
        </p:txBody>
      </p:sp>
      <p:pic>
        <p:nvPicPr>
          <p:cNvPr id="6" name="ts:opener-developer-experience#sheet" descr="Developer experienc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ranslation as a build step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dx#title" hidden="1"/>
          <p:cNvSpPr txBox="1">
            <a:spLocks noGrp="1"/>
          </p:cNvSpPr>
          <p:nvPr>
            <p:ph type="title"/>
          </p:nvPr>
        </p:nvSpPr>
        <p:spPr>
          <a:xfrm>
            <a:off x="1043940" y="1496416"/>
            <a:ext cx="477774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Translation as a build step</a:t>
            </a:r>
            <a:endParaRPr lang="en-US" sz="2640" dirty="0"/>
          </a:p>
        </p:txBody>
      </p:sp>
      <p:sp>
        <p:nvSpPr>
          <p:cNvPr id="2" name="ts:dx#h/text"/>
          <p:cNvSpPr txBox="1"/>
          <p:nvPr/>
        </p:nvSpPr>
        <p:spPr>
          <a:xfrm>
            <a:off x="1043940" y="1500238"/>
            <a:ext cx="479602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Translation as a build step</a:t>
            </a:r>
            <a:endParaRPr lang="en-US" sz="2640" dirty="0"/>
          </a:p>
        </p:txBody>
      </p:sp>
      <p:sp>
        <p:nvSpPr>
          <p:cNvPr id="3" name="ts:dx#p1/text"/>
          <p:cNvSpPr txBox="1"/>
          <p:nvPr/>
        </p:nvSpPr>
        <p:spPr>
          <a:xfrm>
            <a:off x="1043940" y="2133379"/>
            <a:ext cx="47960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Source code is the source of truth. Text is written in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components that render it, and translation runs as a build step.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There are no translation keys, no string files to maintain,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no separate translation management system. Every locale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ships with the deploy. The quality of this workflow is what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builds the reputation.</a:t>
            </a:r>
            <a:endParaRPr lang="en-US" sz="1320" dirty="0"/>
          </a:p>
        </p:txBody>
      </p:sp>
      <p:sp>
        <p:nvSpPr>
          <p:cNvPr id="4" name="ts:dx#code/code"/>
          <p:cNvSpPr txBox="1"/>
          <p:nvPr/>
        </p:nvSpPr>
        <p:spPr>
          <a:xfrm>
            <a:off x="1249680" y="4031125"/>
            <a:ext cx="4590288" cy="110078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T, Var } from 'gt-next';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&lt;T&gt;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&lt;h1&gt;Hello, &lt;Var&gt;{user.name}&lt;/Var&gt;&lt;/h1&gt;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&lt;/T&gt;</a:t>
            </a:r>
            <a:endParaRPr lang="en-US" sz="1020" dirty="0"/>
          </a:p>
        </p:txBody>
      </p:sp>
      <p:sp>
        <p:nvSpPr>
          <p:cNvPr id="5" name="ts:dx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57 / 85</a:t>
            </a:r>
            <a:endParaRPr lang="en-US" sz="780" dirty="0"/>
          </a:p>
        </p:txBody>
      </p:sp>
      <p:pic>
        <p:nvPicPr>
          <p:cNvPr id="6" name="ts:dx#sheet" descr="Translation as a build step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Eastern Telegraph cable chart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cable#title" hidden="1"/>
          <p:cNvSpPr txBox="1">
            <a:spLocks noGrp="1"/>
          </p:cNvSpPr>
          <p:nvPr>
            <p:ph type="title"/>
          </p:nvPr>
        </p:nvSpPr>
        <p:spPr>
          <a:xfrm>
            <a:off x="7078980" y="3638245"/>
            <a:ext cx="3870960" cy="7241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Eastern Telegraph cable chart</a:t>
            </a:r>
            <a:endParaRPr lang="en-US" sz="2640" dirty="0"/>
          </a:p>
        </p:txBody>
      </p:sp>
      <p:sp>
        <p:nvSpPr>
          <p:cNvPr id="2" name="ts:mood-cable#h/text"/>
          <p:cNvSpPr txBox="1"/>
          <p:nvPr/>
        </p:nvSpPr>
        <p:spPr>
          <a:xfrm>
            <a:off x="7078980" y="3645420"/>
            <a:ext cx="3889248" cy="7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Eastern</a:t>
            </a:r>
            <a:br/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Telegraph cable chart</a:t>
            </a:r>
            <a:endParaRPr lang="en-US" sz="2640" dirty="0"/>
          </a:p>
        </p:txBody>
      </p:sp>
      <p:sp>
        <p:nvSpPr>
          <p:cNvPr id="3" name="ts:mood-cable#p1/text"/>
          <p:cNvSpPr txBox="1"/>
          <p:nvPr/>
        </p:nvSpPr>
        <p:spPr>
          <a:xfrm>
            <a:off x="7078980" y="4421513"/>
            <a:ext cx="3889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first global network, drawn as the routes that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carried messages between continents. Developer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experience is the route a string takes from source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code to every locale.</a:t>
            </a:r>
            <a:endParaRPr lang="en-US" sz="1320" dirty="0"/>
          </a:p>
        </p:txBody>
      </p:sp>
      <p:sp>
        <p:nvSpPr>
          <p:cNvPr id="4" name="ts:mood-cable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Map: Eastern Telegraph Company, 1901, public domain</a:t>
            </a:r>
            <a:endParaRPr lang="en-US" sz="900" dirty="0"/>
          </a:p>
        </p:txBody>
      </p:sp>
      <p:sp>
        <p:nvSpPr>
          <p:cNvPr id="5" name="ts:mood-cabl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58 / 85</a:t>
            </a:r>
            <a:endParaRPr lang="en-US" sz="780" dirty="0"/>
          </a:p>
        </p:txBody>
      </p:sp>
      <p:pic>
        <p:nvPicPr>
          <p:cNvPr id="6" name="ts:mood-cable#sheet" descr="The Eastern Telegraph cable chart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CLI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s:cli#title" hidden="1"/>
          <p:cNvSpPr txBox="1">
            <a:spLocks noGrp="1"/>
          </p:cNvSpPr>
          <p:nvPr>
            <p:ph type="title"/>
          </p:nvPr>
        </p:nvSpPr>
        <p:spPr>
          <a:xfrm>
            <a:off x="1043940" y="1386307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CLI</a:t>
            </a:r>
            <a:endParaRPr lang="en-US" sz="2640" dirty="0"/>
          </a:p>
        </p:txBody>
      </p:sp>
      <p:sp>
        <p:nvSpPr>
          <p:cNvPr id="2" name="ts:cli#h/text"/>
          <p:cNvSpPr txBox="1"/>
          <p:nvPr/>
        </p:nvSpPr>
        <p:spPr>
          <a:xfrm>
            <a:off x="1043940" y="1390129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CLI</a:t>
            </a:r>
            <a:endParaRPr lang="en-US" sz="2640" dirty="0"/>
          </a:p>
        </p:txBody>
      </p:sp>
      <p:sp>
        <p:nvSpPr>
          <p:cNvPr id="3" name="ts:cli#p1/text"/>
          <p:cNvSpPr txBox="1"/>
          <p:nvPr/>
        </p:nvSpPr>
        <p:spPr>
          <a:xfrm>
            <a:off x="1043940" y="2023270"/>
            <a:ext cx="39997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CLI is the gt package, the same name as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library family. Four commands and one component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take a project from a fresh install to a production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build in every configured locale. The same CLI also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translates JSON, YAML, Markdown, and MDX files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 projects that do not use the libraries.</a:t>
            </a:r>
            <a:endParaRPr lang="en-US" sz="1320" dirty="0"/>
          </a:p>
        </p:txBody>
      </p:sp>
      <p:sp>
        <p:nvSpPr>
          <p:cNvPr id="4" name="ts:cli#code/code"/>
          <p:cNvSpPr txBox="1"/>
          <p:nvPr/>
        </p:nvSpPr>
        <p:spPr>
          <a:xfrm>
            <a:off x="1249680" y="3921016"/>
            <a:ext cx="3793998" cy="1320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npm i gt-next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npm i -D gt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npx gt init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npx gt translate</a:t>
            </a:r>
            <a:endParaRPr lang="en-US" sz="1020" dirty="0"/>
          </a:p>
        </p:txBody>
      </p:sp>
      <p:grpSp>
        <p:nvGrpSpPr>
          <p:cNvPr id="17" name="rows/row/0"/>
          <p:cNvGrpSpPr/>
          <p:nvPr/>
        </p:nvGrpSpPr>
        <p:grpSpPr>
          <a:xfrm>
            <a:off x="5802630" y="1852986"/>
            <a:ext cx="5363718" cy="441960"/>
            <a:chOff x="5802630" y="1852986"/>
            <a:chExt cx="5363718" cy="441960"/>
          </a:xfrm>
        </p:grpSpPr>
        <p:sp>
          <p:nvSpPr>
            <p:cNvPr id="5" name="ts:cli#rows/items/0/key@rows/row/0"/>
            <p:cNvSpPr txBox="1"/>
            <p:nvPr/>
          </p:nvSpPr>
          <p:spPr>
            <a:xfrm>
              <a:off x="5802630" y="185298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Install</a:t>
              </a:r>
              <a:endParaRPr lang="en-US" sz="1200" dirty="0"/>
            </a:p>
          </p:txBody>
        </p:sp>
        <p:sp>
          <p:nvSpPr>
            <p:cNvPr id="6" name="ts:cli#rows/items/0/value@rows/row/0"/>
            <p:cNvSpPr txBox="1"/>
            <p:nvPr/>
          </p:nvSpPr>
          <p:spPr>
            <a:xfrm>
              <a:off x="7189470" y="185298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gt-next runs in the app and gt is the CLI, installed as a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dev dependency.</a:t>
              </a:r>
              <a:endParaRPr lang="en-US" sz="1200" dirty="0"/>
            </a:p>
          </p:txBody>
        </p:sp>
      </p:grpSp>
      <p:grpSp>
        <p:nvGrpSpPr>
          <p:cNvPr id="18" name="rows/row/1"/>
          <p:cNvGrpSpPr/>
          <p:nvPr/>
        </p:nvGrpSpPr>
        <p:grpSpPr>
          <a:xfrm>
            <a:off x="5802630" y="2515926"/>
            <a:ext cx="5363718" cy="441960"/>
            <a:chOff x="5802630" y="2515926"/>
            <a:chExt cx="5363718" cy="441960"/>
          </a:xfrm>
        </p:grpSpPr>
        <p:sp>
          <p:nvSpPr>
            <p:cNvPr id="7" name="ts:cli#rows/items/1/key@rows/row/1"/>
            <p:cNvSpPr txBox="1"/>
            <p:nvPr/>
          </p:nvSpPr>
          <p:spPr>
            <a:xfrm>
              <a:off x="5802630" y="251592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Configure</a:t>
              </a:r>
              <a:endParaRPr lang="en-US" sz="1200" dirty="0"/>
            </a:p>
          </p:txBody>
        </p:sp>
        <p:sp>
          <p:nvSpPr>
            <p:cNvPr id="8" name="ts:cli#rows/items/1/value@rows/row/1"/>
            <p:cNvSpPr txBox="1"/>
            <p:nvPr/>
          </p:nvSpPr>
          <p:spPr>
            <a:xfrm>
              <a:off x="7189470" y="251592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setup wizard detects the framework, writes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gt.config.json, and can create the credentials.</a:t>
              </a:r>
              <a:endParaRPr lang="en-US" sz="1200" dirty="0"/>
            </a:p>
          </p:txBody>
        </p:sp>
      </p:grpSp>
      <p:grpSp>
        <p:nvGrpSpPr>
          <p:cNvPr id="19" name="rows/row/2"/>
          <p:cNvGrpSpPr/>
          <p:nvPr/>
        </p:nvGrpSpPr>
        <p:grpSpPr>
          <a:xfrm>
            <a:off x="5802630" y="3178866"/>
            <a:ext cx="5363718" cy="441960"/>
            <a:chOff x="5802630" y="3178866"/>
            <a:chExt cx="5363718" cy="441960"/>
          </a:xfrm>
        </p:grpSpPr>
        <p:sp>
          <p:nvSpPr>
            <p:cNvPr id="9" name="ts:cli#rows/items/2/key@rows/row/2"/>
            <p:cNvSpPr txBox="1"/>
            <p:nvPr/>
          </p:nvSpPr>
          <p:spPr>
            <a:xfrm>
              <a:off x="5802630" y="317886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Wrap</a:t>
              </a:r>
              <a:endParaRPr lang="en-US" sz="1200" dirty="0"/>
            </a:p>
          </p:txBody>
        </p:sp>
        <p:sp>
          <p:nvSpPr>
            <p:cNvPr id="10" name="ts:cli#rows/items/2/value@rows/row/2"/>
            <p:cNvSpPr txBox="1"/>
            <p:nvPr/>
          </p:nvSpPr>
          <p:spPr>
            <a:xfrm>
              <a:off x="7189470" y="317886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Text is wrapped in T where it is written. Var marks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values that are left as they are.</a:t>
              </a:r>
              <a:endParaRPr lang="en-US" sz="1200" dirty="0"/>
            </a:p>
          </p:txBody>
        </p:sp>
      </p:grpSp>
      <p:grpSp>
        <p:nvGrpSpPr>
          <p:cNvPr id="20" name="rows/row/3"/>
          <p:cNvGrpSpPr/>
          <p:nvPr/>
        </p:nvGrpSpPr>
        <p:grpSpPr>
          <a:xfrm>
            <a:off x="5802630" y="3841806"/>
            <a:ext cx="5363718" cy="441960"/>
            <a:chOff x="5802630" y="3841806"/>
            <a:chExt cx="5363718" cy="441960"/>
          </a:xfrm>
        </p:grpSpPr>
        <p:sp>
          <p:nvSpPr>
            <p:cNvPr id="11" name="ts:cli#rows/items/3/key@rows/row/3"/>
            <p:cNvSpPr txBox="1"/>
            <p:nvPr/>
          </p:nvSpPr>
          <p:spPr>
            <a:xfrm>
              <a:off x="5802630" y="384180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Translate</a:t>
              </a:r>
              <a:endParaRPr lang="en-US" sz="1200" dirty="0"/>
            </a:p>
          </p:txBody>
        </p:sp>
        <p:sp>
          <p:nvSpPr>
            <p:cNvPr id="12" name="ts:cli#rows/items/3/value@rows/row/3"/>
            <p:cNvSpPr txBox="1"/>
            <p:nvPr/>
          </p:nvSpPr>
          <p:spPr>
            <a:xfrm>
              <a:off x="7189470" y="384180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translate command writes every configured locale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into the project, ready to build.</a:t>
              </a:r>
              <a:endParaRPr lang="en-US" sz="1200" dirty="0"/>
            </a:p>
          </p:txBody>
        </p:sp>
      </p:grpSp>
      <p:grpSp>
        <p:nvGrpSpPr>
          <p:cNvPr id="21" name="rows/row/4"/>
          <p:cNvGrpSpPr/>
          <p:nvPr/>
        </p:nvGrpSpPr>
        <p:grpSpPr>
          <a:xfrm>
            <a:off x="5802630" y="4504746"/>
            <a:ext cx="5363718" cy="441960"/>
            <a:chOff x="5802630" y="4504746"/>
            <a:chExt cx="5363718" cy="441960"/>
          </a:xfrm>
        </p:grpSpPr>
        <p:sp>
          <p:nvSpPr>
            <p:cNvPr id="13" name="ts:cli#rows/items/4/key@rows/row/4"/>
            <p:cNvSpPr txBox="1"/>
            <p:nvPr/>
          </p:nvSpPr>
          <p:spPr>
            <a:xfrm>
              <a:off x="5802630" y="4504746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Build</a:t>
              </a:r>
              <a:endParaRPr lang="en-US" sz="1200" dirty="0"/>
            </a:p>
          </p:txBody>
        </p:sp>
        <p:sp>
          <p:nvSpPr>
            <p:cNvPr id="14" name="ts:cli#rows/items/4/value@rows/row/4"/>
            <p:cNvSpPr txBox="1"/>
            <p:nvPr/>
          </p:nvSpPr>
          <p:spPr>
            <a:xfrm>
              <a:off x="7189470" y="4504746"/>
              <a:ext cx="39768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In CI the same command runs before the build, so every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locale ships with the deploy.</a:t>
              </a:r>
              <a:endParaRPr lang="en-US" sz="1200" dirty="0"/>
            </a:p>
          </p:txBody>
        </p:sp>
      </p:grpSp>
      <p:sp>
        <p:nvSpPr>
          <p:cNvPr id="15" name="ts:cli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59 / 85</a:t>
            </a:r>
            <a:endParaRPr lang="en-US" sz="780" dirty="0"/>
          </a:p>
        </p:txBody>
      </p:sp>
      <p:pic>
        <p:nvPicPr>
          <p:cNvPr id="16" name="ts:cli#sheet" descr="The CLI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template and Glyphfield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opener-prototemplate#title" hidden="1"/>
          <p:cNvSpPr txBox="1">
            <a:spLocks noGrp="1"/>
          </p:cNvSpPr>
          <p:nvPr>
            <p:ph type="title"/>
          </p:nvPr>
        </p:nvSpPr>
        <p:spPr>
          <a:xfrm>
            <a:off x="1242060" y="3687851"/>
            <a:ext cx="5242560" cy="11630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Prototemplate and Glyphfield</a:t>
            </a:r>
            <a:endParaRPr lang="en-US" sz="4320" dirty="0"/>
          </a:p>
        </p:txBody>
      </p:sp>
      <p:sp>
        <p:nvSpPr>
          <p:cNvPr id="2" name="ts:opener-prototemplate#h/text"/>
          <p:cNvSpPr txBox="1"/>
          <p:nvPr/>
        </p:nvSpPr>
        <p:spPr>
          <a:xfrm>
            <a:off x="1242060" y="3715832"/>
            <a:ext cx="5260848" cy="116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Prototemplate</a:t>
            </a:r>
            <a:br/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and Glyphfield</a:t>
            </a:r>
            <a:endParaRPr lang="en-US" sz="4320" dirty="0"/>
          </a:p>
        </p:txBody>
      </p:sp>
      <p:sp>
        <p:nvSpPr>
          <p:cNvPr id="3" name="ts:opener-prototemplate#p1/text"/>
          <p:cNvSpPr txBox="1"/>
          <p:nvPr/>
        </p:nvSpPr>
        <p:spPr>
          <a:xfrm>
            <a:off x="1242060" y="4924433"/>
            <a:ext cx="5260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section covers prototemplate.com, the design lab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knowledge base, and glyphfield.com, the tooling behind it.</a:t>
            </a:r>
            <a:endParaRPr lang="en-US" sz="1320" dirty="0"/>
          </a:p>
        </p:txBody>
      </p:sp>
      <p:sp>
        <p:nvSpPr>
          <p:cNvPr id="4" name="ts:opener-prototemplate#credit/text"/>
          <p:cNvSpPr txBox="1"/>
          <p:nvPr/>
        </p:nvSpPr>
        <p:spPr>
          <a:xfrm>
            <a:off x="1242060" y="5538829"/>
            <a:ext cx="52608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liquid metal, Paper Shaders, rendered in Glyphfield</a:t>
            </a:r>
            <a:endParaRPr lang="en-US" sz="900" dirty="0"/>
          </a:p>
        </p:txBody>
      </p:sp>
      <p:sp>
        <p:nvSpPr>
          <p:cNvPr id="5" name="ts:opener-prototemplat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60 / 85</a:t>
            </a:r>
            <a:endParaRPr lang="en-US" sz="780" dirty="0"/>
          </a:p>
        </p:txBody>
      </p:sp>
      <p:pic>
        <p:nvPicPr>
          <p:cNvPr id="6" name="ts:opener-prototemplate#sheet" descr="Prototemplate and Glyphfield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rototemplat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lab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Prototemplate</a:t>
            </a:r>
            <a:endParaRPr lang="en-US" sz="2640" dirty="0"/>
          </a:p>
        </p:txBody>
      </p:sp>
      <p:sp>
        <p:nvSpPr>
          <p:cNvPr id="2" name="ts:lab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Prototemplate</a:t>
            </a:r>
            <a:endParaRPr lang="en-US" sz="2640" dirty="0"/>
          </a:p>
        </p:txBody>
      </p:sp>
      <p:sp>
        <p:nvSpPr>
          <p:cNvPr id="3" name="ts:lab#p1/text"/>
          <p:cNvSpPr txBox="1"/>
          <p:nvPr/>
        </p:nvSpPr>
        <p:spPr>
          <a:xfrm>
            <a:off x="4777740" y="944888"/>
            <a:ext cx="638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Prototemplate is the General Translation knowledge base at prototemplate.com. It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serves the brand book, the brand directives, the repository documents, the agent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skills, the mark explorations, the design lab and the archive as live pages in one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viewer; every direction is a built page, and there are no mockups.</a:t>
            </a:r>
            <a:endParaRPr lang="en-US" sz="1320" dirty="0"/>
          </a:p>
        </p:txBody>
      </p:sp>
      <p:sp>
        <p:nvSpPr>
          <p:cNvPr id="4" name="ts:lab#fig/caption"/>
          <p:cNvSpPr txBox="1"/>
          <p:nvPr/>
        </p:nvSpPr>
        <p:spPr>
          <a:xfrm>
            <a:off x="1043940" y="5459895"/>
            <a:ext cx="1012240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brand directives page opens on the identity canon in ten sections and draws the mark as dashed contours beside the lede; the crop follows the deck theme. The site is the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handoff surface for the identity project: the directives, this deck and every exploration are read from the same address.</a:t>
            </a:r>
            <a:endParaRPr lang="en-US" sz="960" dirty="0"/>
          </a:p>
        </p:txBody>
      </p:sp>
      <p:sp>
        <p:nvSpPr>
          <p:cNvPr id="5" name="ts:lab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61 / 85</a:t>
            </a:r>
            <a:endParaRPr lang="en-US" sz="780" dirty="0"/>
          </a:p>
        </p:txBody>
      </p:sp>
      <p:pic>
        <p:nvPicPr>
          <p:cNvPr id="6" name="ts:lab#sheet" descr="Prototemplat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knowledge bas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s:knowledge-bas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knowledge base</a:t>
            </a:r>
            <a:endParaRPr lang="en-US" sz="2640" dirty="0"/>
          </a:p>
        </p:txBody>
      </p:sp>
      <p:sp>
        <p:nvSpPr>
          <p:cNvPr id="2" name="ts:knowledge-bas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knowledge base</a:t>
            </a:r>
            <a:endParaRPr lang="en-US" sz="2640" dirty="0"/>
          </a:p>
        </p:txBody>
      </p:sp>
      <p:sp>
        <p:nvSpPr>
          <p:cNvPr id="3" name="ts:knowledge-base#p1/text"/>
          <p:cNvSpPr txBox="1"/>
          <p:nvPr/>
        </p:nvSpPr>
        <p:spPr>
          <a:xfrm>
            <a:off x="4777740" y="944888"/>
            <a:ext cx="638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page on the site is registered once, in nine groups and 95 entries,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sidebar, the search, the index panel, the preview layer and the sitemap read that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one list. The sidebar shows seven of the nine groups; Libraries and Brand sections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appear only in the index panel and are drawn here with the darker edge.</a:t>
            </a:r>
            <a:endParaRPr lang="en-US" sz="1320" dirty="0"/>
          </a:p>
        </p:txBody>
      </p:sp>
      <p:sp>
        <p:nvSpPr>
          <p:cNvPr id="4" name="ts:knowledge-bas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62 / 85</a:t>
            </a:r>
            <a:endParaRPr lang="en-US" sz="780" dirty="0"/>
          </a:p>
        </p:txBody>
      </p:sp>
      <p:pic>
        <p:nvPicPr>
          <p:cNvPr id="5" name="ts:knowledge-base#sheet" descr="The knowledge bas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kills and mark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skills-mark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Skills and marks</a:t>
            </a:r>
            <a:endParaRPr lang="en-US" sz="2640" dirty="0"/>
          </a:p>
        </p:txBody>
      </p:sp>
      <p:sp>
        <p:nvSpPr>
          <p:cNvPr id="2" name="ts:skills-marks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Skills and marks</a:t>
            </a:r>
            <a:endParaRPr lang="en-US" sz="2640" dirty="0"/>
          </a:p>
        </p:txBody>
      </p:sp>
      <p:sp>
        <p:nvSpPr>
          <p:cNvPr id="3" name="ts:skills-marks#p1/text"/>
          <p:cNvSpPr txBox="1"/>
          <p:nvPr/>
        </p:nvSpPr>
        <p:spPr>
          <a:xfrm>
            <a:off x="1043940" y="1450779"/>
            <a:ext cx="10122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Both pages run in the same viewer and read pure data files. The skills page is built from the frontmatter of every published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SKILL.md; the marks page reads nine SVG files and their construction overlays. Both crops follow the deck theme.</a:t>
            </a:r>
            <a:endParaRPr lang="en-US" sz="1320" dirty="0"/>
          </a:p>
        </p:txBody>
      </p:sp>
      <p:sp>
        <p:nvSpPr>
          <p:cNvPr id="4" name="ts:skills-marks#pair/figures/0/caption"/>
          <p:cNvSpPr txBox="1"/>
          <p:nvPr/>
        </p:nvSpPr>
        <p:spPr>
          <a:xfrm>
            <a:off x="1043940" y="5238144"/>
            <a:ext cx="496366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261 skills in three groups: 209 engineering and 39 productivity skills from the wiki and 13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from the General Translation repository, each row a number, a name and a description.</a:t>
            </a:r>
            <a:endParaRPr lang="en-US" sz="900" dirty="0"/>
          </a:p>
        </p:txBody>
      </p:sp>
      <p:sp>
        <p:nvSpPr>
          <p:cNvPr id="5" name="ts:skills-marks#pair/figures/1/caption"/>
          <p:cNvSpPr txBox="1"/>
          <p:nvPr/>
        </p:nvSpPr>
        <p:spPr>
          <a:xfrm>
            <a:off x="6202680" y="5443198"/>
            <a:ext cx="496366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Nine marks in three families, bilingual, counterform and reflection, in the judged order, at 96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pixels positive and reversed. Each is one filled path on a 256 unit grid.</a:t>
            </a:r>
            <a:endParaRPr lang="en-US" sz="900" dirty="0"/>
          </a:p>
        </p:txBody>
      </p:sp>
      <p:sp>
        <p:nvSpPr>
          <p:cNvPr id="6" name="ts:skills-mark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63 / 85</a:t>
            </a:r>
            <a:endParaRPr lang="en-US" sz="780" dirty="0"/>
          </a:p>
        </p:txBody>
      </p:sp>
      <p:pic>
        <p:nvPicPr>
          <p:cNvPr id="7" name="ts:skills-marks#sheet" descr="Skills and mark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viewer shell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s:viewer-shell#title" hidden="1"/>
          <p:cNvSpPr txBox="1">
            <a:spLocks noGrp="1"/>
          </p:cNvSpPr>
          <p:nvPr>
            <p:ph type="title"/>
          </p:nvPr>
        </p:nvSpPr>
        <p:spPr>
          <a:xfrm>
            <a:off x="1043940" y="1310411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viewer shell</a:t>
            </a:r>
            <a:endParaRPr lang="en-US" sz="2640" dirty="0"/>
          </a:p>
        </p:txBody>
      </p:sp>
      <p:sp>
        <p:nvSpPr>
          <p:cNvPr id="2" name="ts:viewer-shell#h/text"/>
          <p:cNvSpPr txBox="1"/>
          <p:nvPr/>
        </p:nvSpPr>
        <p:spPr>
          <a:xfrm>
            <a:off x="1043940" y="131423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viewer shell</a:t>
            </a:r>
            <a:endParaRPr lang="en-US" sz="2640" dirty="0"/>
          </a:p>
        </p:txBody>
      </p:sp>
      <p:sp>
        <p:nvSpPr>
          <p:cNvPr id="3" name="ts:viewer-shell#p1/text"/>
          <p:cNvSpPr txBox="1"/>
          <p:nvPr/>
        </p:nvSpPr>
        <p:spPr>
          <a:xfrm>
            <a:off x="1043940" y="1947375"/>
            <a:ext cx="399973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route renders inside one frame: a sidebar,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toolbar, the stage and a progress line. The shell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owns the state and the route supplies the content.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deck is the one exception and carries its own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viewer, on the same grammar, in an iframe at /deck.</a:t>
            </a:r>
            <a:endParaRPr lang="en-US" sz="1320" dirty="0"/>
          </a:p>
        </p:txBody>
      </p:sp>
      <p:grpSp>
        <p:nvGrpSpPr>
          <p:cNvPr id="18" name="rows/row/0"/>
          <p:cNvGrpSpPr/>
          <p:nvPr/>
        </p:nvGrpSpPr>
        <p:grpSpPr>
          <a:xfrm>
            <a:off x="5802630" y="1190046"/>
            <a:ext cx="5363718" cy="441960"/>
            <a:chOff x="5802630" y="1190046"/>
            <a:chExt cx="5363718" cy="441960"/>
          </a:xfrm>
        </p:grpSpPr>
        <p:sp>
          <p:nvSpPr>
            <p:cNvPr id="4" name="ts:viewer-shell#rows/items/0/key@rows/row/0"/>
            <p:cNvSpPr txBox="1"/>
            <p:nvPr/>
          </p:nvSpPr>
          <p:spPr>
            <a:xfrm>
              <a:off x="5802630" y="119004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Sidebar</a:t>
              </a:r>
              <a:endParaRPr lang="en-US" sz="1200" dirty="0"/>
            </a:p>
          </p:txBody>
        </p:sp>
        <p:sp>
          <p:nvSpPr>
            <p:cNvPr id="5" name="ts:viewer-shell#rows/items/0/value@rows/row/0"/>
            <p:cNvSpPr txBox="1"/>
            <p:nvPr/>
          </p:nvSpPr>
          <p:spPr>
            <a:xfrm>
              <a:off x="6960870" y="1190046"/>
              <a:ext cx="4205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Seven groups of rows, as an outline or as thumbnails, with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 filter and the route's own items first. The [ key hides it.</a:t>
              </a:r>
              <a:endParaRPr lang="en-US" sz="1200" dirty="0"/>
            </a:p>
          </p:txBody>
        </p:sp>
      </p:grpSp>
      <p:grpSp>
        <p:nvGrpSpPr>
          <p:cNvPr id="19" name="rows/row/1"/>
          <p:cNvGrpSpPr/>
          <p:nvPr/>
        </p:nvGrpSpPr>
        <p:grpSpPr>
          <a:xfrm>
            <a:off x="5802630" y="1852986"/>
            <a:ext cx="5363718" cy="662940"/>
            <a:chOff x="5802630" y="1852986"/>
            <a:chExt cx="5363718" cy="662940"/>
          </a:xfrm>
        </p:grpSpPr>
        <p:sp>
          <p:nvSpPr>
            <p:cNvPr id="6" name="ts:viewer-shell#rows/items/1/key@rows/row/1"/>
            <p:cNvSpPr txBox="1"/>
            <p:nvPr/>
          </p:nvSpPr>
          <p:spPr>
            <a:xfrm>
              <a:off x="5802630" y="185298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Search</a:t>
              </a:r>
              <a:endParaRPr lang="en-US" sz="1200" dirty="0"/>
            </a:p>
          </p:txBody>
        </p:sp>
        <p:sp>
          <p:nvSpPr>
            <p:cNvPr id="7" name="ts:viewer-shell#rows/items/1/value@rows/row/1"/>
            <p:cNvSpPr txBox="1"/>
            <p:nvPr/>
          </p:nvSpPr>
          <p:spPr>
            <a:xfrm>
              <a:off x="6960870" y="1852986"/>
              <a:ext cx="4205478" cy="662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Cmd K opens a palette over every page, document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heading, direction, archived version, brand section and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deck slide.</a:t>
              </a:r>
              <a:endParaRPr lang="en-US" sz="1200" dirty="0"/>
            </a:p>
          </p:txBody>
        </p:sp>
      </p:grpSp>
      <p:grpSp>
        <p:nvGrpSpPr>
          <p:cNvPr id="20" name="rows/row/2"/>
          <p:cNvGrpSpPr/>
          <p:nvPr/>
        </p:nvGrpSpPr>
        <p:grpSpPr>
          <a:xfrm>
            <a:off x="5802630" y="2736906"/>
            <a:ext cx="5363718" cy="662940"/>
            <a:chOff x="5802630" y="2736906"/>
            <a:chExt cx="5363718" cy="662940"/>
          </a:xfrm>
        </p:grpSpPr>
        <p:sp>
          <p:nvSpPr>
            <p:cNvPr id="8" name="ts:viewer-shell#rows/items/2/key@rows/row/2"/>
            <p:cNvSpPr txBox="1"/>
            <p:nvPr/>
          </p:nvSpPr>
          <p:spPr>
            <a:xfrm>
              <a:off x="5802630" y="273690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Index</a:t>
              </a:r>
              <a:endParaRPr lang="en-US" sz="1200" dirty="0"/>
            </a:p>
          </p:txBody>
        </p:sp>
        <p:sp>
          <p:nvSpPr>
            <p:cNvPr id="9" name="ts:viewer-shell#rows/items/2/value@rows/row/2"/>
            <p:cNvSpPr txBox="1"/>
            <p:nvPr/>
          </p:nvSpPr>
          <p:spPr>
            <a:xfrm>
              <a:off x="6960870" y="2736906"/>
              <a:ext cx="4205478" cy="662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R opens a 460 pixel panel listing every page on this site or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23 public places, each with a preview, an address and a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line.</a:t>
              </a:r>
              <a:endParaRPr lang="en-US" sz="1200" dirty="0"/>
            </a:p>
          </p:txBody>
        </p:sp>
      </p:grpSp>
      <p:grpSp>
        <p:nvGrpSpPr>
          <p:cNvPr id="21" name="rows/row/3"/>
          <p:cNvGrpSpPr/>
          <p:nvPr/>
        </p:nvGrpSpPr>
        <p:grpSpPr>
          <a:xfrm>
            <a:off x="5802630" y="3620826"/>
            <a:ext cx="5363718" cy="441960"/>
            <a:chOff x="5802630" y="3620826"/>
            <a:chExt cx="5363718" cy="441960"/>
          </a:xfrm>
        </p:grpSpPr>
        <p:sp>
          <p:nvSpPr>
            <p:cNvPr id="10" name="ts:viewer-shell#rows/items/3/key@rows/row/3"/>
            <p:cNvSpPr txBox="1"/>
            <p:nvPr/>
          </p:nvSpPr>
          <p:spPr>
            <a:xfrm>
              <a:off x="5802630" y="362082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Modes</a:t>
              </a:r>
              <a:endParaRPr lang="en-US" sz="1200" dirty="0"/>
            </a:p>
          </p:txBody>
        </p:sp>
        <p:sp>
          <p:nvSpPr>
            <p:cNvPr id="11" name="ts:viewer-shell#rows/items/3/value@rows/row/3"/>
            <p:cNvSpPr txBox="1"/>
            <p:nvPr/>
          </p:nvSpPr>
          <p:spPr>
            <a:xfrm>
              <a:off x="6960870" y="3620826"/>
              <a:ext cx="4205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Slide, grid and book. The grid lays every item out at once;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book reads a route top to bottom.</a:t>
              </a:r>
              <a:endParaRPr lang="en-US" sz="1200" dirty="0"/>
            </a:p>
          </p:txBody>
        </p:sp>
      </p:grpSp>
      <p:grpSp>
        <p:nvGrpSpPr>
          <p:cNvPr id="22" name="rows/row/4"/>
          <p:cNvGrpSpPr/>
          <p:nvPr/>
        </p:nvGrpSpPr>
        <p:grpSpPr>
          <a:xfrm>
            <a:off x="5802630" y="4283766"/>
            <a:ext cx="5363718" cy="441960"/>
            <a:chOff x="5802630" y="4283766"/>
            <a:chExt cx="5363718" cy="441960"/>
          </a:xfrm>
        </p:grpSpPr>
        <p:sp>
          <p:nvSpPr>
            <p:cNvPr id="12" name="ts:viewer-shell#rows/items/4/key@rows/row/4"/>
            <p:cNvSpPr txBox="1"/>
            <p:nvPr/>
          </p:nvSpPr>
          <p:spPr>
            <a:xfrm>
              <a:off x="5802630" y="428376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Previews</a:t>
              </a:r>
              <a:endParaRPr lang="en-US" sz="1200" dirty="0"/>
            </a:p>
          </p:txBody>
        </p:sp>
        <p:sp>
          <p:nvSpPr>
            <p:cNvPr id="13" name="ts:viewer-shell#rows/items/4/value@rows/row/4"/>
            <p:cNvSpPr txBox="1"/>
            <p:nvPr/>
          </p:nvSpPr>
          <p:spPr>
            <a:xfrm>
              <a:off x="6960870" y="4283766"/>
              <a:ext cx="4205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Hovering any row opens a 320 by 180 capture of that page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after 200 milliseconds; one layer serves the whole site.</a:t>
              </a:r>
              <a:endParaRPr lang="en-US" sz="1200" dirty="0"/>
            </a:p>
          </p:txBody>
        </p:sp>
      </p:grpSp>
      <p:grpSp>
        <p:nvGrpSpPr>
          <p:cNvPr id="23" name="rows/row/5"/>
          <p:cNvGrpSpPr/>
          <p:nvPr/>
        </p:nvGrpSpPr>
        <p:grpSpPr>
          <a:xfrm>
            <a:off x="5802630" y="4946706"/>
            <a:ext cx="5363718" cy="662940"/>
            <a:chOff x="5802630" y="4946706"/>
            <a:chExt cx="5363718" cy="662940"/>
          </a:xfrm>
        </p:grpSpPr>
        <p:sp>
          <p:nvSpPr>
            <p:cNvPr id="14" name="ts:viewer-shell#rows/items/5/key@rows/row/5"/>
            <p:cNvSpPr txBox="1"/>
            <p:nvPr/>
          </p:nvSpPr>
          <p:spPr>
            <a:xfrm>
              <a:off x="5802630" y="4946706"/>
              <a:ext cx="932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Keys</a:t>
              </a:r>
              <a:endParaRPr lang="en-US" sz="1200" dirty="0"/>
            </a:p>
          </p:txBody>
        </p:sp>
        <p:sp>
          <p:nvSpPr>
            <p:cNvPr id="15" name="ts:viewer-shell#rows/items/5/value@rows/row/5"/>
            <p:cNvSpPr txBox="1"/>
            <p:nvPr/>
          </p:nvSpPr>
          <p:spPr>
            <a:xfrm>
              <a:off x="6960870" y="4946706"/>
              <a:ext cx="4205478" cy="662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Arrows move, digits then Enter jump to a number, D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switches the theme, P hides the chrome and ? lists every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shortcut.</a:t>
              </a:r>
              <a:endParaRPr lang="en-US" sz="1200" dirty="0"/>
            </a:p>
          </p:txBody>
        </p:sp>
      </p:grpSp>
      <p:sp>
        <p:nvSpPr>
          <p:cNvPr id="16" name="ts:viewer-shell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64 / 85</a:t>
            </a:r>
            <a:endParaRPr lang="en-US" sz="780" dirty="0"/>
          </a:p>
        </p:txBody>
      </p:sp>
      <p:pic>
        <p:nvPicPr>
          <p:cNvPr id="17" name="ts:viewer-shell#sheet" descr="The viewer shell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shell in us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s:shell-view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shell in use</a:t>
            </a:r>
            <a:endParaRPr lang="en-US" sz="2640" dirty="0"/>
          </a:p>
        </p:txBody>
      </p:sp>
      <p:sp>
        <p:nvSpPr>
          <p:cNvPr id="2" name="ts:shell-views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shell in use</a:t>
            </a:r>
            <a:endParaRPr lang="en-US" sz="2640" dirty="0"/>
          </a:p>
        </p:txBody>
      </p:sp>
      <p:sp>
        <p:nvSpPr>
          <p:cNvPr id="3" name="ts:shell-views#p1/text"/>
          <p:cNvSpPr txBox="1"/>
          <p:nvPr/>
        </p:nvSpPr>
        <p:spPr>
          <a:xfrm>
            <a:off x="4777740" y="944888"/>
            <a:ext cx="638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Three states of the gallery route at 1440 pixels, each cut from a capture at two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times device scale to the region that carries it. Every crop follows the deck theme.</a:t>
            </a:r>
            <a:endParaRPr lang="en-US" sz="1320" dirty="0"/>
          </a:p>
        </p:txBody>
      </p:sp>
      <p:sp>
        <p:nvSpPr>
          <p:cNvPr id="4" name="ts:shell-views#grid/items/0/caption"/>
          <p:cNvSpPr txBox="1"/>
          <p:nvPr/>
        </p:nvSpPr>
        <p:spPr>
          <a:xfrm>
            <a:off x="1043940" y="5284474"/>
            <a:ext cx="325678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grid view (G) closes the sidebar and lays every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direction out as a captured tile under its group heading, with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shipped site first. The crop shows two of four columns.</a:t>
            </a:r>
            <a:endParaRPr lang="en-US" sz="900" dirty="0"/>
          </a:p>
        </p:txBody>
      </p:sp>
      <p:sp>
        <p:nvSpPr>
          <p:cNvPr id="5" name="ts:shell-views#grid/items/1/caption"/>
          <p:cNvSpPr txBox="1"/>
          <p:nvPr/>
        </p:nvSpPr>
        <p:spPr>
          <a:xfrm>
            <a:off x="4476750" y="5284474"/>
            <a:ext cx="325678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index panel (R) opens on This site and lists every page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in groups. Each row carries a capture, an address and one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line; this crop shows the first three rows.</a:t>
            </a:r>
            <a:endParaRPr lang="en-US" sz="900" dirty="0"/>
          </a:p>
        </p:txBody>
      </p:sp>
      <p:sp>
        <p:nvSpPr>
          <p:cNvPr id="6" name="ts:shell-views#grid/items/2/caption"/>
          <p:cNvSpPr txBox="1"/>
          <p:nvPr/>
        </p:nvSpPr>
        <p:spPr>
          <a:xfrm>
            <a:off x="7909560" y="5284474"/>
            <a:ext cx="325678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search palette (Cmd K) opens as a map of the site, and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each row shows its address. Typing one letter reaches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every heading, direction, archived version and deck slide.</a:t>
            </a:r>
            <a:endParaRPr lang="en-US" sz="900" dirty="0"/>
          </a:p>
        </p:txBody>
      </p:sp>
      <p:sp>
        <p:nvSpPr>
          <p:cNvPr id="7" name="ts:shell-view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65 / 85</a:t>
            </a:r>
            <a:endParaRPr lang="en-US" sz="780" dirty="0"/>
          </a:p>
        </p:txBody>
      </p:sp>
      <p:pic>
        <p:nvPicPr>
          <p:cNvPr id="8" name="ts:shell-views#sheet" descr="The shell in us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line law in chrom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s:line-law#title" hidden="1"/>
          <p:cNvSpPr txBox="1">
            <a:spLocks noGrp="1"/>
          </p:cNvSpPr>
          <p:nvPr>
            <p:ph type="title"/>
          </p:nvPr>
        </p:nvSpPr>
        <p:spPr>
          <a:xfrm>
            <a:off x="1043940" y="990371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line law in chrome</a:t>
            </a:r>
            <a:endParaRPr lang="en-US" sz="2640" dirty="0"/>
          </a:p>
        </p:txBody>
      </p:sp>
      <p:sp>
        <p:nvSpPr>
          <p:cNvPr id="2" name="ts:line-law#h/text"/>
          <p:cNvSpPr txBox="1"/>
          <p:nvPr/>
        </p:nvSpPr>
        <p:spPr>
          <a:xfrm>
            <a:off x="1043940" y="994194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line law in chrome</a:t>
            </a:r>
            <a:endParaRPr lang="en-US" sz="2640" dirty="0"/>
          </a:p>
        </p:txBody>
      </p:sp>
      <p:sp>
        <p:nvSpPr>
          <p:cNvPr id="3" name="ts:line-law#p1/text"/>
          <p:cNvSpPr txBox="1"/>
          <p:nvPr/>
        </p:nvSpPr>
        <p:spPr>
          <a:xfrm>
            <a:off x="1043940" y="1490175"/>
            <a:ext cx="3999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Every rule the shell draws is 1px, drawn once, in one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of three roles, and the weights carry meaning.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Where two components touch, one of them owns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seam and draws it.</a:t>
            </a:r>
            <a:endParaRPr lang="en-US" sz="1320" dirty="0"/>
          </a:p>
        </p:txBody>
      </p:sp>
      <p:sp>
        <p:nvSpPr>
          <p:cNvPr id="4" name="ts:line-law#fig/caption"/>
          <p:cNvSpPr txBox="1"/>
          <p:nvPr/>
        </p:nvSpPr>
        <p:spPr>
          <a:xfrm>
            <a:off x="1043940" y="5350692"/>
            <a:ext cx="3995928" cy="4972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sidebar and toolbar corner: the sidebar edge, the toolbar bottom and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Pages header are structural, the rule under the filter is the row tone,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and the thumbnail border is the frame tone.</a:t>
            </a:r>
            <a:endParaRPr lang="en-US" sz="900" dirty="0"/>
          </a:p>
        </p:txBody>
      </p:sp>
      <p:grpSp>
        <p:nvGrpSpPr>
          <p:cNvPr id="17" name="rows/row/0"/>
          <p:cNvGrpSpPr/>
          <p:nvPr/>
        </p:nvGrpSpPr>
        <p:grpSpPr>
          <a:xfrm>
            <a:off x="5574030" y="2260275"/>
            <a:ext cx="5592318" cy="441960"/>
            <a:chOff x="5574030" y="2260275"/>
            <a:chExt cx="5592318" cy="441960"/>
          </a:xfrm>
        </p:grpSpPr>
        <p:sp>
          <p:nvSpPr>
            <p:cNvPr id="5" name="ts:line-law#rows/items/0/key@rows/row/0"/>
            <p:cNvSpPr txBox="1"/>
            <p:nvPr/>
          </p:nvSpPr>
          <p:spPr>
            <a:xfrm>
              <a:off x="5574030" y="2260275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Structural</a:t>
              </a:r>
              <a:endParaRPr lang="en-US" sz="1200" dirty="0"/>
            </a:p>
          </p:txBody>
        </p:sp>
        <p:sp>
          <p:nvSpPr>
            <p:cNvPr id="6" name="ts:line-law#rows/items/0/value@rows/row/0"/>
            <p:cNvSpPr txBox="1"/>
            <p:nvPr/>
          </p:nvSpPr>
          <p:spPr>
            <a:xfrm>
              <a:off x="6960870" y="2260275"/>
              <a:ext cx="4205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sheet ring, the toolbar's bottom, the sidebar and panel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edges and every group header: 18 percent ink.</a:t>
              </a:r>
              <a:endParaRPr lang="en-US" sz="1200" dirty="0"/>
            </a:p>
          </p:txBody>
        </p:sp>
      </p:grpSp>
      <p:grpSp>
        <p:nvGrpSpPr>
          <p:cNvPr id="18" name="rows/row/1"/>
          <p:cNvGrpSpPr/>
          <p:nvPr/>
        </p:nvGrpSpPr>
        <p:grpSpPr>
          <a:xfrm>
            <a:off x="5574030" y="2923215"/>
            <a:ext cx="5592318" cy="441960"/>
            <a:chOff x="5574030" y="2923215"/>
            <a:chExt cx="5592318" cy="441960"/>
          </a:xfrm>
        </p:grpSpPr>
        <p:sp>
          <p:nvSpPr>
            <p:cNvPr id="7" name="ts:line-law#rows/items/1/key@rows/row/1"/>
            <p:cNvSpPr txBox="1"/>
            <p:nvPr/>
          </p:nvSpPr>
          <p:spPr>
            <a:xfrm>
              <a:off x="5574030" y="2923215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Row</a:t>
              </a:r>
              <a:endParaRPr lang="en-US" sz="1200" dirty="0"/>
            </a:p>
          </p:txBody>
        </p:sp>
        <p:sp>
          <p:nvSpPr>
            <p:cNvPr id="8" name="ts:line-law#rows/items/1/value@rows/row/1"/>
            <p:cNvSpPr txBox="1"/>
            <p:nvPr/>
          </p:nvSpPr>
          <p:spPr>
            <a:xfrm>
              <a:off x="6960870" y="2923215"/>
              <a:ext cx="4205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List rows, search results, panel rows, table rows and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progress track: 9 percent ink.</a:t>
              </a:r>
              <a:endParaRPr lang="en-US" sz="1200" dirty="0"/>
            </a:p>
          </p:txBody>
        </p:sp>
      </p:grpSp>
      <p:grpSp>
        <p:nvGrpSpPr>
          <p:cNvPr id="19" name="rows/row/2"/>
          <p:cNvGrpSpPr/>
          <p:nvPr/>
        </p:nvGrpSpPr>
        <p:grpSpPr>
          <a:xfrm>
            <a:off x="5574030" y="3586155"/>
            <a:ext cx="5592318" cy="441960"/>
            <a:chOff x="5574030" y="3586155"/>
            <a:chExt cx="5592318" cy="441960"/>
          </a:xfrm>
        </p:grpSpPr>
        <p:sp>
          <p:nvSpPr>
            <p:cNvPr id="9" name="ts:line-law#rows/items/2/key@rows/row/2"/>
            <p:cNvSpPr txBox="1"/>
            <p:nvPr/>
          </p:nvSpPr>
          <p:spPr>
            <a:xfrm>
              <a:off x="5574030" y="3586155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Frame</a:t>
              </a:r>
              <a:endParaRPr lang="en-US" sz="1200" dirty="0"/>
            </a:p>
          </p:txBody>
        </p:sp>
        <p:sp>
          <p:nvSpPr>
            <p:cNvPr id="10" name="ts:line-law#rows/items/2/value@rows/row/2"/>
            <p:cNvSpPr txBox="1"/>
            <p:nvPr/>
          </p:nvSpPr>
          <p:spPr>
            <a:xfrm>
              <a:off x="6960870" y="3586155"/>
              <a:ext cx="4205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Thumbnails, page frames, grid tiles and the hover preview: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62 percent, the darkest line, because it holds a picture.</a:t>
              </a:r>
              <a:endParaRPr lang="en-US" sz="1200" dirty="0"/>
            </a:p>
          </p:txBody>
        </p:sp>
      </p:grpSp>
      <p:grpSp>
        <p:nvGrpSpPr>
          <p:cNvPr id="20" name="rows/row/3"/>
          <p:cNvGrpSpPr/>
          <p:nvPr/>
        </p:nvGrpSpPr>
        <p:grpSpPr>
          <a:xfrm>
            <a:off x="5574030" y="4249095"/>
            <a:ext cx="5592318" cy="441960"/>
            <a:chOff x="5574030" y="4249095"/>
            <a:chExt cx="5592318" cy="441960"/>
          </a:xfrm>
        </p:grpSpPr>
        <p:sp>
          <p:nvSpPr>
            <p:cNvPr id="11" name="ts:line-law#rows/items/3/key@rows/row/3"/>
            <p:cNvSpPr txBox="1"/>
            <p:nvPr/>
          </p:nvSpPr>
          <p:spPr>
            <a:xfrm>
              <a:off x="5574030" y="4249095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Ink</a:t>
              </a:r>
              <a:endParaRPr lang="en-US" sz="1200" dirty="0"/>
            </a:p>
          </p:txBody>
        </p:sp>
        <p:sp>
          <p:nvSpPr>
            <p:cNvPr id="12" name="ts:line-law#rows/items/3/value@rows/row/3"/>
            <p:cNvSpPr txBox="1"/>
            <p:nvPr/>
          </p:nvSpPr>
          <p:spPr>
            <a:xfrm>
              <a:off x="6960870" y="4249095"/>
              <a:ext cx="4205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Only as a state: a pressed button, the active frame,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count while it is edited and a field while it holds focus.</a:t>
              </a:r>
              <a:endParaRPr lang="en-US" sz="1200" dirty="0"/>
            </a:p>
          </p:txBody>
        </p:sp>
      </p:grpSp>
      <p:grpSp>
        <p:nvGrpSpPr>
          <p:cNvPr id="21" name="rows/row/4"/>
          <p:cNvGrpSpPr/>
          <p:nvPr/>
        </p:nvGrpSpPr>
        <p:grpSpPr>
          <a:xfrm>
            <a:off x="5574030" y="4912035"/>
            <a:ext cx="5592318" cy="662940"/>
            <a:chOff x="5574030" y="4912035"/>
            <a:chExt cx="5592318" cy="662940"/>
          </a:xfrm>
        </p:grpSpPr>
        <p:sp>
          <p:nvSpPr>
            <p:cNvPr id="13" name="ts:line-law#rows/items/4/key@rows/row/4"/>
            <p:cNvSpPr txBox="1"/>
            <p:nvPr/>
          </p:nvSpPr>
          <p:spPr>
            <a:xfrm>
              <a:off x="5574030" y="4912035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Audits</a:t>
              </a:r>
              <a:endParaRPr lang="en-US" sz="1200" dirty="0"/>
            </a:p>
          </p:txBody>
        </p:sp>
        <p:sp>
          <p:nvSpPr>
            <p:cNvPr id="14" name="ts:line-law#rows/items/4/value@rows/row/4"/>
            <p:cNvSpPr txBox="1"/>
            <p:nvPr/>
          </p:nvSpPr>
          <p:spPr>
            <a:xfrm>
              <a:off x="6960870" y="4912035"/>
              <a:ext cx="4205478" cy="66294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180 captures, seven routes at three widths in both themes.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 double within 4px, a missing seam, a self-stack or a seam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too close in tone to its surface fails the round.</a:t>
              </a:r>
              <a:endParaRPr lang="en-US" sz="1200" dirty="0"/>
            </a:p>
          </p:txBody>
        </p:sp>
      </p:grpSp>
      <p:sp>
        <p:nvSpPr>
          <p:cNvPr id="15" name="ts:line-law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66 / 85</a:t>
            </a:r>
            <a:endParaRPr lang="en-US" sz="780" dirty="0"/>
          </a:p>
        </p:txBody>
      </p:sp>
      <p:pic>
        <p:nvPicPr>
          <p:cNvPr id="16" name="ts:line-law#sheet" descr="The line law in chrom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ompare and the presenter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presenter-compar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Compare and the presenter</a:t>
            </a:r>
            <a:endParaRPr lang="en-US" sz="2640" dirty="0"/>
          </a:p>
        </p:txBody>
      </p:sp>
      <p:sp>
        <p:nvSpPr>
          <p:cNvPr id="2" name="ts:presenter-compare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Compare and the presenter</a:t>
            </a:r>
            <a:endParaRPr lang="en-US" sz="2640" dirty="0"/>
          </a:p>
        </p:txBody>
      </p:sp>
      <p:sp>
        <p:nvSpPr>
          <p:cNvPr id="3" name="ts:presenter-compare#p1/text"/>
          <p:cNvSpPr txBox="1"/>
          <p:nvPr/>
        </p:nvSpPr>
        <p:spPr>
          <a:xfrm>
            <a:off x="1043940" y="1450779"/>
            <a:ext cx="10122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Two review tools sit beside the knowledge base. Compare puts two directions side by side; the presenter walks through the redesign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with every prototype live.</a:t>
            </a:r>
            <a:endParaRPr lang="en-US" sz="1320" dirty="0"/>
          </a:p>
        </p:txBody>
      </p:sp>
      <p:sp>
        <p:nvSpPr>
          <p:cNvPr id="4" name="ts:presenter-compare#group3/caption"/>
          <p:cNvSpPr txBox="1"/>
          <p:nvPr/>
        </p:nvSpPr>
        <p:spPr>
          <a:xfrm>
            <a:off x="1043940" y="5006657"/>
            <a:ext cx="5291328" cy="8835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Compare loads two directions as same-origin iframes, Dossier in the left pane and Signal in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right, and drives both frames' scroll and theme in lockstep. The three crops come from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one capture of the shell. The Sites group of the list marks the loaded pair L and R, the count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names the target pane and its direction, and the view control shows both panes or one pane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at reading size.</a:t>
            </a:r>
            <a:endParaRPr lang="en-US" sz="960" dirty="0"/>
          </a:p>
        </p:txBody>
      </p:sp>
      <p:sp>
        <p:nvSpPr>
          <p:cNvPr id="5" name="ts:presenter-compare#fig4/caption"/>
          <p:cNvSpPr txBox="1"/>
          <p:nvPr/>
        </p:nvSpPr>
        <p:spPr>
          <a:xfrm>
            <a:off x="6865620" y="5011991"/>
            <a:ext cx="4300728" cy="53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presenter is a full-screen walkthrough in seven parts, from intro to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verdict. Its grid of live thumbnails pauses and resumes through the page's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requestAnimationFrame gate.</a:t>
            </a:r>
            <a:endParaRPr lang="en-US" sz="960" dirty="0"/>
          </a:p>
        </p:txBody>
      </p:sp>
      <p:sp>
        <p:nvSpPr>
          <p:cNvPr id="6" name="ts:presenter-compar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67 / 85</a:t>
            </a:r>
            <a:endParaRPr lang="en-US" sz="780" dirty="0"/>
          </a:p>
        </p:txBody>
      </p:sp>
      <p:pic>
        <p:nvPicPr>
          <p:cNvPr id="7" name="ts:presenter-compare#sheet" descr="Compare and the presenter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Dossier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s:dossier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Dossier</a:t>
            </a:r>
            <a:endParaRPr lang="en-US" sz="2640" dirty="0"/>
          </a:p>
        </p:txBody>
      </p:sp>
      <p:sp>
        <p:nvSpPr>
          <p:cNvPr id="2" name="ts:dossier#h/text"/>
          <p:cNvSpPr txBox="1"/>
          <p:nvPr/>
        </p:nvSpPr>
        <p:spPr>
          <a:xfrm>
            <a:off x="1043940" y="985278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Dossier</a:t>
            </a:r>
            <a:endParaRPr lang="en-US" sz="2640" dirty="0"/>
          </a:p>
        </p:txBody>
      </p:sp>
      <p:sp>
        <p:nvSpPr>
          <p:cNvPr id="3" name="ts:dossier#p1/text"/>
          <p:cNvSpPr txBox="1"/>
          <p:nvPr/>
        </p:nvSpPr>
        <p:spPr>
          <a:xfrm>
            <a:off x="1043940" y="1618419"/>
            <a:ext cx="399973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Dossier is the completed direction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reference for the identity in application. Its home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page lists the supported frameworks inside the hero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terminal. Its enterprise page numbers each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compliance control and sets the plan terms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sign-on controls as ruled tables.</a:t>
            </a:r>
            <a:endParaRPr lang="en-US" sz="1320" dirty="0"/>
          </a:p>
        </p:txBody>
      </p:sp>
      <p:grpSp>
        <p:nvGrpSpPr>
          <p:cNvPr id="14" name="rows/row/0"/>
          <p:cNvGrpSpPr/>
          <p:nvPr/>
        </p:nvGrpSpPr>
        <p:grpSpPr>
          <a:xfrm>
            <a:off x="1043940" y="3418058"/>
            <a:ext cx="3999738" cy="441960"/>
            <a:chOff x="1043940" y="3418058"/>
            <a:chExt cx="3999738" cy="441960"/>
          </a:xfrm>
        </p:grpSpPr>
        <p:sp>
          <p:nvSpPr>
            <p:cNvPr id="4" name="ts:dossier#rows/items/0/key@rows/row/0"/>
            <p:cNvSpPr txBox="1"/>
            <p:nvPr/>
          </p:nvSpPr>
          <p:spPr>
            <a:xfrm>
              <a:off x="1043940" y="3418058"/>
              <a:ext cx="704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Dossier</a:t>
              </a:r>
              <a:endParaRPr lang="en-US" sz="1200" dirty="0"/>
            </a:p>
          </p:txBody>
        </p:sp>
        <p:sp>
          <p:nvSpPr>
            <p:cNvPr id="5" name="ts:dossier#rows/items/0/value@rows/row/0"/>
            <p:cNvSpPr txBox="1"/>
            <p:nvPr/>
          </p:nvSpPr>
          <p:spPr>
            <a:xfrm>
              <a:off x="1973580" y="3418058"/>
              <a:ext cx="307009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Dossier is the completed direction,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with a home page and an enterprise page.</a:t>
              </a:r>
              <a:endParaRPr lang="en-US" sz="1200" dirty="0"/>
            </a:p>
          </p:txBody>
        </p:sp>
      </p:grpSp>
      <p:grpSp>
        <p:nvGrpSpPr>
          <p:cNvPr id="15" name="rows/row/1"/>
          <p:cNvGrpSpPr/>
          <p:nvPr/>
        </p:nvGrpSpPr>
        <p:grpSpPr>
          <a:xfrm>
            <a:off x="1043940" y="4080998"/>
            <a:ext cx="3999738" cy="441960"/>
            <a:chOff x="1043940" y="4080998"/>
            <a:chExt cx="3999738" cy="441960"/>
          </a:xfrm>
        </p:grpSpPr>
        <p:sp>
          <p:nvSpPr>
            <p:cNvPr id="6" name="ts:dossier#rows/items/1/key@rows/row/1"/>
            <p:cNvSpPr txBox="1"/>
            <p:nvPr/>
          </p:nvSpPr>
          <p:spPr>
            <a:xfrm>
              <a:off x="1043940" y="4080998"/>
              <a:ext cx="704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Orbit</a:t>
              </a:r>
              <a:endParaRPr lang="en-US" sz="1200" dirty="0"/>
            </a:p>
          </p:txBody>
        </p:sp>
        <p:sp>
          <p:nvSpPr>
            <p:cNvPr id="7" name="ts:dossier#rows/items/1/value@rows/row/1"/>
            <p:cNvSpPr txBox="1"/>
            <p:nvPr/>
          </p:nvSpPr>
          <p:spPr>
            <a:xfrm>
              <a:off x="1973580" y="4080998"/>
              <a:ext cx="307009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Orbit has a one-line hero, a windowed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demo, a toolchain bento and a pricing file.</a:t>
              </a:r>
              <a:endParaRPr lang="en-US" sz="1200" dirty="0"/>
            </a:p>
          </p:txBody>
        </p:sp>
      </p:grpSp>
      <p:grpSp>
        <p:nvGrpSpPr>
          <p:cNvPr id="16" name="rows/row/2"/>
          <p:cNvGrpSpPr/>
          <p:nvPr/>
        </p:nvGrpSpPr>
        <p:grpSpPr>
          <a:xfrm>
            <a:off x="1043940" y="4743938"/>
            <a:ext cx="3999738" cy="441960"/>
            <a:chOff x="1043940" y="4743938"/>
            <a:chExt cx="3999738" cy="441960"/>
          </a:xfrm>
        </p:grpSpPr>
        <p:sp>
          <p:nvSpPr>
            <p:cNvPr id="8" name="ts:dossier#rows/items/2/key@rows/row/2"/>
            <p:cNvSpPr txBox="1"/>
            <p:nvPr/>
          </p:nvSpPr>
          <p:spPr>
            <a:xfrm>
              <a:off x="1043940" y="4743938"/>
              <a:ext cx="704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Signal</a:t>
              </a:r>
              <a:endParaRPr lang="en-US" sz="1200" dirty="0"/>
            </a:p>
          </p:txBody>
        </p:sp>
        <p:sp>
          <p:nvSpPr>
            <p:cNvPr id="9" name="ts:dossier#rows/items/2/value@rows/row/2"/>
            <p:cNvSpPr txBox="1"/>
            <p:nvPr/>
          </p:nvSpPr>
          <p:spPr>
            <a:xfrm>
              <a:off x="1973580" y="4743938"/>
              <a:ext cx="307009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Signal has a split-pane hero, the story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cinema and a self-typing transmission log.</a:t>
              </a:r>
              <a:endParaRPr lang="en-US" sz="1200" dirty="0"/>
            </a:p>
          </p:txBody>
        </p:sp>
      </p:grpSp>
      <p:grpSp>
        <p:nvGrpSpPr>
          <p:cNvPr id="17" name="rows/row/3"/>
          <p:cNvGrpSpPr/>
          <p:nvPr/>
        </p:nvGrpSpPr>
        <p:grpSpPr>
          <a:xfrm>
            <a:off x="1043940" y="5406878"/>
            <a:ext cx="3999738" cy="441960"/>
            <a:chOff x="1043940" y="5406878"/>
            <a:chExt cx="3999738" cy="441960"/>
          </a:xfrm>
        </p:grpSpPr>
        <p:sp>
          <p:nvSpPr>
            <p:cNvPr id="10" name="ts:dossier#rows/items/3/key@rows/row/3"/>
            <p:cNvSpPr txBox="1"/>
            <p:nvPr/>
          </p:nvSpPr>
          <p:spPr>
            <a:xfrm>
              <a:off x="1043940" y="5406878"/>
              <a:ext cx="7040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Shipped</a:t>
              </a:r>
              <a:endParaRPr lang="en-US" sz="1200" dirty="0"/>
            </a:p>
          </p:txBody>
        </p:sp>
        <p:sp>
          <p:nvSpPr>
            <p:cNvPr id="11" name="ts:dossier#rows/items/3/value@rows/row/3"/>
            <p:cNvSpPr txBox="1"/>
            <p:nvPr/>
          </p:nvSpPr>
          <p:spPr>
            <a:xfrm>
              <a:off x="1973580" y="5406878"/>
              <a:ext cx="307009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live site is rebuilt page for page at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/d/production, fifteen pages in all.</a:t>
              </a:r>
              <a:endParaRPr lang="en-US" sz="1200" dirty="0"/>
            </a:p>
          </p:txBody>
        </p:sp>
      </p:grpSp>
      <p:sp>
        <p:nvSpPr>
          <p:cNvPr id="12" name="ts:dossier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68 / 85</a:t>
            </a:r>
            <a:endParaRPr lang="en-US" sz="780" dirty="0"/>
          </a:p>
        </p:txBody>
      </p:sp>
      <p:pic>
        <p:nvPicPr>
          <p:cNvPr id="13" name="ts:dossier#sheet" descr="The Dossier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irection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s:directions#title" hidden="1"/>
          <p:cNvSpPr txBox="1">
            <a:spLocks noGrp="1"/>
          </p:cNvSpPr>
          <p:nvPr>
            <p:ph type="title"/>
          </p:nvPr>
        </p:nvSpPr>
        <p:spPr>
          <a:xfrm>
            <a:off x="1043940" y="1812417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Directions</a:t>
            </a:r>
            <a:endParaRPr lang="en-US" sz="2640" dirty="0"/>
          </a:p>
        </p:txBody>
      </p:sp>
      <p:sp>
        <p:nvSpPr>
          <p:cNvPr id="2" name="ts:directions#h/text"/>
          <p:cNvSpPr txBox="1"/>
          <p:nvPr/>
        </p:nvSpPr>
        <p:spPr>
          <a:xfrm>
            <a:off x="1043940" y="1816239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Directions</a:t>
            </a:r>
            <a:endParaRPr lang="en-US" sz="2640" dirty="0"/>
          </a:p>
        </p:txBody>
      </p:sp>
      <p:sp>
        <p:nvSpPr>
          <p:cNvPr id="3" name="ts:directions#p1/text"/>
          <p:cNvSpPr txBox="1"/>
          <p:nvPr/>
        </p:nvSpPr>
        <p:spPr>
          <a:xfrm>
            <a:off x="1043940" y="2449380"/>
            <a:ext cx="399973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Seventeen directions are registered in one file,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src/lib/directions.ts: thirteen explorations, three site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concepts and the shipped site. The gallery,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presenter, compare and the sitemap all read that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list.</a:t>
            </a:r>
            <a:endParaRPr lang="en-US" sz="1320" dirty="0"/>
          </a:p>
        </p:txBody>
      </p:sp>
      <p:sp>
        <p:nvSpPr>
          <p:cNvPr id="4" name="ts:directions#p2/text"/>
          <p:cNvSpPr txBox="1"/>
          <p:nvPr/>
        </p:nvSpPr>
        <p:spPr>
          <a:xfrm>
            <a:off x="1043940" y="4031441"/>
            <a:ext cx="3999738" cy="9944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Toolchain is the single source of truth for the shared vocabulary. The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forks import its sections and diagrams and re-skin them by rescoping one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root class. The three marked thumbnails are the site concepts; Dossier is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reference, and every thumbnail follows the deck theme. The shipped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site, the seventeenth direction, has no thumbnail here. It is rebuilt page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for page at /d/production, and the Website section shows it.</a:t>
            </a:r>
            <a:endParaRPr lang="en-US" sz="900" dirty="0"/>
          </a:p>
        </p:txBody>
      </p:sp>
      <p:sp>
        <p:nvSpPr>
          <p:cNvPr id="5" name="ts:directions#tiles/items/0/label"/>
          <p:cNvSpPr txBox="1"/>
          <p:nvPr/>
        </p:nvSpPr>
        <p:spPr>
          <a:xfrm>
            <a:off x="5574030" y="2050355"/>
            <a:ext cx="132039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Toolchain</a:t>
            </a:r>
            <a:endParaRPr lang="en-US" sz="900" dirty="0"/>
          </a:p>
        </p:txBody>
      </p:sp>
      <p:sp>
        <p:nvSpPr>
          <p:cNvPr id="6" name="ts:directions#tiles/items/1/label"/>
          <p:cNvSpPr txBox="1"/>
          <p:nvPr/>
        </p:nvSpPr>
        <p:spPr>
          <a:xfrm>
            <a:off x="6998056" y="2050355"/>
            <a:ext cx="132031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Chroma Flow</a:t>
            </a:r>
            <a:endParaRPr lang="en-US" sz="900" dirty="0"/>
          </a:p>
        </p:txBody>
      </p:sp>
      <p:sp>
        <p:nvSpPr>
          <p:cNvPr id="7" name="ts:directions#tiles/items/2/label"/>
          <p:cNvSpPr txBox="1"/>
          <p:nvPr/>
        </p:nvSpPr>
        <p:spPr>
          <a:xfrm>
            <a:off x="8422005" y="2050355"/>
            <a:ext cx="132039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Dither Field</a:t>
            </a:r>
            <a:endParaRPr lang="en-US" sz="900" dirty="0"/>
          </a:p>
        </p:txBody>
      </p:sp>
      <p:sp>
        <p:nvSpPr>
          <p:cNvPr id="8" name="ts:directions#tiles/items/3/label"/>
          <p:cNvSpPr txBox="1"/>
          <p:nvPr/>
        </p:nvSpPr>
        <p:spPr>
          <a:xfrm>
            <a:off x="9846031" y="2050355"/>
            <a:ext cx="132031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Aurora Paper</a:t>
            </a:r>
            <a:endParaRPr lang="en-US" sz="900" dirty="0"/>
          </a:p>
        </p:txBody>
      </p:sp>
      <p:sp>
        <p:nvSpPr>
          <p:cNvPr id="9" name="ts:directions#tiles/items/4/label"/>
          <p:cNvSpPr txBox="1"/>
          <p:nvPr/>
        </p:nvSpPr>
        <p:spPr>
          <a:xfrm>
            <a:off x="5574030" y="3203261"/>
            <a:ext cx="132039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Glyph Rain</a:t>
            </a:r>
            <a:endParaRPr lang="en-US" sz="900" dirty="0"/>
          </a:p>
        </p:txBody>
      </p:sp>
      <p:sp>
        <p:nvSpPr>
          <p:cNvPr id="10" name="ts:directions#tiles/items/5/label"/>
          <p:cNvSpPr txBox="1"/>
          <p:nvPr/>
        </p:nvSpPr>
        <p:spPr>
          <a:xfrm>
            <a:off x="6998056" y="3203261"/>
            <a:ext cx="132031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Prism Light</a:t>
            </a:r>
            <a:endParaRPr lang="en-US" sz="900" dirty="0"/>
          </a:p>
        </p:txBody>
      </p:sp>
      <p:sp>
        <p:nvSpPr>
          <p:cNvPr id="11" name="ts:directions#tiles/items/6/label"/>
          <p:cNvSpPr txBox="1"/>
          <p:nvPr/>
        </p:nvSpPr>
        <p:spPr>
          <a:xfrm>
            <a:off x="8422005" y="3203261"/>
            <a:ext cx="132039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Lens Gate</a:t>
            </a:r>
            <a:endParaRPr lang="en-US" sz="900" dirty="0"/>
          </a:p>
        </p:txBody>
      </p:sp>
      <p:sp>
        <p:nvSpPr>
          <p:cNvPr id="12" name="ts:directions#tiles/items/7/label"/>
          <p:cNvSpPr txBox="1"/>
          <p:nvPr/>
        </p:nvSpPr>
        <p:spPr>
          <a:xfrm>
            <a:off x="9846031" y="3203261"/>
            <a:ext cx="132031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Paper Foundry</a:t>
            </a:r>
            <a:endParaRPr lang="en-US" sz="900" dirty="0"/>
          </a:p>
        </p:txBody>
      </p:sp>
      <p:sp>
        <p:nvSpPr>
          <p:cNvPr id="13" name="ts:directions#tiles/items/8/label"/>
          <p:cNvSpPr txBox="1"/>
          <p:nvPr/>
        </p:nvSpPr>
        <p:spPr>
          <a:xfrm>
            <a:off x="5574030" y="4356167"/>
            <a:ext cx="132039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Terminus Board</a:t>
            </a:r>
            <a:endParaRPr lang="en-US" sz="900" dirty="0"/>
          </a:p>
        </p:txBody>
      </p:sp>
      <p:sp>
        <p:nvSpPr>
          <p:cNvPr id="14" name="ts:directions#tiles/items/9/label"/>
          <p:cNvSpPr txBox="1"/>
          <p:nvPr/>
        </p:nvSpPr>
        <p:spPr>
          <a:xfrm>
            <a:off x="6998056" y="4356167"/>
            <a:ext cx="132031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Wide Rule</a:t>
            </a:r>
            <a:endParaRPr lang="en-US" sz="900" dirty="0"/>
          </a:p>
        </p:txBody>
      </p:sp>
      <p:sp>
        <p:nvSpPr>
          <p:cNvPr id="15" name="ts:directions#tiles/items/10/label"/>
          <p:cNvSpPr txBox="1"/>
          <p:nvPr/>
        </p:nvSpPr>
        <p:spPr>
          <a:xfrm>
            <a:off x="8422005" y="4356167"/>
            <a:ext cx="132039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Event Horizon</a:t>
            </a:r>
            <a:endParaRPr lang="en-US" sz="900" dirty="0"/>
          </a:p>
        </p:txBody>
      </p:sp>
      <p:sp>
        <p:nvSpPr>
          <p:cNvPr id="16" name="ts:directions#tiles/items/11/label"/>
          <p:cNvSpPr txBox="1"/>
          <p:nvPr/>
        </p:nvSpPr>
        <p:spPr>
          <a:xfrm>
            <a:off x="9846031" y="4356167"/>
            <a:ext cx="132031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Hourglass</a:t>
            </a:r>
            <a:endParaRPr lang="en-US" sz="900" dirty="0"/>
          </a:p>
        </p:txBody>
      </p:sp>
      <p:sp>
        <p:nvSpPr>
          <p:cNvPr id="17" name="ts:directions#tiles/items/12/label"/>
          <p:cNvSpPr txBox="1"/>
          <p:nvPr/>
        </p:nvSpPr>
        <p:spPr>
          <a:xfrm>
            <a:off x="5574030" y="5508997"/>
            <a:ext cx="132039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Singularity</a:t>
            </a:r>
            <a:endParaRPr lang="en-US" sz="900" dirty="0"/>
          </a:p>
        </p:txBody>
      </p:sp>
      <p:sp>
        <p:nvSpPr>
          <p:cNvPr id="18" name="ts:directions#tiles/items/13/label"/>
          <p:cNvSpPr txBox="1"/>
          <p:nvPr/>
        </p:nvSpPr>
        <p:spPr>
          <a:xfrm>
            <a:off x="7127596" y="5508997"/>
            <a:ext cx="119077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Dossier</a:t>
            </a:r>
            <a:endParaRPr lang="en-US" sz="900" dirty="0"/>
          </a:p>
        </p:txBody>
      </p:sp>
      <p:sp>
        <p:nvSpPr>
          <p:cNvPr id="19" name="ts:directions#tiles/items/14/label"/>
          <p:cNvSpPr txBox="1"/>
          <p:nvPr/>
        </p:nvSpPr>
        <p:spPr>
          <a:xfrm>
            <a:off x="8551545" y="5508997"/>
            <a:ext cx="1190854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Orbit</a:t>
            </a:r>
            <a:endParaRPr lang="en-US" sz="900" dirty="0"/>
          </a:p>
        </p:txBody>
      </p:sp>
      <p:sp>
        <p:nvSpPr>
          <p:cNvPr id="20" name="ts:directions#tiles/items/15/label"/>
          <p:cNvSpPr txBox="1"/>
          <p:nvPr/>
        </p:nvSpPr>
        <p:spPr>
          <a:xfrm>
            <a:off x="9975571" y="5508997"/>
            <a:ext cx="1190777" cy="1485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0"/>
              </a:lnSpc>
              <a:buNone/>
            </a:pPr>
            <a:r>
              <a:rPr lang="en-US" sz="900" dirty="0">
                <a:solidFill>
                  <a:srgbClr val="F2F2F0">
                    <a:alpha val="0"/>
                  </a:srgbClr>
                </a:solidFill>
                <a:latin typeface="GT Inter Text 15 Medium" pitchFamily="34" charset="0"/>
                <a:ea typeface="GT Inter Text 15 Medium" pitchFamily="34" charset="-122"/>
                <a:cs typeface="GT Inter Text 15 Medium" pitchFamily="34" charset="-120"/>
              </a:rPr>
              <a:t>Signal</a:t>
            </a:r>
            <a:endParaRPr lang="en-US" sz="900" dirty="0"/>
          </a:p>
        </p:txBody>
      </p:sp>
      <p:sp>
        <p:nvSpPr>
          <p:cNvPr id="21" name="ts:direction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69 / 85</a:t>
            </a:r>
            <a:endParaRPr lang="en-US" sz="780" dirty="0"/>
          </a:p>
        </p:txBody>
      </p:sp>
      <p:pic>
        <p:nvPicPr>
          <p:cNvPr id="22" name="ts:directions#sheet" descr="Direction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Great Wave off Kanagawa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wave#title" hidden="1"/>
          <p:cNvSpPr txBox="1">
            <a:spLocks noGrp="1"/>
          </p:cNvSpPr>
          <p:nvPr>
            <p:ph type="title"/>
          </p:nvPr>
        </p:nvSpPr>
        <p:spPr>
          <a:xfrm>
            <a:off x="7078980" y="3638245"/>
            <a:ext cx="3870960" cy="72412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Great Wave off Kanagawa</a:t>
            </a:r>
            <a:endParaRPr lang="en-US" sz="2640" dirty="0"/>
          </a:p>
        </p:txBody>
      </p:sp>
      <p:sp>
        <p:nvSpPr>
          <p:cNvPr id="2" name="ts:mood-wave#h/text"/>
          <p:cNvSpPr txBox="1"/>
          <p:nvPr/>
        </p:nvSpPr>
        <p:spPr>
          <a:xfrm>
            <a:off x="7078980" y="3645420"/>
            <a:ext cx="3889248" cy="7241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Great Wave</a:t>
            </a:r>
            <a:br/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off Kanagawa</a:t>
            </a:r>
            <a:endParaRPr lang="en-US" sz="2640" dirty="0"/>
          </a:p>
        </p:txBody>
      </p:sp>
      <p:sp>
        <p:nvSpPr>
          <p:cNvPr id="3" name="ts:mood-wave#p1/text"/>
          <p:cNvSpPr txBox="1"/>
          <p:nvPr/>
        </p:nvSpPr>
        <p:spPr>
          <a:xfrm>
            <a:off x="7078980" y="4421513"/>
            <a:ext cx="3889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Hokusai's print came from carved blocks, so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same image could be pulled again without change.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Prototemplate and Glyphfield hold the brand's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reusable parts.</a:t>
            </a:r>
            <a:endParaRPr lang="en-US" sz="1320" dirty="0"/>
          </a:p>
        </p:txBody>
      </p:sp>
      <p:sp>
        <p:nvSpPr>
          <p:cNvPr id="4" name="ts:mood-wave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Print: Katsushika Hokusai, about 1831, public domain</a:t>
            </a:r>
            <a:endParaRPr lang="en-US" sz="900" dirty="0"/>
          </a:p>
        </p:txBody>
      </p:sp>
      <p:sp>
        <p:nvSpPr>
          <p:cNvPr id="5" name="ts:mood-wav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70 / 85</a:t>
            </a:r>
            <a:endParaRPr lang="en-US" sz="780" dirty="0"/>
          </a:p>
        </p:txBody>
      </p:sp>
      <p:pic>
        <p:nvPicPr>
          <p:cNvPr id="6" name="ts:mood-wave#sheet" descr="The Great Wave off Kanagawa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archiv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s:archive#title" hidden="1"/>
          <p:cNvSpPr txBox="1">
            <a:spLocks noGrp="1"/>
          </p:cNvSpPr>
          <p:nvPr>
            <p:ph type="title"/>
          </p:nvPr>
        </p:nvSpPr>
        <p:spPr>
          <a:xfrm>
            <a:off x="1043940" y="1087069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archive</a:t>
            </a:r>
            <a:endParaRPr lang="en-US" sz="2640" dirty="0"/>
          </a:p>
        </p:txBody>
      </p:sp>
      <p:sp>
        <p:nvSpPr>
          <p:cNvPr id="2" name="ts:archive#h/text"/>
          <p:cNvSpPr txBox="1"/>
          <p:nvPr/>
        </p:nvSpPr>
        <p:spPr>
          <a:xfrm>
            <a:off x="1043940" y="1090891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archive</a:t>
            </a:r>
            <a:endParaRPr lang="en-US" sz="2640" dirty="0"/>
          </a:p>
        </p:txBody>
      </p:sp>
      <p:sp>
        <p:nvSpPr>
          <p:cNvPr id="3" name="ts:archive#p1/text"/>
          <p:cNvSpPr txBox="1"/>
          <p:nvPr/>
        </p:nvSpPr>
        <p:spPr>
          <a:xfrm>
            <a:off x="1043940" y="1724033"/>
            <a:ext cx="399973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Eleven versions were retired from review on July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30, 2026. When their code left the tree, each was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kept as a capture at its own address with the route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as it was, its source and date, and the commit that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last held the code, so any of them can be restored.</a:t>
            </a:r>
            <a:endParaRPr lang="en-US" sz="1320" dirty="0"/>
          </a:p>
        </p:txBody>
      </p:sp>
      <p:sp>
        <p:nvSpPr>
          <p:cNvPr id="4" name="ts:archive#refs/items/0"/>
          <p:cNvSpPr txBox="1"/>
          <p:nvPr/>
        </p:nvSpPr>
        <p:spPr>
          <a:xfrm>
            <a:off x="1043940" y="319601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Wide Field</a:t>
            </a:r>
            <a:endParaRPr lang="en-US" sz="1200" dirty="0"/>
          </a:p>
        </p:txBody>
      </p:sp>
      <p:sp>
        <p:nvSpPr>
          <p:cNvPr id="5" name="ts:archive#refs/items/1"/>
          <p:cNvSpPr txBox="1"/>
          <p:nvPr/>
        </p:nvSpPr>
        <p:spPr>
          <a:xfrm>
            <a:off x="3217545" y="319601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Bento Foundry</a:t>
            </a:r>
            <a:endParaRPr lang="en-US" sz="1200" dirty="0"/>
          </a:p>
        </p:txBody>
      </p:sp>
      <p:sp>
        <p:nvSpPr>
          <p:cNvPr id="6" name="ts:archive#refs/items/2"/>
          <p:cNvSpPr txBox="1"/>
          <p:nvPr/>
        </p:nvSpPr>
        <p:spPr>
          <a:xfrm>
            <a:off x="1043940" y="350843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Blueprint Atlas</a:t>
            </a:r>
            <a:endParaRPr lang="en-US" sz="1200" dirty="0"/>
          </a:p>
        </p:txBody>
      </p:sp>
      <p:sp>
        <p:nvSpPr>
          <p:cNvPr id="7" name="ts:archive#refs/items/3"/>
          <p:cNvSpPr txBox="1"/>
          <p:nvPr/>
        </p:nvSpPr>
        <p:spPr>
          <a:xfrm>
            <a:off x="3217545" y="350843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Concrete Mono</a:t>
            </a:r>
            <a:endParaRPr lang="en-US" sz="1200" dirty="0"/>
          </a:p>
        </p:txBody>
      </p:sp>
      <p:sp>
        <p:nvSpPr>
          <p:cNvPr id="8" name="ts:archive#refs/items/4"/>
          <p:cNvSpPr txBox="1"/>
          <p:nvPr/>
        </p:nvSpPr>
        <p:spPr>
          <a:xfrm>
            <a:off x="1043940" y="382085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Concrete Origin</a:t>
            </a:r>
            <a:endParaRPr lang="en-US" sz="1200" dirty="0"/>
          </a:p>
        </p:txBody>
      </p:sp>
      <p:sp>
        <p:nvSpPr>
          <p:cNvPr id="9" name="ts:archive#refs/items/5"/>
          <p:cNvSpPr txBox="1"/>
          <p:nvPr/>
        </p:nvSpPr>
        <p:spPr>
          <a:xfrm>
            <a:off x="3217545" y="382085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Concrete Source</a:t>
            </a:r>
            <a:endParaRPr lang="en-US" sz="1200" dirty="0"/>
          </a:p>
        </p:txBody>
      </p:sp>
      <p:sp>
        <p:nvSpPr>
          <p:cNvPr id="10" name="ts:archive#refs/items/6"/>
          <p:cNvSpPr txBox="1"/>
          <p:nvPr/>
        </p:nvSpPr>
        <p:spPr>
          <a:xfrm>
            <a:off x="1043940" y="413327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Field Magnet</a:t>
            </a:r>
            <a:endParaRPr lang="en-US" sz="1200" dirty="0"/>
          </a:p>
        </p:txBody>
      </p:sp>
      <p:sp>
        <p:nvSpPr>
          <p:cNvPr id="11" name="ts:archive#refs/items/7"/>
          <p:cNvSpPr txBox="1"/>
          <p:nvPr/>
        </p:nvSpPr>
        <p:spPr>
          <a:xfrm>
            <a:off x="3217545" y="413327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Flipboard Terminus</a:t>
            </a:r>
            <a:endParaRPr lang="en-US" sz="1200" dirty="0"/>
          </a:p>
        </p:txBody>
      </p:sp>
      <p:sp>
        <p:nvSpPr>
          <p:cNvPr id="12" name="ts:archive#refs/items/8"/>
          <p:cNvSpPr txBox="1"/>
          <p:nvPr/>
        </p:nvSpPr>
        <p:spPr>
          <a:xfrm>
            <a:off x="1043940" y="444569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Kinetic Verba</a:t>
            </a:r>
            <a:endParaRPr lang="en-US" sz="1200" dirty="0"/>
          </a:p>
        </p:txBody>
      </p:sp>
      <p:sp>
        <p:nvSpPr>
          <p:cNvPr id="13" name="ts:archive#refs/items/9"/>
          <p:cNvSpPr txBox="1"/>
          <p:nvPr/>
        </p:nvSpPr>
        <p:spPr>
          <a:xfrm>
            <a:off x="3217545" y="444569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Typographic Broadcast</a:t>
            </a:r>
            <a:endParaRPr lang="en-US" sz="1200" dirty="0"/>
          </a:p>
        </p:txBody>
      </p:sp>
      <p:sp>
        <p:nvSpPr>
          <p:cNvPr id="14" name="ts:archive#refs/items/10"/>
          <p:cNvSpPr txBox="1"/>
          <p:nvPr/>
        </p:nvSpPr>
        <p:spPr>
          <a:xfrm>
            <a:off x="1043940" y="4758111"/>
            <a:ext cx="1826133" cy="21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White Gallery</a:t>
            </a:r>
            <a:endParaRPr lang="en-US" sz="1200" dirty="0"/>
          </a:p>
        </p:txBody>
      </p:sp>
      <p:sp>
        <p:nvSpPr>
          <p:cNvPr id="15" name="ts:archive#code/code"/>
          <p:cNvSpPr txBox="1"/>
          <p:nvPr/>
        </p:nvSpPr>
        <p:spPr>
          <a:xfrm>
            <a:off x="1249680" y="5321038"/>
            <a:ext cx="3793998" cy="2202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git checkout 7920ad9 -- src/app/d/&lt;slug&gt;</a:t>
            </a:r>
            <a:endParaRPr lang="en-US" sz="1020" dirty="0"/>
          </a:p>
        </p:txBody>
      </p:sp>
      <p:sp>
        <p:nvSpPr>
          <p:cNvPr id="16" name="ts:archive#fig/caption"/>
          <p:cNvSpPr txBox="1"/>
          <p:nvPr/>
        </p:nvSpPr>
        <p:spPr>
          <a:xfrm>
            <a:off x="5574030" y="5469648"/>
            <a:ext cx="559231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Blueprint Atlas in the archive at 1110 pixels wide: the record row and the first fold. The record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follows the deck theme; the picture stays light, because nothing in it is live.</a:t>
            </a:r>
            <a:endParaRPr lang="en-US" sz="960" dirty="0"/>
          </a:p>
        </p:txBody>
      </p:sp>
      <p:sp>
        <p:nvSpPr>
          <p:cNvPr id="17" name="ts:archiv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71 / 85</a:t>
            </a:r>
            <a:endParaRPr lang="en-US" sz="780" dirty="0"/>
          </a:p>
        </p:txBody>
      </p:sp>
      <p:pic>
        <p:nvPicPr>
          <p:cNvPr id="18" name="ts:archive#sheet" descr="The archiv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hared engin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s:engin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Shared engines</a:t>
            </a:r>
            <a:endParaRPr lang="en-US" sz="2640" dirty="0"/>
          </a:p>
        </p:txBody>
      </p:sp>
      <p:sp>
        <p:nvSpPr>
          <p:cNvPr id="2" name="ts:engines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Shared engines</a:t>
            </a:r>
            <a:endParaRPr lang="en-US" sz="2640" dirty="0"/>
          </a:p>
        </p:txBody>
      </p:sp>
      <p:sp>
        <p:nvSpPr>
          <p:cNvPr id="3" name="ts:engines#p1/text"/>
          <p:cNvSpPr txBox="1"/>
          <p:nvPr/>
        </p:nvSpPr>
        <p:spPr>
          <a:xfrm>
            <a:off x="4777740" y="944888"/>
            <a:ext cx="63886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Twelve engines run live on the docs page under the readme, each on a plate with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call that mounts it. Every engine mounts on first view, runs on screen, pauses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off screen, and renders one frame under reduced motion. The plates below are cut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from the page at two times device scale. Four are cropped to the engine itself.</a:t>
            </a:r>
            <a:endParaRPr lang="en-US" sz="1320" dirty="0"/>
          </a:p>
        </p:txBody>
      </p:sp>
      <p:sp>
        <p:nvSpPr>
          <p:cNvPr id="4" name="ts:engines#tiles/items/0/label"/>
          <p:cNvSpPr txBox="1"/>
          <p:nvPr/>
        </p:nvSpPr>
        <p:spPr>
          <a:xfrm>
            <a:off x="1043940" y="3071119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Horizon field</a:t>
            </a:r>
            <a:endParaRPr lang="en-US" sz="1200" dirty="0"/>
          </a:p>
        </p:txBody>
      </p:sp>
      <p:sp>
        <p:nvSpPr>
          <p:cNvPr id="5" name="ts:engines#tiles/items/0/sub"/>
          <p:cNvSpPr txBox="1"/>
          <p:nvPr/>
        </p:nvSpPr>
        <p:spPr>
          <a:xfrm>
            <a:off x="1043940" y="3276451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WebGL lens shader takes 21 parameters.</a:t>
            </a:r>
            <a:endParaRPr lang="en-US" sz="900" dirty="0"/>
          </a:p>
        </p:txBody>
      </p:sp>
      <p:sp>
        <p:nvSpPr>
          <p:cNvPr id="6" name="ts:engines#tiles/items/1/label"/>
          <p:cNvSpPr txBox="1"/>
          <p:nvPr/>
        </p:nvSpPr>
        <p:spPr>
          <a:xfrm>
            <a:off x="3608070" y="3071119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Glyph field</a:t>
            </a:r>
            <a:endParaRPr lang="en-US" sz="1200" dirty="0"/>
          </a:p>
        </p:txBody>
      </p:sp>
      <p:sp>
        <p:nvSpPr>
          <p:cNvPr id="7" name="ts:engines#tiles/items/1/sub"/>
          <p:cNvSpPr txBox="1"/>
          <p:nvPr/>
        </p:nvSpPr>
        <p:spPr>
          <a:xfrm>
            <a:off x="3608070" y="3276451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Glyphs from eight scripts form one word.</a:t>
            </a:r>
            <a:endParaRPr lang="en-US" sz="900" dirty="0"/>
          </a:p>
        </p:txBody>
      </p:sp>
      <p:sp>
        <p:nvSpPr>
          <p:cNvPr id="8" name="ts:engines#tiles/items/2/label"/>
          <p:cNvSpPr txBox="1"/>
          <p:nvPr/>
        </p:nvSpPr>
        <p:spPr>
          <a:xfrm>
            <a:off x="6172200" y="3071119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Ink field</a:t>
            </a:r>
            <a:endParaRPr lang="en-US" sz="1200" dirty="0"/>
          </a:p>
        </p:txBody>
      </p:sp>
      <p:sp>
        <p:nvSpPr>
          <p:cNvPr id="9" name="ts:engines#tiles/items/2/sub"/>
          <p:cNvSpPr txBox="1"/>
          <p:nvPr/>
        </p:nvSpPr>
        <p:spPr>
          <a:xfrm>
            <a:off x="6172200" y="3276451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Glyphs rise through the band margins.</a:t>
            </a:r>
            <a:endParaRPr lang="en-US" sz="900" dirty="0"/>
          </a:p>
        </p:txBody>
      </p:sp>
      <p:sp>
        <p:nvSpPr>
          <p:cNvPr id="10" name="ts:engines#tiles/items/3/label"/>
          <p:cNvSpPr txBox="1"/>
          <p:nvPr/>
        </p:nvSpPr>
        <p:spPr>
          <a:xfrm>
            <a:off x="8736330" y="3071119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Prismatic field</a:t>
            </a:r>
            <a:endParaRPr lang="en-US" sz="1200" dirty="0"/>
          </a:p>
        </p:txBody>
      </p:sp>
      <p:sp>
        <p:nvSpPr>
          <p:cNvPr id="11" name="ts:engines#tiles/items/3/sub"/>
          <p:cNvSpPr txBox="1"/>
          <p:nvPr/>
        </p:nvSpPr>
        <p:spPr>
          <a:xfrm>
            <a:off x="8736330" y="3276451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spectral wash runs behind the bands.</a:t>
            </a:r>
            <a:endParaRPr lang="en-US" sz="900" dirty="0"/>
          </a:p>
        </p:txBody>
      </p:sp>
      <p:sp>
        <p:nvSpPr>
          <p:cNvPr id="12" name="ts:engines#tiles/items/4/label"/>
          <p:cNvSpPr txBox="1"/>
          <p:nvPr/>
        </p:nvSpPr>
        <p:spPr>
          <a:xfrm>
            <a:off x="1043940" y="4286661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Dither</a:t>
            </a:r>
            <a:endParaRPr lang="en-US" sz="1200" dirty="0"/>
          </a:p>
        </p:txBody>
      </p:sp>
      <p:sp>
        <p:nvSpPr>
          <p:cNvPr id="13" name="ts:engines#tiles/items/4/sub"/>
          <p:cNvSpPr txBox="1"/>
          <p:nvPr/>
        </p:nvSpPr>
        <p:spPr>
          <a:xfrm>
            <a:off x="1043940" y="4492222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CPU Bayer pass draws one pixel per cell.</a:t>
            </a:r>
            <a:endParaRPr lang="en-US" sz="900" dirty="0"/>
          </a:p>
        </p:txBody>
      </p:sp>
      <p:sp>
        <p:nvSpPr>
          <p:cNvPr id="14" name="ts:engines#tiles/items/5/label"/>
          <p:cNvSpPr txBox="1"/>
          <p:nvPr/>
        </p:nvSpPr>
        <p:spPr>
          <a:xfrm>
            <a:off x="3608070" y="4286661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Studio field</a:t>
            </a:r>
            <a:endParaRPr lang="en-US" sz="1200" dirty="0"/>
          </a:p>
        </p:txBody>
      </p:sp>
      <p:sp>
        <p:nvSpPr>
          <p:cNvPr id="15" name="ts:engines#tiles/items/5/sub"/>
          <p:cNvSpPr txBox="1"/>
          <p:nvPr/>
        </p:nvSpPr>
        <p:spPr>
          <a:xfrm>
            <a:off x="3608070" y="4492222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Ten Bayer presets share one GL context.</a:t>
            </a:r>
            <a:endParaRPr lang="en-US" sz="900" dirty="0"/>
          </a:p>
        </p:txBody>
      </p:sp>
      <p:sp>
        <p:nvSpPr>
          <p:cNvPr id="16" name="ts:engines#tiles/items/6/label"/>
          <p:cNvSpPr txBox="1"/>
          <p:nvPr/>
        </p:nvSpPr>
        <p:spPr>
          <a:xfrm>
            <a:off x="6172200" y="4286661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Iso</a:t>
            </a:r>
            <a:endParaRPr lang="en-US" sz="1200" dirty="0"/>
          </a:p>
        </p:txBody>
      </p:sp>
      <p:sp>
        <p:nvSpPr>
          <p:cNvPr id="17" name="ts:engines#tiles/items/6/sub"/>
          <p:cNvSpPr txBox="1"/>
          <p:nvPr/>
        </p:nvSpPr>
        <p:spPr>
          <a:xfrm>
            <a:off x="6172200" y="4492222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30 degree projection draws every solid.</a:t>
            </a:r>
            <a:endParaRPr lang="en-US" sz="900" dirty="0"/>
          </a:p>
        </p:txBody>
      </p:sp>
      <p:sp>
        <p:nvSpPr>
          <p:cNvPr id="18" name="ts:engines#tiles/items/7/label"/>
          <p:cNvSpPr txBox="1"/>
          <p:nvPr/>
        </p:nvSpPr>
        <p:spPr>
          <a:xfrm>
            <a:off x="8736330" y="4287195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Doubled line</a:t>
            </a:r>
            <a:endParaRPr lang="en-US" sz="1200" dirty="0"/>
          </a:p>
        </p:txBody>
      </p:sp>
      <p:sp>
        <p:nvSpPr>
          <p:cNvPr id="19" name="ts:engines#tiles/items/7/sub"/>
          <p:cNvSpPr txBox="1"/>
          <p:nvPr/>
        </p:nvSpPr>
        <p:spPr>
          <a:xfrm>
            <a:off x="8736330" y="4492603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One path is stroked twice into two threads.</a:t>
            </a:r>
            <a:endParaRPr lang="en-US" sz="900" dirty="0"/>
          </a:p>
        </p:txBody>
      </p:sp>
      <p:sp>
        <p:nvSpPr>
          <p:cNvPr id="20" name="ts:engines#tiles/items/8/label"/>
          <p:cNvSpPr txBox="1"/>
          <p:nvPr/>
        </p:nvSpPr>
        <p:spPr>
          <a:xfrm>
            <a:off x="1043940" y="5502966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Edge globe</a:t>
            </a:r>
            <a:endParaRPr lang="en-US" sz="1200" dirty="0"/>
          </a:p>
        </p:txBody>
      </p:sp>
      <p:sp>
        <p:nvSpPr>
          <p:cNvPr id="21" name="ts:engines#tiles/items/8/sub"/>
          <p:cNvSpPr txBox="1"/>
          <p:nvPr/>
        </p:nvSpPr>
        <p:spPr>
          <a:xfrm>
            <a:off x="1043940" y="5708832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globe shows five PoPs and one route.</a:t>
            </a:r>
            <a:endParaRPr lang="en-US" sz="900" dirty="0"/>
          </a:p>
        </p:txBody>
      </p:sp>
      <p:sp>
        <p:nvSpPr>
          <p:cNvPr id="22" name="ts:engines#tiles/items/9/label"/>
          <p:cNvSpPr txBox="1"/>
          <p:nvPr/>
        </p:nvSpPr>
        <p:spPr>
          <a:xfrm>
            <a:off x="3608070" y="5504033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Locale tag</a:t>
            </a:r>
            <a:endParaRPr lang="en-US" sz="1200" dirty="0"/>
          </a:p>
        </p:txBody>
      </p:sp>
      <p:sp>
        <p:nvSpPr>
          <p:cNvPr id="23" name="ts:engines#tiles/items/9/sub"/>
          <p:cNvSpPr txBox="1"/>
          <p:nvPr/>
        </p:nvSpPr>
        <p:spPr>
          <a:xfrm>
            <a:off x="3608070" y="5709441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15 by 11 flag prints beside the code.</a:t>
            </a:r>
            <a:endParaRPr lang="en-US" sz="900" dirty="0"/>
          </a:p>
        </p:txBody>
      </p:sp>
      <p:sp>
        <p:nvSpPr>
          <p:cNvPr id="24" name="ts:engines#tiles/items/10/label"/>
          <p:cNvSpPr txBox="1"/>
          <p:nvPr/>
        </p:nvSpPr>
        <p:spPr>
          <a:xfrm>
            <a:off x="6172200" y="5502813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Reveal seam</a:t>
            </a:r>
            <a:endParaRPr lang="en-US" sz="1200" dirty="0"/>
          </a:p>
        </p:txBody>
      </p:sp>
      <p:sp>
        <p:nvSpPr>
          <p:cNvPr id="25" name="ts:engines#tiles/items/10/sub"/>
          <p:cNvSpPr txBox="1"/>
          <p:nvPr/>
        </p:nvSpPr>
        <p:spPr>
          <a:xfrm>
            <a:off x="6172200" y="5708832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 slider writes one CSS variable.</a:t>
            </a:r>
            <a:endParaRPr lang="en-US" sz="900" dirty="0"/>
          </a:p>
        </p:txBody>
      </p:sp>
      <p:sp>
        <p:nvSpPr>
          <p:cNvPr id="26" name="ts:engines#tiles/items/11/label"/>
          <p:cNvSpPr txBox="1"/>
          <p:nvPr/>
        </p:nvSpPr>
        <p:spPr>
          <a:xfrm>
            <a:off x="8736330" y="5502509"/>
            <a:ext cx="243001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Glyph reassembler</a:t>
            </a:r>
            <a:endParaRPr lang="en-US" sz="1200" dirty="0"/>
          </a:p>
        </p:txBody>
      </p:sp>
      <p:sp>
        <p:nvSpPr>
          <p:cNvPr id="27" name="ts:engines#tiles/items/11/sub"/>
          <p:cNvSpPr txBox="1"/>
          <p:nvPr/>
        </p:nvSpPr>
        <p:spPr>
          <a:xfrm>
            <a:off x="8736330" y="5708603"/>
            <a:ext cx="2430018" cy="1543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1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One sentence reforms in the next locale.</a:t>
            </a:r>
            <a:endParaRPr lang="en-US" sz="900" dirty="0"/>
          </a:p>
        </p:txBody>
      </p:sp>
      <p:sp>
        <p:nvSpPr>
          <p:cNvPr id="28" name="ts:engin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72 / 85</a:t>
            </a:r>
            <a:endParaRPr lang="en-US" sz="780" dirty="0"/>
          </a:p>
        </p:txBody>
      </p:sp>
      <p:pic>
        <p:nvPicPr>
          <p:cNvPr id="29" name="ts:engines#sheet" descr="Shared engin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build log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s:build-log#title" hidden="1"/>
          <p:cNvSpPr txBox="1">
            <a:spLocks noGrp="1"/>
          </p:cNvSpPr>
          <p:nvPr>
            <p:ph type="title"/>
          </p:nvPr>
        </p:nvSpPr>
        <p:spPr>
          <a:xfrm>
            <a:off x="1043940" y="1224610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build log</a:t>
            </a:r>
            <a:endParaRPr lang="en-US" sz="2640" dirty="0"/>
          </a:p>
        </p:txBody>
      </p:sp>
      <p:sp>
        <p:nvSpPr>
          <p:cNvPr id="2" name="ts:build-log#h/text"/>
          <p:cNvSpPr txBox="1"/>
          <p:nvPr/>
        </p:nvSpPr>
        <p:spPr>
          <a:xfrm>
            <a:off x="1043940" y="1228432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build log</a:t>
            </a:r>
            <a:endParaRPr lang="en-US" sz="2640" dirty="0"/>
          </a:p>
        </p:txBody>
      </p:sp>
      <p:sp>
        <p:nvSpPr>
          <p:cNvPr id="3" name="ts:build-log#p1/text"/>
          <p:cNvSpPr txBox="1"/>
          <p:nvPr/>
        </p:nvSpPr>
        <p:spPr>
          <a:xfrm>
            <a:off x="1043940" y="1861574"/>
            <a:ext cx="3999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readme on /docs ends with the build log, six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sections in reading order. Each engine runs on a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plate under its heading, above its source path and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snippet that mounts it.</a:t>
            </a:r>
            <a:endParaRPr lang="en-US" sz="1320" dirty="0"/>
          </a:p>
        </p:txBody>
      </p:sp>
      <p:sp>
        <p:nvSpPr>
          <p:cNvPr id="4" name="ts:build-log#list/items/0/text@list/item/0"/>
          <p:cNvSpPr txBox="1"/>
          <p:nvPr/>
        </p:nvSpPr>
        <p:spPr>
          <a:xfrm>
            <a:off x="1318260" y="3143258"/>
            <a:ext cx="372541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system under the system</a:t>
            </a:r>
            <a:endParaRPr lang="en-US" sz="1320" dirty="0"/>
          </a:p>
        </p:txBody>
      </p:sp>
      <p:sp>
        <p:nvSpPr>
          <p:cNvPr id="5" name="ts:build-log#list/items/1/text@list/item/1"/>
          <p:cNvSpPr txBox="1"/>
          <p:nvPr/>
        </p:nvSpPr>
        <p:spPr>
          <a:xfrm>
            <a:off x="1318260" y="3568377"/>
            <a:ext cx="372541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line law and the auditors that hold it</a:t>
            </a:r>
            <a:endParaRPr lang="en-US" sz="1320" dirty="0"/>
          </a:p>
        </p:txBody>
      </p:sp>
      <p:sp>
        <p:nvSpPr>
          <p:cNvPr id="6" name="ts:build-log#list/items/2/text@list/item/2"/>
          <p:cNvSpPr txBox="1"/>
          <p:nvPr/>
        </p:nvSpPr>
        <p:spPr>
          <a:xfrm>
            <a:off x="1318260" y="3993573"/>
            <a:ext cx="372541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Rails, grounds, and seams</a:t>
            </a:r>
            <a:endParaRPr lang="en-US" sz="1320" dirty="0"/>
          </a:p>
        </p:txBody>
      </p:sp>
      <p:sp>
        <p:nvSpPr>
          <p:cNvPr id="7" name="ts:build-log#list/items/3/text@list/item/3"/>
          <p:cNvSpPr txBox="1"/>
          <p:nvPr/>
        </p:nvSpPr>
        <p:spPr>
          <a:xfrm>
            <a:off x="1318260" y="4418769"/>
            <a:ext cx="372541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Corners, spacers, and the second surface</a:t>
            </a:r>
            <a:endParaRPr lang="en-US" sz="1320" dirty="0"/>
          </a:p>
        </p:txBody>
      </p:sp>
      <p:sp>
        <p:nvSpPr>
          <p:cNvPr id="8" name="ts:build-log#list/items/4/text@list/item/4"/>
          <p:cNvSpPr txBox="1"/>
          <p:nvPr/>
        </p:nvSpPr>
        <p:spPr>
          <a:xfrm>
            <a:off x="1318260" y="4843889"/>
            <a:ext cx="372541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libraries</a:t>
            </a:r>
            <a:endParaRPr lang="en-US" sz="1320" dirty="0"/>
          </a:p>
        </p:txBody>
      </p:sp>
      <p:sp>
        <p:nvSpPr>
          <p:cNvPr id="9" name="ts:build-log#list/items/5/text@list/item/5"/>
          <p:cNvSpPr txBox="1"/>
          <p:nvPr/>
        </p:nvSpPr>
        <p:spPr>
          <a:xfrm>
            <a:off x="1318260" y="5269085"/>
            <a:ext cx="372541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moving type</a:t>
            </a:r>
            <a:endParaRPr lang="en-US" sz="1320" dirty="0"/>
          </a:p>
        </p:txBody>
      </p:sp>
      <p:sp>
        <p:nvSpPr>
          <p:cNvPr id="10" name="ts:build-log#fig/caption"/>
          <p:cNvSpPr txBox="1"/>
          <p:nvPr/>
        </p:nvSpPr>
        <p:spPr>
          <a:xfrm>
            <a:off x="5574030" y="4902949"/>
            <a:ext cx="5592318" cy="5301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horizon field entry: the heading, the prose, the plate running the lensing shader and the path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of its source, src/lib/horizon-field.ts. The snippet that mounts the field follows under the path.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crop is cut at two times device scale and follows the deck theme.</a:t>
            </a:r>
            <a:endParaRPr lang="en-US" sz="960" dirty="0"/>
          </a:p>
        </p:txBody>
      </p:sp>
      <p:sp>
        <p:nvSpPr>
          <p:cNvPr id="11" name="ts:build-lo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73 / 85</a:t>
            </a:r>
            <a:endParaRPr lang="en-US" sz="780" dirty="0"/>
          </a:p>
        </p:txBody>
      </p:sp>
      <p:pic>
        <p:nvPicPr>
          <p:cNvPr id="12" name="ts:build-log#sheet" descr="The build log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Glyphfield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glyphfield#title" hidden="1"/>
          <p:cNvSpPr txBox="1">
            <a:spLocks noGrp="1"/>
          </p:cNvSpPr>
          <p:nvPr>
            <p:ph type="title"/>
          </p:nvPr>
        </p:nvSpPr>
        <p:spPr>
          <a:xfrm>
            <a:off x="1043940" y="1707642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Glyphfield</a:t>
            </a:r>
            <a:endParaRPr lang="en-US" sz="2640" dirty="0"/>
          </a:p>
        </p:txBody>
      </p:sp>
      <p:sp>
        <p:nvSpPr>
          <p:cNvPr id="2" name="ts:glyphfield#h/text"/>
          <p:cNvSpPr txBox="1"/>
          <p:nvPr/>
        </p:nvSpPr>
        <p:spPr>
          <a:xfrm>
            <a:off x="1043940" y="1711464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Glyphfield</a:t>
            </a:r>
            <a:endParaRPr lang="en-US" sz="2640" dirty="0"/>
          </a:p>
        </p:txBody>
      </p:sp>
      <p:sp>
        <p:nvSpPr>
          <p:cNvPr id="3" name="ts:glyphfield#p1/text"/>
          <p:cNvSpPr txBox="1"/>
          <p:nvPr/>
        </p:nvSpPr>
        <p:spPr>
          <a:xfrm>
            <a:off x="1043940" y="2344605"/>
            <a:ext cx="3203448" cy="2766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Glyphfield is an open-source, local-first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brand studio at glyphfield.com, released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under the MIT license. One identity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supplies the marks, colors, type, voice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and defaults to fifteen tools in five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categories and to a shared library of 134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live materials. General Translation is one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of nine built-in identities, and the two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sites share the Bayer dither engines.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Projects stay in the browser, and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generation API keeps nothing.</a:t>
            </a:r>
            <a:endParaRPr lang="en-US" sz="1320" dirty="0"/>
          </a:p>
        </p:txBody>
      </p:sp>
      <p:sp>
        <p:nvSpPr>
          <p:cNvPr id="4" name="ts:glyphfield#fig/caption"/>
          <p:cNvSpPr txBox="1"/>
          <p:nvPr/>
        </p:nvSpPr>
        <p:spPr>
          <a:xfrm>
            <a:off x="4777740" y="5306504"/>
            <a:ext cx="6388608" cy="5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landing page states the studio's scope over a capture of the animation tool, where the </a:t>
            </a:r>
            <a:pPr algn="l" indent="0" marL="0">
              <a:lnSpc>
                <a:spcPts val="1392"/>
              </a:lnSpc>
              <a:buNone/>
            </a:pPr>
            <a:r>
              <a:rPr lang="en-US" sz="960" spc="-93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GT</a:t>
            </a:r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 mark sits on a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grain gradient. The crop is cut at two times device scale; the page keeps its own light and dark themes and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follows the deck here.</a:t>
            </a:r>
            <a:endParaRPr lang="en-US" sz="960" dirty="0"/>
          </a:p>
        </p:txBody>
      </p:sp>
      <p:sp>
        <p:nvSpPr>
          <p:cNvPr id="5" name="ts:glyphfield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74 / 85</a:t>
            </a:r>
            <a:endParaRPr lang="en-US" sz="780" dirty="0"/>
          </a:p>
        </p:txBody>
      </p:sp>
      <p:pic>
        <p:nvPicPr>
          <p:cNvPr id="6" name="ts:glyphfield#sheet" descr="Glyphfield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fteen tool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s:glyphfield-tools#title" hidden="1"/>
          <p:cNvSpPr txBox="1">
            <a:spLocks noGrp="1"/>
          </p:cNvSpPr>
          <p:nvPr>
            <p:ph type="title"/>
          </p:nvPr>
        </p:nvSpPr>
        <p:spPr>
          <a:xfrm>
            <a:off x="1043940" y="1021842"/>
            <a:ext cx="289560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Fifteen tools</a:t>
            </a:r>
            <a:endParaRPr lang="en-US" sz="2640" dirty="0"/>
          </a:p>
        </p:txBody>
      </p:sp>
      <p:sp>
        <p:nvSpPr>
          <p:cNvPr id="2" name="ts:glyphfield-tools#h/text"/>
          <p:cNvSpPr txBox="1"/>
          <p:nvPr/>
        </p:nvSpPr>
        <p:spPr>
          <a:xfrm>
            <a:off x="1043940" y="1025664"/>
            <a:ext cx="291388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Fifteen tools</a:t>
            </a:r>
            <a:endParaRPr lang="en-US" sz="2640" dirty="0"/>
          </a:p>
        </p:txBody>
      </p:sp>
      <p:grpSp>
        <p:nvGrpSpPr>
          <p:cNvPr id="16" name="rows/row/0"/>
          <p:cNvGrpSpPr/>
          <p:nvPr/>
        </p:nvGrpSpPr>
        <p:grpSpPr>
          <a:xfrm>
            <a:off x="1043940" y="1782044"/>
            <a:ext cx="2913888" cy="693420"/>
            <a:chOff x="1043940" y="1782044"/>
            <a:chExt cx="2913888" cy="693420"/>
          </a:xfrm>
        </p:grpSpPr>
        <p:sp>
          <p:nvSpPr>
            <p:cNvPr id="3" name="ts:glyphfield-tools#rows/items/0/key@rows/row/0"/>
            <p:cNvSpPr txBox="1"/>
            <p:nvPr/>
          </p:nvSpPr>
          <p:spPr>
            <a:xfrm>
              <a:off x="1043940" y="1782044"/>
              <a:ext cx="29138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Brand</a:t>
              </a:r>
              <a:endParaRPr lang="en-US" sz="1200" dirty="0"/>
            </a:p>
          </p:txBody>
        </p:sp>
        <p:sp>
          <p:nvSpPr>
            <p:cNvPr id="4" name="ts:glyphfield-tools#rows/items/0/value@rows/row/0"/>
            <p:cNvSpPr txBox="1"/>
            <p:nvPr/>
          </p:nvSpPr>
          <p:spPr>
            <a:xfrm>
              <a:off x="1043940" y="2033504"/>
              <a:ext cx="29138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Brand identity, Brand elements,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Moodboard and Brand book.</a:t>
              </a:r>
              <a:endParaRPr lang="en-US" sz="1200" dirty="0"/>
            </a:p>
          </p:txBody>
        </p:sp>
      </p:grpSp>
      <p:grpSp>
        <p:nvGrpSpPr>
          <p:cNvPr id="17" name="rows/row/1"/>
          <p:cNvGrpSpPr/>
          <p:nvPr/>
        </p:nvGrpSpPr>
        <p:grpSpPr>
          <a:xfrm>
            <a:off x="1043940" y="2696444"/>
            <a:ext cx="2913888" cy="472440"/>
            <a:chOff x="1043940" y="2696444"/>
            <a:chExt cx="2913888" cy="472440"/>
          </a:xfrm>
        </p:grpSpPr>
        <p:sp>
          <p:nvSpPr>
            <p:cNvPr id="5" name="ts:glyphfield-tools#rows/items/1/key@rows/row/1"/>
            <p:cNvSpPr txBox="1"/>
            <p:nvPr/>
          </p:nvSpPr>
          <p:spPr>
            <a:xfrm>
              <a:off x="1043940" y="2696444"/>
              <a:ext cx="29138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Motion</a:t>
              </a:r>
              <a:endParaRPr lang="en-US" sz="1200" dirty="0"/>
            </a:p>
          </p:txBody>
        </p:sp>
        <p:sp>
          <p:nvSpPr>
            <p:cNvPr id="6" name="ts:glyphfield-tools#rows/items/1/value@rows/row/1"/>
            <p:cNvSpPr txBox="1"/>
            <p:nvPr/>
          </p:nvSpPr>
          <p:spPr>
            <a:xfrm>
              <a:off x="1043940" y="2947904"/>
              <a:ext cx="29138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Animation and Lottie.</a:t>
              </a:r>
              <a:endParaRPr lang="en-US" sz="1200" dirty="0"/>
            </a:p>
          </p:txBody>
        </p:sp>
      </p:grpSp>
      <p:grpSp>
        <p:nvGrpSpPr>
          <p:cNvPr id="18" name="rows/row/2"/>
          <p:cNvGrpSpPr/>
          <p:nvPr/>
        </p:nvGrpSpPr>
        <p:grpSpPr>
          <a:xfrm>
            <a:off x="1043940" y="3389864"/>
            <a:ext cx="2913888" cy="693420"/>
            <a:chOff x="1043940" y="3389864"/>
            <a:chExt cx="2913888" cy="693420"/>
          </a:xfrm>
        </p:grpSpPr>
        <p:sp>
          <p:nvSpPr>
            <p:cNvPr id="7" name="ts:glyphfield-tools#rows/items/2/key@rows/row/2"/>
            <p:cNvSpPr txBox="1"/>
            <p:nvPr/>
          </p:nvSpPr>
          <p:spPr>
            <a:xfrm>
              <a:off x="1043940" y="3389864"/>
              <a:ext cx="29138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Foundations</a:t>
              </a:r>
              <a:endParaRPr lang="en-US" sz="1200" dirty="0"/>
            </a:p>
          </p:txBody>
        </p:sp>
        <p:sp>
          <p:nvSpPr>
            <p:cNvPr id="8" name="ts:glyphfield-tools#rows/items/2/value@rows/row/2"/>
            <p:cNvSpPr txBox="1"/>
            <p:nvPr/>
          </p:nvSpPr>
          <p:spPr>
            <a:xfrm>
              <a:off x="1043940" y="3641324"/>
              <a:ext cx="29138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Design Lab, Color tokens and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Typography.</a:t>
              </a:r>
              <a:endParaRPr lang="en-US" sz="1200" dirty="0"/>
            </a:p>
          </p:txBody>
        </p:sp>
      </p:grpSp>
      <p:grpSp>
        <p:nvGrpSpPr>
          <p:cNvPr id="19" name="rows/row/3"/>
          <p:cNvGrpSpPr/>
          <p:nvPr/>
        </p:nvGrpSpPr>
        <p:grpSpPr>
          <a:xfrm>
            <a:off x="1043940" y="4304264"/>
            <a:ext cx="2913888" cy="693420"/>
            <a:chOff x="1043940" y="4304264"/>
            <a:chExt cx="2913888" cy="693420"/>
          </a:xfrm>
        </p:grpSpPr>
        <p:sp>
          <p:nvSpPr>
            <p:cNvPr id="9" name="ts:glyphfield-tools#rows/items/3/key@rows/row/3"/>
            <p:cNvSpPr txBox="1"/>
            <p:nvPr/>
          </p:nvSpPr>
          <p:spPr>
            <a:xfrm>
              <a:off x="1043940" y="4304264"/>
              <a:ext cx="29138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Expressions</a:t>
              </a:r>
              <a:endParaRPr lang="en-US" sz="1200" dirty="0"/>
            </a:p>
          </p:txBody>
        </p:sp>
        <p:sp>
          <p:nvSpPr>
            <p:cNvPr id="10" name="ts:glyphfield-tools#rows/items/3/value@rows/row/3"/>
            <p:cNvSpPr txBox="1"/>
            <p:nvPr/>
          </p:nvSpPr>
          <p:spPr>
            <a:xfrm>
              <a:off x="1043940" y="4555724"/>
              <a:ext cx="291388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OpenGraph, Terminal card, Partnership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lockup, Blog cover and Slide templates.</a:t>
              </a:r>
              <a:endParaRPr lang="en-US" sz="1200" dirty="0"/>
            </a:p>
          </p:txBody>
        </p:sp>
      </p:grpSp>
      <p:grpSp>
        <p:nvGrpSpPr>
          <p:cNvPr id="20" name="rows/row/4"/>
          <p:cNvGrpSpPr/>
          <p:nvPr/>
        </p:nvGrpSpPr>
        <p:grpSpPr>
          <a:xfrm>
            <a:off x="1043940" y="5218664"/>
            <a:ext cx="2913888" cy="472440"/>
            <a:chOff x="1043940" y="5218664"/>
            <a:chExt cx="2913888" cy="472440"/>
          </a:xfrm>
        </p:grpSpPr>
        <p:sp>
          <p:nvSpPr>
            <p:cNvPr id="11" name="ts:glyphfield-tools#rows/items/4/key@rows/row/4"/>
            <p:cNvSpPr txBox="1"/>
            <p:nvPr/>
          </p:nvSpPr>
          <p:spPr>
            <a:xfrm>
              <a:off x="1043940" y="5218664"/>
              <a:ext cx="29138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Components</a:t>
              </a:r>
              <a:endParaRPr lang="en-US" sz="1200" dirty="0"/>
            </a:p>
          </p:txBody>
        </p:sp>
        <p:sp>
          <p:nvSpPr>
            <p:cNvPr id="12" name="ts:glyphfield-tools#rows/items/4/value@rows/row/4"/>
            <p:cNvSpPr txBox="1"/>
            <p:nvPr/>
          </p:nvSpPr>
          <p:spPr>
            <a:xfrm>
              <a:off x="1043940" y="5470124"/>
              <a:ext cx="29138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Component library.</a:t>
              </a:r>
              <a:endParaRPr lang="en-US" sz="1200" dirty="0"/>
            </a:p>
          </p:txBody>
        </p:sp>
      </p:grpSp>
      <p:sp>
        <p:nvSpPr>
          <p:cNvPr id="13" name="ts:glyphfield-tools#fig/caption"/>
          <p:cNvSpPr txBox="1"/>
          <p:nvPr/>
        </p:nvSpPr>
        <p:spPr>
          <a:xfrm>
            <a:off x="4488180" y="5447245"/>
            <a:ext cx="667816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animation tool: sequence layers on the left, the artboard and the storyboard in the middle, per-layer controls on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right, and the Code, GIF and Export MP4 buttons in the toolbar. Code opens the source drawer.</a:t>
            </a:r>
            <a:endParaRPr lang="en-US" sz="960" dirty="0"/>
          </a:p>
        </p:txBody>
      </p:sp>
      <p:sp>
        <p:nvSpPr>
          <p:cNvPr id="14" name="ts:glyphfield-tool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75 / 85</a:t>
            </a:r>
            <a:endParaRPr lang="en-US" sz="780" dirty="0"/>
          </a:p>
        </p:txBody>
      </p:sp>
      <p:pic>
        <p:nvPicPr>
          <p:cNvPr id="15" name="ts:glyphfield-tools#sheet" descr="Fifteen tool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oks and template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s:books-and-template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Books and templates</a:t>
            </a:r>
            <a:endParaRPr lang="en-US" sz="2640" dirty="0"/>
          </a:p>
        </p:txBody>
      </p:sp>
      <p:sp>
        <p:nvSpPr>
          <p:cNvPr id="2" name="ts:books-and-templates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Books and templates</a:t>
            </a:r>
            <a:endParaRPr lang="en-US" sz="2640" dirty="0"/>
          </a:p>
        </p:txBody>
      </p:sp>
      <p:sp>
        <p:nvSpPr>
          <p:cNvPr id="3" name="ts:books-and-templates#p1/text"/>
          <p:cNvSpPr txBox="1"/>
          <p:nvPr/>
        </p:nvSpPr>
        <p:spPr>
          <a:xfrm>
            <a:off x="1043940" y="1450779"/>
            <a:ext cx="10122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Two of the fifteen tools produce finished documents from the identity alone. Both are shown here on the starter identity, and both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follow the studio's own light and dark themes.</a:t>
            </a:r>
            <a:endParaRPr lang="en-US" sz="1320" dirty="0"/>
          </a:p>
        </p:txBody>
      </p:sp>
      <p:sp>
        <p:nvSpPr>
          <p:cNvPr id="4" name="ts:books-and-templates#pair/figures/0/caption"/>
          <p:cNvSpPr txBox="1"/>
          <p:nvPr/>
        </p:nvSpPr>
        <p:spPr>
          <a:xfrm>
            <a:off x="1043940" y="5492957"/>
            <a:ext cx="491794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brand book tool generates a book of 51 pages in eight chapters from the active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identity. The index lists the chapters, and the toolbar exports the book as a PDF.</a:t>
            </a:r>
            <a:endParaRPr lang="en-US" sz="900" dirty="0"/>
          </a:p>
        </p:txBody>
      </p:sp>
      <p:sp>
        <p:nvSpPr>
          <p:cNvPr id="5" name="ts:books-and-templates#pair/figures/1/caption"/>
          <p:cNvSpPr txBox="1"/>
          <p:nvPr/>
        </p:nvSpPr>
        <p:spPr>
          <a:xfrm>
            <a:off x="6248400" y="5492957"/>
            <a:ext cx="4917948" cy="3314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Slide templates build a 16:9 system from fourteen layouts on a direct-manipulation canvas.</a:t>
            </a:r>
            <a:br/>
            <a:pPr algn="l" indent="0" marL="0">
              <a:lnSpc>
                <a:spcPts val="1305"/>
              </a:lnSpc>
              <a:buNone/>
            </a:pPr>
            <a:r>
              <a:rPr lang="en-US" sz="90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library holds the layouts, and each renders as SVG through the API.</a:t>
            </a:r>
            <a:endParaRPr lang="en-US" sz="900" dirty="0"/>
          </a:p>
        </p:txBody>
      </p:sp>
      <p:sp>
        <p:nvSpPr>
          <p:cNvPr id="6" name="ts:books-and-template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76 / 85</a:t>
            </a:r>
            <a:endParaRPr lang="en-US" sz="780" dirty="0"/>
          </a:p>
        </p:txBody>
      </p:sp>
      <p:pic>
        <p:nvPicPr>
          <p:cNvPr id="7" name="ts:books-and-templates#sheet" descr="Books and template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134 live material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s:glyphfield-materials#title" hidden="1"/>
          <p:cNvSpPr txBox="1">
            <a:spLocks noGrp="1"/>
          </p:cNvSpPr>
          <p:nvPr>
            <p:ph type="title"/>
          </p:nvPr>
        </p:nvSpPr>
        <p:spPr>
          <a:xfrm>
            <a:off x="1043940" y="1048512"/>
            <a:ext cx="52273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134 live materials</a:t>
            </a:r>
            <a:endParaRPr lang="en-US" sz="2640" dirty="0"/>
          </a:p>
        </p:txBody>
      </p:sp>
      <p:sp>
        <p:nvSpPr>
          <p:cNvPr id="2" name="ts:glyphfield-materials#h/text"/>
          <p:cNvSpPr txBox="1"/>
          <p:nvPr/>
        </p:nvSpPr>
        <p:spPr>
          <a:xfrm>
            <a:off x="1043940" y="1052334"/>
            <a:ext cx="52456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134 live materials</a:t>
            </a:r>
            <a:endParaRPr lang="en-US" sz="2640" dirty="0"/>
          </a:p>
        </p:txBody>
      </p:sp>
      <p:sp>
        <p:nvSpPr>
          <p:cNvPr id="3" name="ts:glyphfield-materials#p1/text"/>
          <p:cNvSpPr txBox="1"/>
          <p:nvPr/>
        </p:nvSpPr>
        <p:spPr>
          <a:xfrm>
            <a:off x="1043940" y="1685475"/>
            <a:ext cx="5245608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shader library is one quality-sorted catalog shared by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Design Lab and the animation tool. Brand colors seed every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material; a new composition opens on gem smoke, the material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behind the blog covers and the reel. The six tiles are live renders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from the library.</a:t>
            </a:r>
            <a:endParaRPr lang="en-US" sz="1320" dirty="0"/>
          </a:p>
        </p:txBody>
      </p:sp>
      <p:grpSp>
        <p:nvGrpSpPr>
          <p:cNvPr id="20" name="rows/row/0"/>
          <p:cNvGrpSpPr/>
          <p:nvPr/>
        </p:nvGrpSpPr>
        <p:grpSpPr>
          <a:xfrm>
            <a:off x="1043940" y="3233654"/>
            <a:ext cx="5245608" cy="441960"/>
            <a:chOff x="1043940" y="3233654"/>
            <a:chExt cx="5245608" cy="441960"/>
          </a:xfrm>
        </p:grpSpPr>
        <p:sp>
          <p:nvSpPr>
            <p:cNvPr id="4" name="ts:glyphfield-materials#rows/items/0/key@rows/row/0"/>
            <p:cNvSpPr txBox="1"/>
            <p:nvPr/>
          </p:nvSpPr>
          <p:spPr>
            <a:xfrm>
              <a:off x="1043940" y="3233654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Paper Shaders</a:t>
              </a:r>
              <a:endParaRPr lang="en-US" sz="1200" dirty="0"/>
            </a:p>
          </p:txBody>
        </p:sp>
        <p:sp>
          <p:nvSpPr>
            <p:cNvPr id="5" name="ts:glyphfield-materials#rows/items/0/value@rows/row/0"/>
            <p:cNvSpPr txBox="1"/>
            <p:nvPr/>
          </p:nvSpPr>
          <p:spPr>
            <a:xfrm>
              <a:off x="2430780" y="3233654"/>
              <a:ext cx="38587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112 presets in 29 families, gem smoke, liquid metal,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god rays and smoke ring among them.</a:t>
              </a:r>
              <a:endParaRPr lang="en-US" sz="1200" dirty="0"/>
            </a:p>
          </p:txBody>
        </p:sp>
      </p:grpSp>
      <p:grpSp>
        <p:nvGrpSpPr>
          <p:cNvPr id="21" name="rows/row/1"/>
          <p:cNvGrpSpPr/>
          <p:nvPr/>
        </p:nvGrpSpPr>
        <p:grpSpPr>
          <a:xfrm>
            <a:off x="1043940" y="3896594"/>
            <a:ext cx="5245608" cy="441960"/>
            <a:chOff x="1043940" y="3896594"/>
            <a:chExt cx="5245608" cy="441960"/>
          </a:xfrm>
        </p:grpSpPr>
        <p:sp>
          <p:nvSpPr>
            <p:cNvPr id="6" name="ts:glyphfield-materials#rows/items/1/key@rows/row/1"/>
            <p:cNvSpPr txBox="1"/>
            <p:nvPr/>
          </p:nvSpPr>
          <p:spPr>
            <a:xfrm>
              <a:off x="1043940" y="3896594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Studies</a:t>
              </a:r>
              <a:endParaRPr lang="en-US" sz="1200" dirty="0"/>
            </a:p>
          </p:txBody>
        </p:sp>
        <p:sp>
          <p:nvSpPr>
            <p:cNvPr id="7" name="ts:glyphfield-materials#rows/items/1/value@rows/row/1"/>
            <p:cNvSpPr txBox="1"/>
            <p:nvPr/>
          </p:nvSpPr>
          <p:spPr>
            <a:xfrm>
              <a:off x="2430780" y="3896594"/>
              <a:ext cx="38587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Nine Shaders.com studies, six original design studies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and four house renderers.</a:t>
              </a:r>
              <a:endParaRPr lang="en-US" sz="1200" dirty="0"/>
            </a:p>
          </p:txBody>
        </p:sp>
      </p:grpSp>
      <p:grpSp>
        <p:nvGrpSpPr>
          <p:cNvPr id="22" name="rows/row/2"/>
          <p:cNvGrpSpPr/>
          <p:nvPr/>
        </p:nvGrpSpPr>
        <p:grpSpPr>
          <a:xfrm>
            <a:off x="1043940" y="4559534"/>
            <a:ext cx="5245608" cy="441960"/>
            <a:chOff x="1043940" y="4559534"/>
            <a:chExt cx="5245608" cy="441960"/>
          </a:xfrm>
        </p:grpSpPr>
        <p:sp>
          <p:nvSpPr>
            <p:cNvPr id="8" name="ts:glyphfield-materials#rows/items/2/key@rows/row/2"/>
            <p:cNvSpPr txBox="1"/>
            <p:nvPr/>
          </p:nvSpPr>
          <p:spPr>
            <a:xfrm>
              <a:off x="1043940" y="4559534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Single engines</a:t>
              </a:r>
              <a:endParaRPr lang="en-US" sz="1200" dirty="0"/>
            </a:p>
          </p:txBody>
        </p:sp>
        <p:sp>
          <p:nvSpPr>
            <p:cNvPr id="9" name="ts:glyphfield-materials#rows/items/2/value@rows/row/2"/>
            <p:cNvSpPr txBox="1"/>
            <p:nvPr/>
          </p:nvSpPr>
          <p:spPr>
            <a:xfrm>
              <a:off x="2430780" y="4559534"/>
              <a:ext cx="38587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One each from ShaderGradient, the WebGL fluid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simulation and the holo cloth material.</a:t>
              </a:r>
              <a:endParaRPr lang="en-US" sz="1200" dirty="0"/>
            </a:p>
          </p:txBody>
        </p:sp>
      </p:grpSp>
      <p:grpSp>
        <p:nvGrpSpPr>
          <p:cNvPr id="23" name="rows/row/3"/>
          <p:cNvGrpSpPr/>
          <p:nvPr/>
        </p:nvGrpSpPr>
        <p:grpSpPr>
          <a:xfrm>
            <a:off x="1043940" y="5222474"/>
            <a:ext cx="5245608" cy="441960"/>
            <a:chOff x="1043940" y="5222474"/>
            <a:chExt cx="5245608" cy="441960"/>
          </a:xfrm>
        </p:grpSpPr>
        <p:sp>
          <p:nvSpPr>
            <p:cNvPr id="10" name="ts:glyphfield-materials#rows/items/3/key@rows/row/3"/>
            <p:cNvSpPr txBox="1"/>
            <p:nvPr/>
          </p:nvSpPr>
          <p:spPr>
            <a:xfrm>
              <a:off x="1043940" y="5222474"/>
              <a:ext cx="1161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Categories</a:t>
              </a:r>
              <a:endParaRPr lang="en-US" sz="1200" dirty="0"/>
            </a:p>
          </p:txBody>
        </p:sp>
        <p:sp>
          <p:nvSpPr>
            <p:cNvPr id="11" name="ts:glyphfield-materials#rows/items/3/value@rows/row/3"/>
            <p:cNvSpPr txBox="1"/>
            <p:nvPr/>
          </p:nvSpPr>
          <p:spPr>
            <a:xfrm>
              <a:off x="2430780" y="5222474"/>
              <a:ext cx="38587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Fluid 28, light 22, metal 16, gradient 33 and graphic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35; 15 palettes and 9 look presets.</a:t>
              </a:r>
              <a:endParaRPr lang="en-US" sz="1200" dirty="0"/>
            </a:p>
          </p:txBody>
        </p:sp>
      </p:grpSp>
      <p:sp>
        <p:nvSpPr>
          <p:cNvPr id="12" name="ts:glyphfield-materials#pair/figures/0/caption"/>
          <p:cNvSpPr txBox="1"/>
          <p:nvPr/>
        </p:nvSpPr>
        <p:spPr>
          <a:xfrm>
            <a:off x="6819900" y="2209507"/>
            <a:ext cx="2090928" cy="3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Gem smoke is a Paper Shaders</a:t>
            </a:r>
            <a:br/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 in the brand blue.</a:t>
            </a:r>
            <a:endParaRPr lang="en-US" sz="960" dirty="0"/>
          </a:p>
        </p:txBody>
      </p:sp>
      <p:sp>
        <p:nvSpPr>
          <p:cNvPr id="13" name="ts:glyphfield-materials#pair/figures/1/caption"/>
          <p:cNvSpPr txBox="1"/>
          <p:nvPr/>
        </p:nvSpPr>
        <p:spPr>
          <a:xfrm>
            <a:off x="9075420" y="2209507"/>
            <a:ext cx="2090928" cy="3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Liquid metal is a Paper Shaders</a:t>
            </a:r>
            <a:br/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material.</a:t>
            </a:r>
            <a:endParaRPr lang="en-US" sz="960" dirty="0"/>
          </a:p>
        </p:txBody>
      </p:sp>
      <p:sp>
        <p:nvSpPr>
          <p:cNvPr id="14" name="ts:glyphfield-materials#pair/figures/2/caption"/>
          <p:cNvSpPr txBox="1"/>
          <p:nvPr/>
        </p:nvSpPr>
        <p:spPr>
          <a:xfrm>
            <a:off x="6819900" y="3855427"/>
            <a:ext cx="2090928" cy="3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God rays is a Paper Shaders</a:t>
            </a:r>
            <a:br/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material.</a:t>
            </a:r>
            <a:endParaRPr lang="en-US" sz="960" dirty="0"/>
          </a:p>
        </p:txBody>
      </p:sp>
      <p:sp>
        <p:nvSpPr>
          <p:cNvPr id="15" name="ts:glyphfield-materials#pair/figures/3/caption"/>
          <p:cNvSpPr txBox="1"/>
          <p:nvPr/>
        </p:nvSpPr>
        <p:spPr>
          <a:xfrm>
            <a:off x="9075420" y="3855427"/>
            <a:ext cx="2090928" cy="3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Smoke ring is a Paper Shaders</a:t>
            </a:r>
            <a:br/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material.</a:t>
            </a:r>
            <a:endParaRPr lang="en-US" sz="960" dirty="0"/>
          </a:p>
        </p:txBody>
      </p:sp>
      <p:sp>
        <p:nvSpPr>
          <p:cNvPr id="16" name="ts:glyphfield-materials#pair/figures/4/caption"/>
          <p:cNvSpPr txBox="1"/>
          <p:nvPr/>
        </p:nvSpPr>
        <p:spPr>
          <a:xfrm>
            <a:off x="6819900" y="5501347"/>
            <a:ext cx="2090928" cy="341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Chroma flow is a Shaders.com</a:t>
            </a:r>
            <a:br/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study.</a:t>
            </a:r>
            <a:endParaRPr lang="en-US" sz="960" dirty="0"/>
          </a:p>
        </p:txBody>
      </p:sp>
      <p:sp>
        <p:nvSpPr>
          <p:cNvPr id="17" name="ts:glyphfield-materials#pair/figures/5/caption"/>
          <p:cNvSpPr txBox="1"/>
          <p:nvPr/>
        </p:nvSpPr>
        <p:spPr>
          <a:xfrm>
            <a:off x="9075420" y="5501347"/>
            <a:ext cx="2090928" cy="1706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44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Grain gradient is a house renderer.</a:t>
            </a:r>
            <a:endParaRPr lang="en-US" sz="960" dirty="0"/>
          </a:p>
        </p:txBody>
      </p:sp>
      <p:sp>
        <p:nvSpPr>
          <p:cNvPr id="18" name="ts:glyphfield-material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77 / 85</a:t>
            </a:r>
            <a:endParaRPr lang="en-US" sz="780" dirty="0"/>
          </a:p>
        </p:txBody>
      </p:sp>
      <p:pic>
        <p:nvPicPr>
          <p:cNvPr id="19" name="ts:glyphfield-materials#sheet" descr="134 live material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agent API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s:agent-api#title" hidden="1"/>
          <p:cNvSpPr txBox="1">
            <a:spLocks noGrp="1"/>
          </p:cNvSpPr>
          <p:nvPr>
            <p:ph type="title"/>
          </p:nvPr>
        </p:nvSpPr>
        <p:spPr>
          <a:xfrm>
            <a:off x="1043940" y="1024890"/>
            <a:ext cx="398145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agent API</a:t>
            </a:r>
            <a:endParaRPr lang="en-US" sz="2640" dirty="0"/>
          </a:p>
        </p:txBody>
      </p:sp>
      <p:sp>
        <p:nvSpPr>
          <p:cNvPr id="2" name="ts:agent-api#h/text"/>
          <p:cNvSpPr txBox="1"/>
          <p:nvPr/>
        </p:nvSpPr>
        <p:spPr>
          <a:xfrm>
            <a:off x="1043940" y="1028712"/>
            <a:ext cx="399973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agent API</a:t>
            </a:r>
            <a:endParaRPr lang="en-US" sz="2640" dirty="0"/>
          </a:p>
        </p:txBody>
      </p:sp>
      <p:sp>
        <p:nvSpPr>
          <p:cNvPr id="3" name="ts:agent-api#p1/text"/>
          <p:cNvSpPr txBox="1"/>
          <p:nvPr/>
        </p:nvSpPr>
        <p:spPr>
          <a:xfrm>
            <a:off x="1043940" y="1661853"/>
            <a:ext cx="399973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Agents and the studio share the identities,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catalog and the generation language. An agent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reads llms.txt, generates SVG over HTTP, or drives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live studio in the browser.</a:t>
            </a:r>
            <a:endParaRPr lang="en-US" sz="1320" dirty="0"/>
          </a:p>
        </p:txBody>
      </p:sp>
      <p:sp>
        <p:nvSpPr>
          <p:cNvPr id="4" name="ts:agent-api#code/code"/>
          <p:cNvSpPr txBox="1"/>
          <p:nvPr/>
        </p:nvSpPr>
        <p:spPr>
          <a:xfrm>
            <a:off x="1188720" y="4848263"/>
            <a:ext cx="385495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POST /api/generate</a:t>
            </a:r>
            <a:br/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{ "kind": "background",</a:t>
            </a:r>
            <a:br/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"identity": { "preset": "gt" },</a:t>
            </a:r>
            <a:br/>
            <a:pPr algn="l" indent="0" marL="0">
              <a:lnSpc>
                <a:spcPts val="1530"/>
              </a:lnSpc>
              <a:buNone/>
            </a:pPr>
            <a:r>
              <a:rPr lang="en-US" sz="90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  "settings": { "style": "dither", "width": 1200 } }</a:t>
            </a:r>
            <a:endParaRPr lang="en-US" sz="900" dirty="0"/>
          </a:p>
        </p:txBody>
      </p:sp>
      <p:grpSp>
        <p:nvGrpSpPr>
          <p:cNvPr id="21" name="rows/row/0"/>
          <p:cNvGrpSpPr/>
          <p:nvPr/>
        </p:nvGrpSpPr>
        <p:grpSpPr>
          <a:xfrm>
            <a:off x="5574030" y="1190046"/>
            <a:ext cx="5592318" cy="441960"/>
            <a:chOff x="5574030" y="1190046"/>
            <a:chExt cx="5592318" cy="441960"/>
          </a:xfrm>
        </p:grpSpPr>
        <p:sp>
          <p:nvSpPr>
            <p:cNvPr id="5" name="ts:agent-api#rows/items/0/key@rows/row/0"/>
            <p:cNvSpPr txBox="1"/>
            <p:nvPr/>
          </p:nvSpPr>
          <p:spPr>
            <a:xfrm>
              <a:off x="5574030" y="1190046"/>
              <a:ext cx="1923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/llms.txt</a:t>
              </a:r>
              <a:endParaRPr lang="en-US" sz="1200" dirty="0"/>
            </a:p>
          </p:txBody>
        </p:sp>
        <p:sp>
          <p:nvSpPr>
            <p:cNvPr id="6" name="ts:agent-api#rows/items/0/value@rows/row/0"/>
            <p:cNvSpPr txBox="1"/>
            <p:nvPr/>
          </p:nvSpPr>
          <p:spPr>
            <a:xfrm>
              <a:off x="7722870" y="1190046"/>
              <a:ext cx="3443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operating guide in 194 lines; /llms-full.txt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carries the complete documentation corpus.</a:t>
              </a:r>
              <a:endParaRPr lang="en-US" sz="1200" dirty="0"/>
            </a:p>
          </p:txBody>
        </p:sp>
      </p:grpSp>
      <p:grpSp>
        <p:nvGrpSpPr>
          <p:cNvPr id="22" name="rows/row/1"/>
          <p:cNvGrpSpPr/>
          <p:nvPr/>
        </p:nvGrpSpPr>
        <p:grpSpPr>
          <a:xfrm>
            <a:off x="5574030" y="1852986"/>
            <a:ext cx="5592318" cy="441960"/>
            <a:chOff x="5574030" y="1852986"/>
            <a:chExt cx="5592318" cy="441960"/>
          </a:xfrm>
        </p:grpSpPr>
        <p:sp>
          <p:nvSpPr>
            <p:cNvPr id="7" name="ts:agent-api#rows/items/1/key@rows/row/1"/>
            <p:cNvSpPr txBox="1"/>
            <p:nvPr/>
          </p:nvSpPr>
          <p:spPr>
            <a:xfrm>
              <a:off x="5574030" y="1852986"/>
              <a:ext cx="1923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/api/agent</a:t>
              </a:r>
              <a:endParaRPr lang="en-US" sz="1200" dirty="0"/>
            </a:p>
          </p:txBody>
        </p:sp>
        <p:sp>
          <p:nvSpPr>
            <p:cNvPr id="8" name="ts:agent-api#rows/items/1/value@rows/row/1"/>
            <p:cNvSpPr txBox="1"/>
            <p:nvPr/>
          </p:nvSpPr>
          <p:spPr>
            <a:xfrm>
              <a:off x="7722870" y="1852986"/>
              <a:ext cx="3443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manifest, version 0.2.0: interfaces, policies,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execution rules and the generation schema.</a:t>
              </a:r>
              <a:endParaRPr lang="en-US" sz="1200" dirty="0"/>
            </a:p>
          </p:txBody>
        </p:sp>
      </p:grpSp>
      <p:grpSp>
        <p:nvGrpSpPr>
          <p:cNvPr id="23" name="rows/row/2"/>
          <p:cNvGrpSpPr/>
          <p:nvPr/>
        </p:nvGrpSpPr>
        <p:grpSpPr>
          <a:xfrm>
            <a:off x="5574030" y="2515926"/>
            <a:ext cx="5592318" cy="441960"/>
            <a:chOff x="5574030" y="2515926"/>
            <a:chExt cx="5592318" cy="441960"/>
          </a:xfrm>
        </p:grpSpPr>
        <p:sp>
          <p:nvSpPr>
            <p:cNvPr id="9" name="ts:agent-api#rows/items/2/key@rows/row/2"/>
            <p:cNvSpPr txBox="1"/>
            <p:nvPr/>
          </p:nvSpPr>
          <p:spPr>
            <a:xfrm>
              <a:off x="5574030" y="2515926"/>
              <a:ext cx="1923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/openapi.json</a:t>
              </a:r>
              <a:endParaRPr lang="en-US" sz="1200" dirty="0"/>
            </a:p>
          </p:txBody>
        </p:sp>
        <p:sp>
          <p:nvSpPr>
            <p:cNvPr id="10" name="ts:agent-api#rows/items/2/value@rows/row/2"/>
            <p:cNvSpPr txBox="1"/>
            <p:nvPr/>
          </p:nvSpPr>
          <p:spPr>
            <a:xfrm>
              <a:off x="7722870" y="2515926"/>
              <a:ext cx="3443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OpenAPI 3.1 document, eleven paths, and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catalogs: labs, materials, identities, elements.</a:t>
              </a:r>
              <a:endParaRPr lang="en-US" sz="1200" dirty="0"/>
            </a:p>
          </p:txBody>
        </p:sp>
      </p:grpSp>
      <p:grpSp>
        <p:nvGrpSpPr>
          <p:cNvPr id="24" name="rows/row/3"/>
          <p:cNvGrpSpPr/>
          <p:nvPr/>
        </p:nvGrpSpPr>
        <p:grpSpPr>
          <a:xfrm>
            <a:off x="5574030" y="3178866"/>
            <a:ext cx="5592318" cy="441960"/>
            <a:chOff x="5574030" y="3178866"/>
            <a:chExt cx="5592318" cy="441960"/>
          </a:xfrm>
        </p:grpSpPr>
        <p:sp>
          <p:nvSpPr>
            <p:cNvPr id="11" name="ts:agent-api#rows/items/3/key@rows/row/3"/>
            <p:cNvSpPr txBox="1"/>
            <p:nvPr/>
          </p:nvSpPr>
          <p:spPr>
            <a:xfrm>
              <a:off x="5574030" y="3178866"/>
              <a:ext cx="1923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/api/elements</a:t>
              </a:r>
              <a:endParaRPr lang="en-US" sz="1200" dirty="0"/>
            </a:p>
          </p:txBody>
        </p:sp>
        <p:sp>
          <p:nvSpPr>
            <p:cNvPr id="12" name="ts:agent-api#rows/items/3/value@rows/row/3"/>
            <p:cNvSpPr txBox="1"/>
            <p:nvPr/>
          </p:nvSpPr>
          <p:spPr>
            <a:xfrm>
              <a:off x="7722870" y="3178866"/>
              <a:ext cx="3443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89 brand elements in seven categories, from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digital to physical.</a:t>
              </a:r>
              <a:endParaRPr lang="en-US" sz="1200" dirty="0"/>
            </a:p>
          </p:txBody>
        </p:sp>
      </p:grpSp>
      <p:grpSp>
        <p:nvGrpSpPr>
          <p:cNvPr id="25" name="rows/row/4"/>
          <p:cNvGrpSpPr/>
          <p:nvPr/>
        </p:nvGrpSpPr>
        <p:grpSpPr>
          <a:xfrm>
            <a:off x="5574030" y="3841806"/>
            <a:ext cx="5592318" cy="441960"/>
            <a:chOff x="5574030" y="3841806"/>
            <a:chExt cx="5592318" cy="441960"/>
          </a:xfrm>
        </p:grpSpPr>
        <p:sp>
          <p:nvSpPr>
            <p:cNvPr id="13" name="ts:agent-api#rows/items/4/key@rows/row/4"/>
            <p:cNvSpPr txBox="1"/>
            <p:nvPr/>
          </p:nvSpPr>
          <p:spPr>
            <a:xfrm>
              <a:off x="5574030" y="3841806"/>
              <a:ext cx="1923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/api/generate</a:t>
              </a:r>
              <a:endParaRPr lang="en-US" sz="1200" dirty="0"/>
            </a:p>
          </p:txBody>
        </p:sp>
        <p:sp>
          <p:nvSpPr>
            <p:cNvPr id="14" name="ts:agent-api#rows/items/4/value@rows/row/4"/>
            <p:cNvSpPr txBox="1"/>
            <p:nvPr/>
          </p:nvSpPr>
          <p:spPr>
            <a:xfrm>
              <a:off x="7722870" y="3841806"/>
              <a:ext cx="3443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POST a kind: background, template, element-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brief or design-sequence, as JSON or raw SVG.</a:t>
              </a:r>
              <a:endParaRPr lang="en-US" sz="1200" dirty="0"/>
            </a:p>
          </p:txBody>
        </p:sp>
      </p:grpSp>
      <p:grpSp>
        <p:nvGrpSpPr>
          <p:cNvPr id="26" name="rows/row/5"/>
          <p:cNvGrpSpPr/>
          <p:nvPr/>
        </p:nvGrpSpPr>
        <p:grpSpPr>
          <a:xfrm>
            <a:off x="5574030" y="4504746"/>
            <a:ext cx="5592318" cy="441960"/>
            <a:chOff x="5574030" y="4504746"/>
            <a:chExt cx="5592318" cy="441960"/>
          </a:xfrm>
        </p:grpSpPr>
        <p:sp>
          <p:nvSpPr>
            <p:cNvPr id="15" name="ts:agent-api#rows/items/5/key@rows/row/5"/>
            <p:cNvSpPr txBox="1"/>
            <p:nvPr/>
          </p:nvSpPr>
          <p:spPr>
            <a:xfrm>
              <a:off x="5574030" y="4504746"/>
              <a:ext cx="1923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window.glyphfield.studio</a:t>
              </a:r>
              <a:endParaRPr lang="en-US" sz="1200" dirty="0"/>
            </a:p>
          </p:txBody>
        </p:sp>
        <p:sp>
          <p:nvSpPr>
            <p:cNvPr id="16" name="ts:agent-api#rows/items/5/value@rows/row/5"/>
            <p:cNvSpPr txBox="1"/>
            <p:nvPr/>
          </p:nvSpPr>
          <p:spPr>
            <a:xfrm>
              <a:off x="7722870" y="4504746"/>
              <a:ext cx="3443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It exposes describe, controls, activate, set,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readSource, applySource, invoke and download.</a:t>
              </a:r>
              <a:endParaRPr lang="en-US" sz="1200" dirty="0"/>
            </a:p>
          </p:txBody>
        </p:sp>
      </p:grpSp>
      <p:grpSp>
        <p:nvGrpSpPr>
          <p:cNvPr id="27" name="rows/row/6"/>
          <p:cNvGrpSpPr/>
          <p:nvPr/>
        </p:nvGrpSpPr>
        <p:grpSpPr>
          <a:xfrm>
            <a:off x="5574030" y="5167686"/>
            <a:ext cx="5592318" cy="441960"/>
            <a:chOff x="5574030" y="5167686"/>
            <a:chExt cx="5592318" cy="441960"/>
          </a:xfrm>
        </p:grpSpPr>
        <p:sp>
          <p:nvSpPr>
            <p:cNvPr id="17" name="ts:agent-api#rows/items/6/key@rows/row/6"/>
            <p:cNvSpPr txBox="1"/>
            <p:nvPr/>
          </p:nvSpPr>
          <p:spPr>
            <a:xfrm>
              <a:off x="5574030" y="5167686"/>
              <a:ext cx="19232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Skills</a:t>
              </a:r>
              <a:endParaRPr lang="en-US" sz="1200" dirty="0"/>
            </a:p>
          </p:txBody>
        </p:sp>
        <p:sp>
          <p:nvSpPr>
            <p:cNvPr id="18" name="ts:agent-api#rows/items/6/value@rows/row/6"/>
            <p:cNvSpPr txBox="1"/>
            <p:nvPr/>
          </p:nvSpPr>
          <p:spPr>
            <a:xfrm>
              <a:off x="7722870" y="5167686"/>
              <a:ext cx="344347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Four repository skills, one per task: create, api,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studio and export.</a:t>
              </a:r>
              <a:endParaRPr lang="en-US" sz="1200" dirty="0"/>
            </a:p>
          </p:txBody>
        </p:sp>
      </p:grpSp>
      <p:sp>
        <p:nvSpPr>
          <p:cNvPr id="19" name="ts:agent-api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78 / 85</a:t>
            </a:r>
            <a:endParaRPr lang="en-US" sz="780" dirty="0"/>
          </a:p>
        </p:txBody>
      </p:sp>
      <p:pic>
        <p:nvPicPr>
          <p:cNvPr id="20" name="ts:agent-api#sheet" descr="The agent API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tatus and plan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opener-status#title" hidden="1"/>
          <p:cNvSpPr txBox="1">
            <a:spLocks noGrp="1"/>
          </p:cNvSpPr>
          <p:nvPr>
            <p:ph type="title"/>
          </p:nvPr>
        </p:nvSpPr>
        <p:spPr>
          <a:xfrm>
            <a:off x="1242060" y="4269334"/>
            <a:ext cx="5242560" cy="58155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Status and plan</a:t>
            </a:r>
            <a:endParaRPr lang="en-US" sz="4320" dirty="0"/>
          </a:p>
        </p:txBody>
      </p:sp>
      <p:sp>
        <p:nvSpPr>
          <p:cNvPr id="2" name="ts:opener-status#h/text"/>
          <p:cNvSpPr txBox="1"/>
          <p:nvPr/>
        </p:nvSpPr>
        <p:spPr>
          <a:xfrm>
            <a:off x="1242060" y="4297314"/>
            <a:ext cx="5260848" cy="581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Status and plan</a:t>
            </a:r>
            <a:endParaRPr lang="en-US" sz="4320" dirty="0"/>
          </a:p>
        </p:txBody>
      </p:sp>
      <p:sp>
        <p:nvSpPr>
          <p:cNvPr id="3" name="ts:opener-status#p1/text"/>
          <p:cNvSpPr txBox="1"/>
          <p:nvPr/>
        </p:nvSpPr>
        <p:spPr>
          <a:xfrm>
            <a:off x="1242060" y="4924433"/>
            <a:ext cx="52608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This section covers what has shipped, what is open, the identity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project, the fixed points, and the success criteria.</a:t>
            </a:r>
            <a:endParaRPr lang="en-US" sz="1320" dirty="0"/>
          </a:p>
        </p:txBody>
      </p:sp>
      <p:sp>
        <p:nvSpPr>
          <p:cNvPr id="4" name="ts:opener-status#credit/text"/>
          <p:cNvSpPr txBox="1"/>
          <p:nvPr/>
        </p:nvSpPr>
        <p:spPr>
          <a:xfrm>
            <a:off x="1242060" y="5538829"/>
            <a:ext cx="52608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Singularity, a Prototemplate direction</a:t>
            </a:r>
            <a:endParaRPr lang="en-US" sz="900" dirty="0"/>
          </a:p>
        </p:txBody>
      </p:sp>
      <p:sp>
        <p:nvSpPr>
          <p:cNvPr id="5" name="ts:opener-statu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79 / 85</a:t>
            </a:r>
            <a:endParaRPr lang="en-US" sz="780" dirty="0"/>
          </a:p>
        </p:txBody>
      </p:sp>
      <p:pic>
        <p:nvPicPr>
          <p:cNvPr id="6" name="ts:opener-status#sheet" descr="Status and plan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Current statu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s:state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Current status</a:t>
            </a:r>
            <a:endParaRPr lang="en-US" sz="2640" dirty="0"/>
          </a:p>
        </p:txBody>
      </p:sp>
      <p:sp>
        <p:nvSpPr>
          <p:cNvPr id="2" name="ts:state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Current status</a:t>
            </a:r>
            <a:endParaRPr lang="en-US" sz="2640" dirty="0"/>
          </a:p>
        </p:txBody>
      </p:sp>
      <p:sp>
        <p:nvSpPr>
          <p:cNvPr id="3" name="ts:state#p1/text"/>
          <p:cNvSpPr txBox="1"/>
          <p:nvPr/>
        </p:nvSpPr>
        <p:spPr>
          <a:xfrm>
            <a:off x="4777740" y="944888"/>
            <a:ext cx="638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Each surface is listed with its state on September 9, 2026. Where fixes are open,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redesign is live on that surface and the open items are named.</a:t>
            </a:r>
            <a:endParaRPr lang="en-US" sz="1320" dirty="0"/>
          </a:p>
        </p:txBody>
      </p:sp>
      <p:sp>
        <p:nvSpPr>
          <p:cNvPr id="4" name="ts:state#board/rows/0/name"/>
          <p:cNvSpPr txBox="1"/>
          <p:nvPr/>
        </p:nvSpPr>
        <p:spPr>
          <a:xfrm>
            <a:off x="2186940" y="1830812"/>
            <a:ext cx="1923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Site</a:t>
            </a:r>
            <a:endParaRPr lang="en-US" sz="1200" dirty="0"/>
          </a:p>
        </p:txBody>
      </p:sp>
      <p:sp>
        <p:nvSpPr>
          <p:cNvPr id="5" name="ts:state#board/rows/0/note"/>
          <p:cNvSpPr txBox="1"/>
          <p:nvPr/>
        </p:nvSpPr>
        <p:spPr>
          <a:xfrm>
            <a:off x="5951220" y="1807266"/>
            <a:ext cx="521512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Home, pricing, enterprise, careers and contact run the redesign. The</a:t>
            </a:r>
            <a:br/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enterprise rebuild, the blue consolidation and the CTA ring fix are open.</a:t>
            </a:r>
            <a:endParaRPr lang="en-US" sz="1200" dirty="0"/>
          </a:p>
        </p:txBody>
      </p:sp>
      <p:sp>
        <p:nvSpPr>
          <p:cNvPr id="6" name="ts:state#board/rows/1/name"/>
          <p:cNvSpPr txBox="1"/>
          <p:nvPr/>
        </p:nvSpPr>
        <p:spPr>
          <a:xfrm>
            <a:off x="2186940" y="2478512"/>
            <a:ext cx="1923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Docs</a:t>
            </a:r>
            <a:endParaRPr lang="en-US" sz="1200" dirty="0"/>
          </a:p>
        </p:txBody>
      </p:sp>
      <p:sp>
        <p:nvSpPr>
          <p:cNvPr id="7" name="ts:state#board/rows/1/note"/>
          <p:cNvSpPr txBox="1"/>
          <p:nvPr/>
        </p:nvSpPr>
        <p:spPr>
          <a:xfrm>
            <a:off x="5951220" y="2454966"/>
            <a:ext cx="521512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The redesign merged September 3 and nearest-page routing September</a:t>
            </a:r>
            <a:br/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8. The locale guard, per-locale markdown and flag selectors are open.</a:t>
            </a:r>
            <a:endParaRPr lang="en-US" sz="1200" dirty="0"/>
          </a:p>
        </p:txBody>
      </p:sp>
      <p:sp>
        <p:nvSpPr>
          <p:cNvPr id="8" name="ts:state#board/rows/2/name"/>
          <p:cNvSpPr txBox="1"/>
          <p:nvPr/>
        </p:nvSpPr>
        <p:spPr>
          <a:xfrm>
            <a:off x="2186940" y="3126212"/>
            <a:ext cx="1923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Blog</a:t>
            </a:r>
            <a:endParaRPr lang="en-US" sz="1200" dirty="0"/>
          </a:p>
        </p:txBody>
      </p:sp>
      <p:sp>
        <p:nvSpPr>
          <p:cNvPr id="9" name="ts:state#board/rows/2/note"/>
          <p:cNvSpPr txBox="1"/>
          <p:nvPr/>
        </p:nvSpPr>
        <p:spPr>
          <a:xfrm>
            <a:off x="5951220" y="3102666"/>
            <a:ext cx="521512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The index with its two tickers, the changelog strip and the post pages run</a:t>
            </a:r>
            <a:br/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the redesign. Designed covers use the gem smoke material.</a:t>
            </a:r>
            <a:endParaRPr lang="en-US" sz="1200" dirty="0"/>
          </a:p>
        </p:txBody>
      </p:sp>
      <p:sp>
        <p:nvSpPr>
          <p:cNvPr id="10" name="ts:state#board/rows/3/name"/>
          <p:cNvSpPr txBox="1"/>
          <p:nvPr/>
        </p:nvSpPr>
        <p:spPr>
          <a:xfrm>
            <a:off x="2186940" y="3773912"/>
            <a:ext cx="1923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Libraries</a:t>
            </a:r>
            <a:endParaRPr lang="en-US" sz="1200" dirty="0"/>
          </a:p>
        </p:txBody>
      </p:sp>
      <p:sp>
        <p:nvSpPr>
          <p:cNvPr id="11" name="ts:state#board/rows/3/note"/>
          <p:cNvSpPr txBox="1"/>
          <p:nvPr/>
        </p:nvSpPr>
        <p:spPr>
          <a:xfrm>
            <a:off x="5951220" y="3750366"/>
            <a:ext cx="521512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gt, gt-next, gt-react, gt-vue, gt-node and gt-python ship under names</a:t>
            </a:r>
            <a:br/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that are fixed points. The CLI is the gt package.</a:t>
            </a:r>
            <a:endParaRPr lang="en-US" sz="1200" dirty="0"/>
          </a:p>
        </p:txBody>
      </p:sp>
      <p:sp>
        <p:nvSpPr>
          <p:cNvPr id="12" name="ts:state#board/rows/4/name"/>
          <p:cNvSpPr txBox="1"/>
          <p:nvPr/>
        </p:nvSpPr>
        <p:spPr>
          <a:xfrm>
            <a:off x="2186940" y="4421612"/>
            <a:ext cx="1923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Dashboard</a:t>
            </a:r>
            <a:endParaRPr lang="en-US" sz="1200" dirty="0"/>
          </a:p>
        </p:txBody>
      </p:sp>
      <p:sp>
        <p:nvSpPr>
          <p:cNvPr id="13" name="ts:state#board/rows/4/note"/>
          <p:cNvSpPr txBox="1"/>
          <p:nvPr/>
        </p:nvSpPr>
        <p:spPr>
          <a:xfrm>
            <a:off x="5951220" y="4398066"/>
            <a:ext cx="521512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The sign-in page carries the mark, the dithered globe and the glyph field.</a:t>
            </a:r>
            <a:br/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Fixes to the dashboard interface are open.</a:t>
            </a:r>
            <a:endParaRPr lang="en-US" sz="1200" dirty="0"/>
          </a:p>
        </p:txBody>
      </p:sp>
      <p:sp>
        <p:nvSpPr>
          <p:cNvPr id="14" name="ts:state#board/rows/5/name"/>
          <p:cNvSpPr txBox="1"/>
          <p:nvPr/>
        </p:nvSpPr>
        <p:spPr>
          <a:xfrm>
            <a:off x="2186940" y="5069312"/>
            <a:ext cx="192328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Brand</a:t>
            </a:r>
            <a:endParaRPr lang="en-US" sz="1200" dirty="0"/>
          </a:p>
        </p:txBody>
      </p:sp>
      <p:sp>
        <p:nvSpPr>
          <p:cNvPr id="15" name="ts:state#board/rows/5/note"/>
          <p:cNvSpPr txBox="1"/>
          <p:nvPr/>
        </p:nvSpPr>
        <p:spPr>
          <a:xfrm>
            <a:off x="5951220" y="5045766"/>
            <a:ext cx="5215128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The identity project runs September 1 to November 27. Its deliverables</a:t>
            </a:r>
            <a:br/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F2F2F0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become design tokens and assets in Prototemplate and on the site.</a:t>
            </a:r>
            <a:endParaRPr lang="en-US" sz="1200" dirty="0"/>
          </a:p>
        </p:txBody>
      </p:sp>
      <p:sp>
        <p:nvSpPr>
          <p:cNvPr id="16" name="ts:state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80 / 85</a:t>
            </a:r>
            <a:endParaRPr lang="en-US" sz="780" dirty="0"/>
          </a:p>
        </p:txBody>
      </p:sp>
      <p:pic>
        <p:nvPicPr>
          <p:cNvPr id="17" name="ts:state#sheet" descr="Current statu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Bowen's compass ros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mood-compass#title" hidden="1"/>
          <p:cNvSpPr txBox="1">
            <a:spLocks noGrp="1"/>
          </p:cNvSpPr>
          <p:nvPr>
            <p:ph type="title"/>
          </p:nvPr>
        </p:nvSpPr>
        <p:spPr>
          <a:xfrm>
            <a:off x="7078980" y="4000271"/>
            <a:ext cx="3870960" cy="362102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Bowen's compass rose</a:t>
            </a:r>
            <a:endParaRPr lang="en-US" sz="2640" dirty="0"/>
          </a:p>
        </p:txBody>
      </p:sp>
      <p:sp>
        <p:nvSpPr>
          <p:cNvPr id="2" name="ts:mood-compass#h/text"/>
          <p:cNvSpPr txBox="1"/>
          <p:nvPr/>
        </p:nvSpPr>
        <p:spPr>
          <a:xfrm>
            <a:off x="7078980" y="4007446"/>
            <a:ext cx="3889248" cy="3621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51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Bowen's compass rose</a:t>
            </a:r>
            <a:endParaRPr lang="en-US" sz="2640" dirty="0"/>
          </a:p>
        </p:txBody>
      </p:sp>
      <p:sp>
        <p:nvSpPr>
          <p:cNvPr id="3" name="ts:mood-compass#p1/text"/>
          <p:cNvSpPr txBox="1"/>
          <p:nvPr/>
        </p:nvSpPr>
        <p:spPr>
          <a:xfrm>
            <a:off x="7078980" y="4421513"/>
            <a:ext cx="3889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An engraved compass rose from a 1748 chart,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instrument for setting a course. This section lists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what has shipped, what is open, and the two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points that do not change.</a:t>
            </a:r>
            <a:endParaRPr lang="en-US" sz="1320" dirty="0"/>
          </a:p>
        </p:txBody>
      </p:sp>
      <p:sp>
        <p:nvSpPr>
          <p:cNvPr id="4" name="ts:mood-compass#credit/text"/>
          <p:cNvSpPr txBox="1"/>
          <p:nvPr/>
        </p:nvSpPr>
        <p:spPr>
          <a:xfrm>
            <a:off x="7078980" y="5538829"/>
            <a:ext cx="38892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Engraving: Emanuel Bowen, 1748, public domain</a:t>
            </a:r>
            <a:endParaRPr lang="en-US" sz="900" dirty="0"/>
          </a:p>
        </p:txBody>
      </p:sp>
      <p:sp>
        <p:nvSpPr>
          <p:cNvPr id="5" name="ts:mood-compas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81 / 85</a:t>
            </a:r>
            <a:endParaRPr lang="en-US" sz="780" dirty="0"/>
          </a:p>
        </p:txBody>
      </p:sp>
      <p:pic>
        <p:nvPicPr>
          <p:cNvPr id="6" name="ts:mood-compass#sheet" descr="Bowen's compass ros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The identity project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s:identity-project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The identity project</a:t>
            </a:r>
            <a:endParaRPr lang="en-US" sz="2640" dirty="0"/>
          </a:p>
        </p:txBody>
      </p:sp>
      <p:sp>
        <p:nvSpPr>
          <p:cNvPr id="2" name="ts:identity-project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The identity project</a:t>
            </a:r>
            <a:endParaRPr lang="en-US" sz="2640" dirty="0"/>
          </a:p>
        </p:txBody>
      </p:sp>
      <p:sp>
        <p:nvSpPr>
          <p:cNvPr id="3" name="ts:identity-project#p1/text"/>
          <p:cNvSpPr txBox="1"/>
          <p:nvPr/>
        </p:nvSpPr>
        <p:spPr>
          <a:xfrm>
            <a:off x="1043940" y="1450779"/>
            <a:ext cx="10122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project runs from September 1 to November 27 in five stages: research, definition, identity design, visual language, and delivery.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Constraints and a test list are stated once at the start. The marker is September 9, 2026, the date of this deck.</a:t>
            </a:r>
            <a:endParaRPr lang="en-US" sz="1320" dirty="0"/>
          </a:p>
        </p:txBody>
      </p:sp>
      <p:grpSp>
        <p:nvGrpSpPr>
          <p:cNvPr id="10" name="rows/row/0"/>
          <p:cNvGrpSpPr/>
          <p:nvPr/>
        </p:nvGrpSpPr>
        <p:grpSpPr>
          <a:xfrm>
            <a:off x="1272540" y="2620244"/>
            <a:ext cx="9893808" cy="441960"/>
            <a:chOff x="1272540" y="2620244"/>
            <a:chExt cx="9893808" cy="441960"/>
          </a:xfrm>
        </p:grpSpPr>
        <p:sp>
          <p:nvSpPr>
            <p:cNvPr id="4" name="ts:identity-project#rows/items/0/key@rows/row/0"/>
            <p:cNvSpPr txBox="1"/>
            <p:nvPr/>
          </p:nvSpPr>
          <p:spPr>
            <a:xfrm>
              <a:off x="1272540" y="2620244"/>
              <a:ext cx="1313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Inputs</a:t>
              </a:r>
              <a:endParaRPr lang="en-US" sz="1200" dirty="0"/>
            </a:p>
          </p:txBody>
        </p:sp>
        <p:sp>
          <p:nvSpPr>
            <p:cNvPr id="5" name="ts:identity-project#rows/items/0/value@rows/row/0"/>
            <p:cNvSpPr txBox="1"/>
            <p:nvPr/>
          </p:nvSpPr>
          <p:spPr>
            <a:xfrm>
              <a:off x="2811780" y="2620244"/>
              <a:ext cx="83545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inputs are prototemplate.com as the handoff site, the brand book, the questionnaire finalized August 11, and the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test list.</a:t>
              </a:r>
              <a:endParaRPr lang="en-US" sz="1200" dirty="0"/>
            </a:p>
          </p:txBody>
        </p:sp>
      </p:grpSp>
      <p:grpSp>
        <p:nvGrpSpPr>
          <p:cNvPr id="11" name="rows/row/1"/>
          <p:cNvGrpSpPr/>
          <p:nvPr/>
        </p:nvGrpSpPr>
        <p:grpSpPr>
          <a:xfrm>
            <a:off x="1272540" y="3283184"/>
            <a:ext cx="9893808" cy="441960"/>
            <a:chOff x="1272540" y="3283184"/>
            <a:chExt cx="9893808" cy="441960"/>
          </a:xfrm>
        </p:grpSpPr>
        <p:sp>
          <p:nvSpPr>
            <p:cNvPr id="6" name="ts:identity-project#rows/items/1/key@rows/row/1"/>
            <p:cNvSpPr txBox="1"/>
            <p:nvPr/>
          </p:nvSpPr>
          <p:spPr>
            <a:xfrm>
              <a:off x="1272540" y="3283184"/>
              <a:ext cx="1313688" cy="22098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spc="-12" dirty="0">
                  <a:solidFill>
                    <a:srgbClr val="F2F2F0">
                      <a:alpha val="0"/>
                    </a:srgbClr>
                  </a:solidFill>
                  <a:latin typeface="GT Inter Text 20 Medium" pitchFamily="34" charset="0"/>
                  <a:ea typeface="GT Inter Text 20 Medium" pitchFamily="34" charset="-122"/>
                  <a:cs typeface="GT Inter Text 20 Medium" pitchFamily="34" charset="-120"/>
                </a:rPr>
                <a:t>Decisions</a:t>
              </a:r>
              <a:endParaRPr lang="en-US" sz="1200" dirty="0"/>
            </a:p>
          </p:txBody>
        </p:sp>
        <p:sp>
          <p:nvSpPr>
            <p:cNvPr id="7" name="ts:identity-project#rows/items/1/value@rows/row/1"/>
            <p:cNvSpPr txBox="1"/>
            <p:nvPr/>
          </p:nvSpPr>
          <p:spPr>
            <a:xfrm>
              <a:off x="2811780" y="3283184"/>
              <a:ext cx="8354568" cy="44196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The four reviews cover the territory, the identity direction, the system, and the handoff. 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spc="-109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GT</a:t>
              </a:r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 selects one option at each</a:t>
              </a:r>
              <a:br/>
              <a:pPr algn="l" indent="0" marL="0">
                <a:lnSpc>
                  <a:spcPts val="1740"/>
                </a:lnSpc>
                <a:buNone/>
              </a:pPr>
              <a:r>
                <a:rPr lang="en-US" sz="1200" dirty="0">
                  <a:solidFill>
                    <a:srgbClr val="F2F2F0">
                      <a:alpha val="0"/>
                    </a:srgbClr>
                  </a:solidFill>
                  <a:latin typeface="GT Inter Text 20" pitchFamily="34" charset="0"/>
                  <a:ea typeface="GT Inter Text 20" pitchFamily="34" charset="-122"/>
                  <a:cs typeface="GT Inter Text 20" pitchFamily="34" charset="-120"/>
                </a:rPr>
                <a:t>and returns one consolidated feedback document within 48 hours.</a:t>
              </a:r>
              <a:endParaRPr lang="en-US" sz="1200" dirty="0"/>
            </a:p>
          </p:txBody>
        </p:sp>
      </p:grpSp>
      <p:sp>
        <p:nvSpPr>
          <p:cNvPr id="8" name="ts:identity-project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82 / 85</a:t>
            </a:r>
            <a:endParaRPr lang="en-US" sz="780" dirty="0"/>
          </a:p>
        </p:txBody>
      </p:sp>
      <p:pic>
        <p:nvPicPr>
          <p:cNvPr id="9" name="ts:identity-project#sheet" descr="The identity project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Fixed points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s:fixed-point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1010412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Fixed points</a:t>
            </a:r>
            <a:endParaRPr lang="en-US" sz="2640" dirty="0"/>
          </a:p>
        </p:txBody>
      </p:sp>
      <p:sp>
        <p:nvSpPr>
          <p:cNvPr id="2" name="ts:fixed-points#h/text"/>
          <p:cNvSpPr txBox="1"/>
          <p:nvPr/>
        </p:nvSpPr>
        <p:spPr>
          <a:xfrm>
            <a:off x="1043940" y="985278"/>
            <a:ext cx="101224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Fixed points</a:t>
            </a:r>
            <a:endParaRPr lang="en-US" sz="2640" dirty="0"/>
          </a:p>
        </p:txBody>
      </p:sp>
      <p:sp>
        <p:nvSpPr>
          <p:cNvPr id="3" name="ts:fixed-points#p1/text"/>
          <p:cNvSpPr txBox="1"/>
          <p:nvPr/>
        </p:nvSpPr>
        <p:spPr>
          <a:xfrm>
            <a:off x="1043940" y="1420299"/>
            <a:ext cx="101224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The identity project works from first principles with two fixed points, and everything else is open. No decision is protected by the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effort already spent on it; a proposal is judged on the success criteria alone.</a:t>
            </a:r>
            <a:endParaRPr lang="en-US" sz="1320" dirty="0"/>
          </a:p>
        </p:txBody>
      </p:sp>
      <p:sp>
        <p:nvSpPr>
          <p:cNvPr id="4" name="ts:fixed-points#h2/text"/>
          <p:cNvSpPr txBox="1"/>
          <p:nvPr/>
        </p:nvSpPr>
        <p:spPr>
          <a:xfrm>
            <a:off x="1043940" y="2229164"/>
            <a:ext cx="4796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spc="-23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Fixed</a:t>
            </a:r>
            <a:endParaRPr lang="en-US" sz="1560" dirty="0"/>
          </a:p>
        </p:txBody>
      </p:sp>
      <p:sp>
        <p:nvSpPr>
          <p:cNvPr id="5" name="ts:fixed-points#h3/text"/>
          <p:cNvSpPr txBox="1"/>
          <p:nvPr/>
        </p:nvSpPr>
        <p:spPr>
          <a:xfrm>
            <a:off x="1584960" y="2696578"/>
            <a:ext cx="406450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General Translation</a:t>
            </a:r>
            <a:endParaRPr lang="en-US" sz="2640" dirty="0"/>
          </a:p>
        </p:txBody>
      </p:sp>
      <p:sp>
        <p:nvSpPr>
          <p:cNvPr id="6" name="ts:fixed-points#p2/text"/>
          <p:cNvSpPr txBox="1"/>
          <p:nvPr/>
        </p:nvSpPr>
        <p:spPr>
          <a:xfrm>
            <a:off x="1584960" y="3094817"/>
            <a:ext cx="40645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9BCC3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The company's legal name does not change.</a:t>
            </a:r>
            <a:endParaRPr lang="en-US" sz="1200" dirty="0"/>
          </a:p>
        </p:txBody>
      </p:sp>
      <p:sp>
        <p:nvSpPr>
          <p:cNvPr id="7" name="ts:fixed-points#h4/text"/>
          <p:cNvSpPr txBox="1"/>
          <p:nvPr/>
        </p:nvSpPr>
        <p:spPr>
          <a:xfrm>
            <a:off x="1584960" y="3577900"/>
            <a:ext cx="4064508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800" spc="-48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gt, gt-next, gt-react, gt-vue, gt-node,</a:t>
            </a:r>
            <a:br/>
            <a:pPr algn="l" indent="0" marL="0">
              <a:lnSpc>
                <a:spcPts val="2250"/>
              </a:lnSpc>
              <a:buNone/>
            </a:pPr>
            <a:r>
              <a:rPr lang="en-US" sz="1800" spc="-51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gt-python</a:t>
            </a:r>
            <a:endParaRPr lang="en-US" sz="1800" dirty="0"/>
          </a:p>
        </p:txBody>
      </p:sp>
      <p:sp>
        <p:nvSpPr>
          <p:cNvPr id="8" name="ts:fixed-points#p3/text"/>
          <p:cNvSpPr txBox="1"/>
          <p:nvPr/>
        </p:nvSpPr>
        <p:spPr>
          <a:xfrm>
            <a:off x="1584960" y="4199717"/>
            <a:ext cx="40645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B9BCC3">
                    <a:alpha val="0"/>
                  </a:srgbClr>
                </a:solidFill>
                <a:latin typeface="GT Inter Text 20" pitchFamily="34" charset="0"/>
                <a:ea typeface="GT Inter Text 20" pitchFamily="34" charset="-122"/>
                <a:cs typeface="GT Inter Text 20" pitchFamily="34" charset="-120"/>
              </a:rPr>
              <a:t>The names customers install and import do not change.</a:t>
            </a:r>
            <a:endParaRPr lang="en-US" sz="1200" dirty="0"/>
          </a:p>
        </p:txBody>
      </p:sp>
      <p:sp>
        <p:nvSpPr>
          <p:cNvPr id="9" name="ts:fixed-points#code/code"/>
          <p:cNvSpPr txBox="1"/>
          <p:nvPr/>
        </p:nvSpPr>
        <p:spPr>
          <a:xfrm>
            <a:off x="1249680" y="4854085"/>
            <a:ext cx="4590288" cy="6605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npm i gt-next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import { T } from 'gt-next';</a:t>
            </a:r>
            <a:br/>
            <a:pPr algn="l" indent="0" marL="0">
              <a:lnSpc>
                <a:spcPts val="1734"/>
              </a:lnSpc>
              <a:buNone/>
            </a:pPr>
            <a:r>
              <a:rPr lang="en-US" sz="102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npx gt translate</a:t>
            </a:r>
            <a:endParaRPr lang="en-US" sz="1020" dirty="0"/>
          </a:p>
        </p:txBody>
      </p:sp>
      <p:sp>
        <p:nvSpPr>
          <p:cNvPr id="10" name="ts:fixed-points#h5/text"/>
          <p:cNvSpPr txBox="1"/>
          <p:nvPr/>
        </p:nvSpPr>
        <p:spPr>
          <a:xfrm>
            <a:off x="6370320" y="2229164"/>
            <a:ext cx="47960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72"/>
              </a:lnSpc>
              <a:buNone/>
            </a:pPr>
            <a:r>
              <a:rPr lang="en-US" sz="1560" spc="-23" dirty="0">
                <a:solidFill>
                  <a:srgbClr val="F2F2F0">
                    <a:alpha val="0"/>
                  </a:srgbClr>
                </a:solidFill>
                <a:latin typeface="GT Inter Text 26 Medium" pitchFamily="34" charset="0"/>
                <a:ea typeface="GT Inter Text 26 Medium" pitchFamily="34" charset="-122"/>
                <a:cs typeface="GT Inter Text 26 Medium" pitchFamily="34" charset="-120"/>
              </a:rPr>
              <a:t>Open</a:t>
            </a:r>
            <a:endParaRPr lang="en-US" sz="1560" dirty="0"/>
          </a:p>
        </p:txBody>
      </p:sp>
      <p:sp>
        <p:nvSpPr>
          <p:cNvPr id="11" name="ts:fixed-points#list/items/0/text@list/item/0"/>
          <p:cNvSpPr txBox="1"/>
          <p:nvPr/>
        </p:nvSpPr>
        <p:spPr>
          <a:xfrm>
            <a:off x="6370320" y="2619611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mark</a:t>
            </a:r>
            <a:endParaRPr lang="en-US" sz="1320" dirty="0"/>
          </a:p>
        </p:txBody>
      </p:sp>
      <p:sp>
        <p:nvSpPr>
          <p:cNvPr id="12" name="ts:fixed-points#list/items/1/text@list/item/1"/>
          <p:cNvSpPr txBox="1"/>
          <p:nvPr/>
        </p:nvSpPr>
        <p:spPr>
          <a:xfrm>
            <a:off x="6370320" y="3014327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colors</a:t>
            </a:r>
            <a:endParaRPr lang="en-US" sz="1320" dirty="0"/>
          </a:p>
        </p:txBody>
      </p:sp>
      <p:sp>
        <p:nvSpPr>
          <p:cNvPr id="13" name="ts:fixed-points#list/items/2/text@list/item/2"/>
          <p:cNvSpPr txBox="1"/>
          <p:nvPr/>
        </p:nvSpPr>
        <p:spPr>
          <a:xfrm>
            <a:off x="6370320" y="3408967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type</a:t>
            </a:r>
            <a:endParaRPr lang="en-US" sz="1320" dirty="0"/>
          </a:p>
        </p:txBody>
      </p:sp>
      <p:sp>
        <p:nvSpPr>
          <p:cNvPr id="14" name="ts:fixed-points#list/items/3/text@list/item/3"/>
          <p:cNvSpPr txBox="1"/>
          <p:nvPr/>
        </p:nvSpPr>
        <p:spPr>
          <a:xfrm>
            <a:off x="6370320" y="3803683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layout system</a:t>
            </a:r>
            <a:endParaRPr lang="en-US" sz="1320" dirty="0"/>
          </a:p>
        </p:txBody>
      </p:sp>
      <p:sp>
        <p:nvSpPr>
          <p:cNvPr id="15" name="ts:fixed-points#list/items/4/text@list/item/4"/>
          <p:cNvSpPr txBox="1"/>
          <p:nvPr/>
        </p:nvSpPr>
        <p:spPr>
          <a:xfrm>
            <a:off x="6370320" y="4198399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voice</a:t>
            </a:r>
            <a:endParaRPr lang="en-US" sz="1320" dirty="0"/>
          </a:p>
        </p:txBody>
      </p:sp>
      <p:sp>
        <p:nvSpPr>
          <p:cNvPr id="16" name="ts:fixed-points#list/items/5/text@list/item/5"/>
          <p:cNvSpPr txBox="1"/>
          <p:nvPr/>
        </p:nvSpPr>
        <p:spPr>
          <a:xfrm>
            <a:off x="6370320" y="4593039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site structure</a:t>
            </a:r>
            <a:endParaRPr lang="en-US" sz="1320" dirty="0"/>
          </a:p>
        </p:txBody>
      </p:sp>
      <p:sp>
        <p:nvSpPr>
          <p:cNvPr id="17" name="ts:fixed-points#list/items/6/text@list/item/6"/>
          <p:cNvSpPr txBox="1"/>
          <p:nvPr/>
        </p:nvSpPr>
        <p:spPr>
          <a:xfrm>
            <a:off x="6370320" y="4987755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deck itself</a:t>
            </a:r>
            <a:endParaRPr lang="en-US" sz="1320" dirty="0"/>
          </a:p>
        </p:txBody>
      </p:sp>
      <p:sp>
        <p:nvSpPr>
          <p:cNvPr id="18" name="ts:fixed-points#list/items/7/text@list/item/7"/>
          <p:cNvSpPr txBox="1"/>
          <p:nvPr/>
        </p:nvSpPr>
        <p:spPr>
          <a:xfrm>
            <a:off x="6370320" y="5382471"/>
            <a:ext cx="4796028" cy="234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48"/>
              </a:lnSpc>
              <a:buNone/>
            </a:pPr>
            <a:r>
              <a:rPr lang="en-US" sz="1320" spc="-13" dirty="0">
                <a:solidFill>
                  <a:srgbClr val="F2F2F0">
                    <a:alpha val="0"/>
                  </a:srgbClr>
                </a:solidFill>
                <a:latin typeface="GT Inter Text 22 Medium" pitchFamily="34" charset="0"/>
                <a:ea typeface="GT Inter Text 22 Medium" pitchFamily="34" charset="-122"/>
                <a:cs typeface="GT Inter Text 22 Medium" pitchFamily="34" charset="-120"/>
              </a:rPr>
              <a:t>The product names, including Locadex</a:t>
            </a:r>
            <a:endParaRPr lang="en-US" sz="1320" dirty="0"/>
          </a:p>
        </p:txBody>
      </p:sp>
      <p:sp>
        <p:nvSpPr>
          <p:cNvPr id="19" name="ts:fixed-point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83 / 85</a:t>
            </a:r>
            <a:endParaRPr lang="en-US" sz="780" dirty="0"/>
          </a:p>
        </p:txBody>
      </p:sp>
      <p:pic>
        <p:nvPicPr>
          <p:cNvPr id="20" name="ts:fixed-points#sheet" descr="Fixed points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uccess criteria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s:goals#title" hidden="1"/>
          <p:cNvSpPr txBox="1">
            <a:spLocks noGrp="1"/>
          </p:cNvSpPr>
          <p:nvPr>
            <p:ph type="title"/>
          </p:nvPr>
        </p:nvSpPr>
        <p:spPr>
          <a:xfrm>
            <a:off x="1043940" y="981456"/>
            <a:ext cx="3185160" cy="368808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264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Success criteria</a:t>
            </a:r>
            <a:endParaRPr lang="en-US" sz="2640" dirty="0"/>
          </a:p>
        </p:txBody>
      </p:sp>
      <p:sp>
        <p:nvSpPr>
          <p:cNvPr id="2" name="ts:goals#h/text"/>
          <p:cNvSpPr txBox="1"/>
          <p:nvPr/>
        </p:nvSpPr>
        <p:spPr>
          <a:xfrm>
            <a:off x="1043940" y="985278"/>
            <a:ext cx="3203448" cy="3688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4"/>
              </a:lnSpc>
              <a:buNone/>
            </a:pPr>
            <a:r>
              <a:rPr lang="en-US" sz="2640" spc="-66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Success criteria</a:t>
            </a:r>
            <a:endParaRPr lang="en-US" sz="2640" dirty="0"/>
          </a:p>
        </p:txBody>
      </p:sp>
      <p:sp>
        <p:nvSpPr>
          <p:cNvPr id="3" name="ts:goals#p1/text"/>
          <p:cNvSpPr txBox="1"/>
          <p:nvPr/>
        </p:nvSpPr>
        <p:spPr>
          <a:xfrm>
            <a:off x="4777740" y="944888"/>
            <a:ext cx="638860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Visitors perceive quality before reading any copy, and all five tests pass. Two tests</a:t>
            </a:r>
            <a:br/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run against the current system today and are shown below.</a:t>
            </a:r>
            <a:endParaRPr lang="en-US" sz="1320" dirty="0"/>
          </a:p>
        </p:txBody>
      </p:sp>
      <p:sp>
        <p:nvSpPr>
          <p:cNvPr id="4" name="ts:goals#list/items/0/text@list/item/0"/>
          <p:cNvSpPr txBox="1"/>
          <p:nvPr/>
        </p:nvSpPr>
        <p:spPr>
          <a:xfrm>
            <a:off x="1272540" y="1723446"/>
            <a:ext cx="98938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The mark works at 16px and in a terminal.</a:t>
            </a:r>
            <a:endParaRPr lang="en-US" sz="1200" dirty="0"/>
          </a:p>
        </p:txBody>
      </p:sp>
      <p:sp>
        <p:nvSpPr>
          <p:cNvPr id="5" name="ts:goals#list/items/1/text@list/item/1"/>
          <p:cNvSpPr txBox="1"/>
          <p:nvPr/>
        </p:nvSpPr>
        <p:spPr>
          <a:xfrm>
            <a:off x="1272540" y="2073966"/>
            <a:ext cx="98938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The type system works in CJK, RTL, and Indic scripts.</a:t>
            </a:r>
            <a:endParaRPr lang="en-US" sz="1200" dirty="0"/>
          </a:p>
        </p:txBody>
      </p:sp>
      <p:sp>
        <p:nvSpPr>
          <p:cNvPr id="6" name="ts:goals#list/items/2/text@list/item/2"/>
          <p:cNvSpPr txBox="1"/>
          <p:nvPr/>
        </p:nvSpPr>
        <p:spPr>
          <a:xfrm>
            <a:off x="1272540" y="2424486"/>
            <a:ext cx="98938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One visual family works for the open-source libraries and the enterprise platform.</a:t>
            </a:r>
            <a:endParaRPr lang="en-US" sz="1200" dirty="0"/>
          </a:p>
        </p:txBody>
      </p:sp>
      <p:sp>
        <p:nvSpPr>
          <p:cNvPr id="7" name="ts:goals#list/items/3/text@list/item/3"/>
          <p:cNvSpPr txBox="1"/>
          <p:nvPr/>
        </p:nvSpPr>
        <p:spPr>
          <a:xfrm>
            <a:off x="1272540" y="2775006"/>
            <a:ext cx="98938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The identity cannot be mistaken for a template.</a:t>
            </a:r>
            <a:endParaRPr lang="en-US" sz="1200" dirty="0"/>
          </a:p>
        </p:txBody>
      </p:sp>
      <p:sp>
        <p:nvSpPr>
          <p:cNvPr id="8" name="ts:goals#list/items/4/text@list/item/4"/>
          <p:cNvSpPr txBox="1"/>
          <p:nvPr/>
        </p:nvSpPr>
        <p:spPr>
          <a:xfrm>
            <a:off x="1272540" y="3125526"/>
            <a:ext cx="9893808" cy="220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spc="-12" dirty="0">
                <a:solidFill>
                  <a:srgbClr val="F2F2F0">
                    <a:alpha val="0"/>
                  </a:srgbClr>
                </a:solidFill>
                <a:latin typeface="GT Inter Text 20 Medium" pitchFamily="34" charset="0"/>
                <a:ea typeface="GT Inter Text 20 Medium" pitchFamily="34" charset="-122"/>
                <a:cs typeface="GT Inter Text 20 Medium" pitchFamily="34" charset="-120"/>
              </a:rPr>
              <a:t>An enterprise buyer trusts General Translation as infrastructure.</a:t>
            </a:r>
            <a:endParaRPr lang="en-US" sz="1200" dirty="0"/>
          </a:p>
        </p:txBody>
      </p:sp>
      <p:sp>
        <p:nvSpPr>
          <p:cNvPr id="9" name="ts:goals#code/code"/>
          <p:cNvSpPr txBox="1"/>
          <p:nvPr/>
        </p:nvSpPr>
        <p:spPr>
          <a:xfrm>
            <a:off x="2247900" y="5066911"/>
            <a:ext cx="3683508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200" dirty="0">
                <a:solidFill>
                  <a:srgbClr val="FFFFFF">
                    <a:alpha val="0"/>
                  </a:srgbClr>
                </a:solidFill>
                <a:latin typeface="DejaVu Sans Mono" pitchFamily="34" charset="0"/>
                <a:ea typeface="DejaVu Sans Mono" pitchFamily="34" charset="-122"/>
                <a:cs typeface="DejaVu Sans Mono" pitchFamily="34" charset="-120"/>
              </a:rPr>
              <a:t>npx gt translate</a:t>
            </a:r>
            <a:endParaRPr lang="en-US" sz="1200" dirty="0"/>
          </a:p>
        </p:txBody>
      </p:sp>
      <p:sp>
        <p:nvSpPr>
          <p:cNvPr id="10" name="ts:goals#group/caption"/>
          <p:cNvSpPr txBox="1"/>
          <p:nvPr/>
        </p:nvSpPr>
        <p:spPr>
          <a:xfrm>
            <a:off x="1043940" y="5434291"/>
            <a:ext cx="4887468" cy="35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first test as it is run: the mark from 128 to 16 pixels on paper, and reversed at 16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and 32 pixels on the terminal ground beside a command.</a:t>
            </a:r>
            <a:endParaRPr lang="en-US" sz="960" dirty="0"/>
          </a:p>
        </p:txBody>
      </p:sp>
      <p:sp>
        <p:nvSpPr>
          <p:cNvPr id="11" name="ts:goals#fig/caption"/>
          <p:cNvSpPr txBox="1"/>
          <p:nvPr/>
        </p:nvSpPr>
        <p:spPr>
          <a:xfrm>
            <a:off x="6278880" y="5272824"/>
            <a:ext cx="4887468" cy="53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The second test in production: the docs get-started page served in Japanese,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captured at 2x on September 9, 2026. The heading, the body and the interface labels</a:t>
            </a:r>
            <a:br/>
            <a:pPr algn="l" indent="0" marL="0">
              <a:lnSpc>
                <a:spcPts val="1392"/>
              </a:lnSpc>
              <a:buNone/>
            </a:pPr>
            <a:r>
              <a:rPr lang="en-US" sz="960" dirty="0">
                <a:solidFill>
                  <a:srgbClr val="B9BCC3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are set in the same type system.</a:t>
            </a:r>
            <a:endParaRPr lang="en-US" sz="960" dirty="0"/>
          </a:p>
        </p:txBody>
      </p:sp>
      <p:sp>
        <p:nvSpPr>
          <p:cNvPr id="12" name="ts:goals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84 / 85</a:t>
            </a:r>
            <a:endParaRPr lang="en-US" sz="780" dirty="0"/>
          </a:p>
        </p:txBody>
      </p:sp>
      <p:pic>
        <p:nvPicPr>
          <p:cNvPr id="13" name="ts:goals#sheet" descr="Success criteria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Every product in every language">
    <p:bg>
      <p:bgPr>
        <a:solidFill>
          <a:srgbClr val="07070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s:closing#title" hidden="1"/>
          <p:cNvSpPr txBox="1">
            <a:spLocks noGrp="1"/>
          </p:cNvSpPr>
          <p:nvPr>
            <p:ph type="title"/>
          </p:nvPr>
        </p:nvSpPr>
        <p:spPr>
          <a:xfrm>
            <a:off x="1242060" y="1999031"/>
            <a:ext cx="5090160" cy="11630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algn="l" indent="0" marL="0">
              <a:buNone/>
            </a:pPr>
            <a:r>
              <a:rPr lang="en-US" sz="4320" dirty="0">
                <a:solidFill>
                  <a:srgbClr val="F2F2F0">
                    <a:alpha val="0"/>
                  </a:srgbClr>
                </a:solidFill>
                <a:latin typeface="GT Inter Display"/>
              </a:rPr>
              <a:t>Every product in every language</a:t>
            </a:r>
            <a:endParaRPr lang="en-US" sz="4320" dirty="0"/>
          </a:p>
        </p:txBody>
      </p:sp>
      <p:sp>
        <p:nvSpPr>
          <p:cNvPr id="2" name="ts:closing#h/text"/>
          <p:cNvSpPr txBox="1"/>
          <p:nvPr/>
        </p:nvSpPr>
        <p:spPr>
          <a:xfrm>
            <a:off x="1242060" y="2027011"/>
            <a:ext cx="5108448" cy="11630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Every product in</a:t>
            </a:r>
            <a:br/>
            <a:pPr algn="l" indent="0" marL="0">
              <a:lnSpc>
                <a:spcPts val="4579"/>
              </a:lnSpc>
              <a:buNone/>
            </a:pPr>
            <a:r>
              <a:rPr lang="en-US" sz="4320" spc="-108" dirty="0">
                <a:solidFill>
                  <a:srgbClr val="F2F2F0">
                    <a:alpha val="0"/>
                  </a:srgbClr>
                </a:solidFill>
                <a:latin typeface="GT Inter Display" pitchFamily="34" charset="0"/>
                <a:ea typeface="GT Inter Display" pitchFamily="34" charset="-122"/>
                <a:cs typeface="GT Inter Display" pitchFamily="34" charset="-120"/>
              </a:rPr>
              <a:t>every language</a:t>
            </a:r>
            <a:endParaRPr lang="en-US" sz="4320" dirty="0"/>
          </a:p>
        </p:txBody>
      </p:sp>
      <p:sp>
        <p:nvSpPr>
          <p:cNvPr id="3" name="ts:closing#p1/text"/>
          <p:cNvSpPr txBox="1"/>
          <p:nvPr/>
        </p:nvSpPr>
        <p:spPr>
          <a:xfrm>
            <a:off x="1242060" y="3235688"/>
            <a:ext cx="5108448" cy="2514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320" dirty="0">
                <a:solidFill>
                  <a:srgbClr val="F2F2F0">
                    <a:alpha val="0"/>
                  </a:srgbClr>
                </a:solidFill>
                <a:latin typeface="GT Inter Text 22" pitchFamily="34" charset="0"/>
                <a:ea typeface="GT Inter Text 22" pitchFamily="34" charset="-122"/>
                <a:cs typeface="GT Inter Text 22" pitchFamily="34" charset="-120"/>
              </a:rPr>
              <a:t>generaltranslation.com, prototemplate.com, glyphfield.com</a:t>
            </a:r>
            <a:endParaRPr lang="en-US" sz="1320" dirty="0"/>
          </a:p>
        </p:txBody>
      </p:sp>
      <p:sp>
        <p:nvSpPr>
          <p:cNvPr id="4" name="ts:closing#credit/text"/>
          <p:cNvSpPr txBox="1"/>
          <p:nvPr/>
        </p:nvSpPr>
        <p:spPr>
          <a:xfrm>
            <a:off x="1242060" y="3598549"/>
            <a:ext cx="5108448" cy="1657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5"/>
              </a:lnSpc>
              <a:buNone/>
            </a:pPr>
            <a:r>
              <a:rPr lang="en-US" sz="900" spc="9" dirty="0">
                <a:solidFill>
                  <a:srgbClr val="8A8F98">
                    <a:alpha val="0"/>
                  </a:srgbClr>
                </a:solidFill>
                <a:latin typeface="GT Inter Text 15" pitchFamily="34" charset="0"/>
                <a:ea typeface="GT Inter Text 15" pitchFamily="34" charset="-122"/>
                <a:cs typeface="GT Inter Text 15" pitchFamily="34" charset="-120"/>
              </a:rPr>
              <a:t>Material: Singularity, a Prototemplate direction</a:t>
            </a:r>
            <a:endParaRPr lang="en-US" sz="900" dirty="0"/>
          </a:p>
        </p:txBody>
      </p:sp>
      <p:sp>
        <p:nvSpPr>
          <p:cNvPr id="5" name="ts:closing#counter"/>
          <p:cNvSpPr txBox="1"/>
          <p:nvPr/>
        </p:nvSpPr>
        <p:spPr>
          <a:xfrm>
            <a:off x="11283544" y="6568189"/>
            <a:ext cx="378104" cy="1198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44"/>
              </a:lnSpc>
              <a:buNone/>
            </a:pPr>
            <a:r>
              <a:rPr lang="en-US" sz="780" spc="16" dirty="0">
                <a:solidFill>
                  <a:srgbClr val="8A8F98">
                    <a:alpha val="0"/>
                  </a:srgbClr>
                </a:solidFill>
                <a:latin typeface="GT Inter Text 14" pitchFamily="34" charset="0"/>
                <a:ea typeface="GT Inter Text 14" pitchFamily="34" charset="-122"/>
                <a:cs typeface="GT Inter Text 14" pitchFamily="34" charset="-120"/>
              </a:rPr>
              <a:t>85 / 85</a:t>
            </a:r>
            <a:endParaRPr lang="en-US" sz="780" dirty="0"/>
          </a:p>
        </p:txBody>
      </p:sp>
      <p:pic>
        <p:nvPicPr>
          <p:cNvPr id="6" name="ts:closing#sheet" descr="Every product in every language (dark), the sheet at 2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360"/>
            <a:ext cx="12192000" cy="68576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85</Slides>
  <Notes>85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88" baseType="lpstr">
      <vt:lpstr>Arial</vt:lpstr>
      <vt:lpstr>Calibri</vt:lpstr>
      <vt:lpstr>Office Theme</vt:lpstr>
      <vt:lpstr>Acme Q4 pitch</vt:lpstr>
      <vt:lpstr>Brand</vt:lpstr>
      <vt:lpstr>General Translation</vt:lpstr>
      <vt:lpstr>Reputation</vt:lpstr>
      <vt:lpstr>Why the redesign</vt:lpstr>
      <vt:lpstr>The Blue Marble</vt:lpstr>
      <vt:lpstr>Open source and platform</vt:lpstr>
      <vt:lpstr>Audience</vt:lpstr>
      <vt:lpstr>Values</vt:lpstr>
      <vt:lpstr>The Rosetta Stone</vt:lpstr>
      <vt:lpstr>Brand personality</vt:lpstr>
      <vt:lpstr>Writing style</vt:lpstr>
      <vt:lpstr>Visual references</vt:lpstr>
      <vt:lpstr>The name</vt:lpstr>
      <vt:lpstr>The mark</vt:lpstr>
      <vt:lpstr>Design system</vt:lpstr>
      <vt:lpstr>Small sizes</vt:lpstr>
      <vt:lpstr>Color</vt:lpstr>
      <vt:lpstr>Typography</vt:lpstr>
      <vt:lpstr>Scripts</vt:lpstr>
      <vt:lpstr>Type scale</vt:lpstr>
      <vt:lpstr>Line rules</vt:lpstr>
      <vt:lpstr>The doubled line</vt:lpstr>
      <vt:lpstr>Karahisari's calligraphy</vt:lpstr>
      <vt:lpstr>Diagrams</vt:lpstr>
      <vt:lpstr>Dither</vt:lpstr>
      <vt:lpstr>Isometric illustration</vt:lpstr>
      <vt:lpstr>Animated text</vt:lpstr>
      <vt:lpstr>Motion rules</vt:lpstr>
      <vt:lpstr>Anti-patterns</vt:lpstr>
      <vt:lpstr>Website</vt:lpstr>
      <vt:lpstr>Public surfaces</vt:lpstr>
      <vt:lpstr>The production site</vt:lpstr>
      <vt:lpstr>Dark mode</vt:lpstr>
      <vt:lpstr>Pricing and enterprise</vt:lpstr>
      <vt:lpstr>Contact and report card</vt:lpstr>
      <vt:lpstr>Louisbourg lighthouse</vt:lpstr>
      <vt:lpstr>Details</vt:lpstr>
      <vt:lpstr>Three close-ups</vt:lpstr>
      <vt:lpstr>Layout measurements</vt:lpstr>
      <vt:lpstr>The horizon field</vt:lpstr>
      <vt:lpstr>Documentation</vt:lpstr>
      <vt:lpstr>The docs</vt:lpstr>
      <vt:lpstr>Nearest-page routing</vt:lpstr>
      <vt:lpstr>The Compact Oxford English Dictionary</vt:lpstr>
      <vt:lpstr>Markdown twins</vt:lpstr>
      <vt:lpstr>Blog and content</vt:lpstr>
      <vt:lpstr>Blog index</vt:lpstr>
      <vt:lpstr>Generated covers</vt:lpstr>
      <vt:lpstr>A Devanagari manuscript</vt:lpstr>
      <vt:lpstr>Designed covers</vt:lpstr>
      <vt:lpstr>Blog content</vt:lpstr>
      <vt:lpstr>The copy test</vt:lpstr>
      <vt:lpstr>Site copy and founder posts</vt:lpstr>
      <vt:lpstr>Brand assets outside the site</vt:lpstr>
      <vt:lpstr>Developer experience</vt:lpstr>
      <vt:lpstr>Translation as a build step</vt:lpstr>
      <vt:lpstr>The Eastern Telegraph cable chart</vt:lpstr>
      <vt:lpstr>The CLI</vt:lpstr>
      <vt:lpstr>Prototemplate and Glyphfield</vt:lpstr>
      <vt:lpstr>Prototemplate</vt:lpstr>
      <vt:lpstr>The knowledge base</vt:lpstr>
      <vt:lpstr>Skills and marks</vt:lpstr>
      <vt:lpstr>The viewer shell</vt:lpstr>
      <vt:lpstr>The shell in use</vt:lpstr>
      <vt:lpstr>The line law in chrome</vt:lpstr>
      <vt:lpstr>Compare and the presenter</vt:lpstr>
      <vt:lpstr>The Dossier</vt:lpstr>
      <vt:lpstr>Directions</vt:lpstr>
      <vt:lpstr>The Great Wave off Kanagawa</vt:lpstr>
      <vt:lpstr>The archive</vt:lpstr>
      <vt:lpstr>Shared engines</vt:lpstr>
      <vt:lpstr>The build log</vt:lpstr>
      <vt:lpstr>Glyphfield</vt:lpstr>
      <vt:lpstr>Fifteen tools</vt:lpstr>
      <vt:lpstr>Books and templates</vt:lpstr>
      <vt:lpstr>134 live materials</vt:lpstr>
      <vt:lpstr>The agent API</vt:lpstr>
      <vt:lpstr>Status and plan</vt:lpstr>
      <vt:lpstr>Current status</vt:lpstr>
      <vt:lpstr>Bowen's compass rose</vt:lpstr>
      <vt:lpstr>The identity project</vt:lpstr>
      <vt:lpstr>Fixed points</vt:lpstr>
      <vt:lpstr>Success criteria</vt:lpstr>
      <vt:lpstr>Every product in every language</vt:lpstr>
    </vt:vector>
  </TitlesOfParts>
  <Company>General Translation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Q4 pitch (dark)</dc:title>
  <dc:subject>Turboslide export, revision 8, flatten mode</dc:subject>
  <dc:creator>Turboslide</dc:creator>
  <cp:lastModifiedBy>Turboslide</cp:lastModifiedBy>
  <cp:revision>1</cp:revision>
  <dcterms:created xsi:type="dcterms:W3CDTF">2026-09-20T01:38:25Z</dcterms:created>
  <dcterms:modified xsi:type="dcterms:W3CDTF">2026-09-20T01:38:25Z</dcterms:modified>
</cp:coreProperties>
</file>