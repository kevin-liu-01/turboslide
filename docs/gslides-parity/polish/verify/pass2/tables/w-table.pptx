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e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CK_PAPER_DARK">
    <p:bg>
      <p:bgPr>
        <a:solidFill>
          <a:srgbClr val="0707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s:master#frame/0"/>
          <p:cNvSpPr/>
          <p:nvPr/>
        </p:nvSpPr>
        <p:spPr>
          <a:xfrm>
            <a:off x="430530" y="0"/>
            <a:ext cx="0" cy="6858000"/>
          </a:xfrm>
          <a:prstGeom prst="line">
            <a:avLst/>
          </a:prstGeom>
          <a:noFill/>
          <a:ln w="7620">
            <a:solidFill>
              <a:srgbClr val="3B3B3A"/>
            </a:solidFill>
            <a:prstDash val="solid"/>
          </a:ln>
        </p:spPr>
      </p:sp>
      <p:sp>
        <p:nvSpPr>
          <p:cNvPr id="3" name="ts:master#frame/1"/>
          <p:cNvSpPr/>
          <p:nvPr/>
        </p:nvSpPr>
        <p:spPr>
          <a:xfrm>
            <a:off x="11761470" y="0"/>
            <a:ext cx="0" cy="6858000"/>
          </a:xfrm>
          <a:prstGeom prst="line">
            <a:avLst/>
          </a:prstGeom>
          <a:noFill/>
          <a:ln w="7620">
            <a:solidFill>
              <a:srgbClr val="3B3B3A"/>
            </a:solidFill>
            <a:prstDash val="solid"/>
          </a:ln>
        </p:spPr>
      </p:sp>
      <p:sp>
        <p:nvSpPr>
          <p:cNvPr id="4" name="ts:master#frame/2"/>
          <p:cNvSpPr/>
          <p:nvPr/>
        </p:nvSpPr>
        <p:spPr>
          <a:xfrm>
            <a:off x="0" y="430530"/>
            <a:ext cx="12192000" cy="0"/>
          </a:xfrm>
          <a:prstGeom prst="line">
            <a:avLst/>
          </a:prstGeom>
          <a:noFill/>
          <a:ln w="7620">
            <a:solidFill>
              <a:srgbClr val="3B3B3A"/>
            </a:solidFill>
            <a:prstDash val="solid"/>
          </a:ln>
        </p:spPr>
      </p:sp>
      <p:sp>
        <p:nvSpPr>
          <p:cNvPr id="5" name="ts:master#frame/3"/>
          <p:cNvSpPr/>
          <p:nvPr/>
        </p:nvSpPr>
        <p:spPr>
          <a:xfrm>
            <a:off x="0" y="6427470"/>
            <a:ext cx="12192000" cy="0"/>
          </a:xfrm>
          <a:prstGeom prst="line">
            <a:avLst/>
          </a:prstGeom>
          <a:noFill/>
          <a:ln w="7620">
            <a:solidFill>
              <a:srgbClr val="3B3B3A"/>
            </a:solidFill>
            <a:prstDash val="solid"/>
          </a:ln>
        </p:spPr>
      </p:sp>
      <p:sp>
        <p:nvSpPr>
          <p:cNvPr id="6" name="ts:master#cross/0/v"/>
          <p:cNvSpPr/>
          <p:nvPr/>
        </p:nvSpPr>
        <p:spPr>
          <a:xfrm>
            <a:off x="430530" y="388620"/>
            <a:ext cx="0" cy="83820"/>
          </a:xfrm>
          <a:prstGeom prst="line">
            <a:avLst/>
          </a:prstGeom>
          <a:noFill/>
          <a:ln w="7620">
            <a:solidFill>
              <a:srgbClr val="5B5B5B"/>
            </a:solidFill>
            <a:prstDash val="solid"/>
          </a:ln>
        </p:spPr>
      </p:sp>
      <p:sp>
        <p:nvSpPr>
          <p:cNvPr id="7" name="ts:master#cross/0/h"/>
          <p:cNvSpPr/>
          <p:nvPr/>
        </p:nvSpPr>
        <p:spPr>
          <a:xfrm>
            <a:off x="388620" y="430530"/>
            <a:ext cx="83820" cy="0"/>
          </a:xfrm>
          <a:prstGeom prst="line">
            <a:avLst/>
          </a:prstGeom>
          <a:noFill/>
          <a:ln w="7620">
            <a:solidFill>
              <a:srgbClr val="5B5B5B"/>
            </a:solidFill>
            <a:prstDash val="solid"/>
          </a:ln>
        </p:spPr>
      </p:sp>
      <p:sp>
        <p:nvSpPr>
          <p:cNvPr id="8" name="ts:master#cross/1/v"/>
          <p:cNvSpPr/>
          <p:nvPr/>
        </p:nvSpPr>
        <p:spPr>
          <a:xfrm>
            <a:off x="11761470" y="388620"/>
            <a:ext cx="0" cy="83820"/>
          </a:xfrm>
          <a:prstGeom prst="line">
            <a:avLst/>
          </a:prstGeom>
          <a:noFill/>
          <a:ln w="7620">
            <a:solidFill>
              <a:srgbClr val="5B5B5B"/>
            </a:solidFill>
            <a:prstDash val="solid"/>
          </a:ln>
        </p:spPr>
      </p:sp>
      <p:sp>
        <p:nvSpPr>
          <p:cNvPr id="9" name="ts:master#cross/1/h"/>
          <p:cNvSpPr/>
          <p:nvPr/>
        </p:nvSpPr>
        <p:spPr>
          <a:xfrm>
            <a:off x="11719560" y="430530"/>
            <a:ext cx="83820" cy="0"/>
          </a:xfrm>
          <a:prstGeom prst="line">
            <a:avLst/>
          </a:prstGeom>
          <a:noFill/>
          <a:ln w="7620">
            <a:solidFill>
              <a:srgbClr val="5B5B5B"/>
            </a:solidFill>
            <a:prstDash val="solid"/>
          </a:ln>
        </p:spPr>
      </p:sp>
      <p:sp>
        <p:nvSpPr>
          <p:cNvPr id="10" name="ts:master#cross/2/v"/>
          <p:cNvSpPr/>
          <p:nvPr/>
        </p:nvSpPr>
        <p:spPr>
          <a:xfrm>
            <a:off x="430530" y="6385560"/>
            <a:ext cx="0" cy="83820"/>
          </a:xfrm>
          <a:prstGeom prst="line">
            <a:avLst/>
          </a:prstGeom>
          <a:noFill/>
          <a:ln w="7620">
            <a:solidFill>
              <a:srgbClr val="5B5B5B"/>
            </a:solidFill>
            <a:prstDash val="solid"/>
          </a:ln>
        </p:spPr>
      </p:sp>
      <p:sp>
        <p:nvSpPr>
          <p:cNvPr id="11" name="ts:master#cross/2/h"/>
          <p:cNvSpPr/>
          <p:nvPr/>
        </p:nvSpPr>
        <p:spPr>
          <a:xfrm>
            <a:off x="388620" y="6427470"/>
            <a:ext cx="83820" cy="0"/>
          </a:xfrm>
          <a:prstGeom prst="line">
            <a:avLst/>
          </a:prstGeom>
          <a:noFill/>
          <a:ln w="7620">
            <a:solidFill>
              <a:srgbClr val="5B5B5B"/>
            </a:solidFill>
            <a:prstDash val="solid"/>
          </a:ln>
        </p:spPr>
      </p:sp>
      <p:sp>
        <p:nvSpPr>
          <p:cNvPr id="12" name="ts:master#cross/3/v"/>
          <p:cNvSpPr/>
          <p:nvPr/>
        </p:nvSpPr>
        <p:spPr>
          <a:xfrm>
            <a:off x="11761470" y="6385560"/>
            <a:ext cx="0" cy="83820"/>
          </a:xfrm>
          <a:prstGeom prst="line">
            <a:avLst/>
          </a:prstGeom>
          <a:noFill/>
          <a:ln w="7620">
            <a:solidFill>
              <a:srgbClr val="5B5B5B"/>
            </a:solidFill>
            <a:prstDash val="solid"/>
          </a:ln>
        </p:spPr>
      </p:sp>
      <p:sp>
        <p:nvSpPr>
          <p:cNvPr id="13" name="ts:master#cross/3/h"/>
          <p:cNvSpPr/>
          <p:nvPr/>
        </p:nvSpPr>
        <p:spPr>
          <a:xfrm>
            <a:off x="11719560" y="6427470"/>
            <a:ext cx="83820" cy="0"/>
          </a:xfrm>
          <a:prstGeom prst="line">
            <a:avLst/>
          </a:prstGeom>
          <a:noFill/>
          <a:ln w="7620">
            <a:solidFill>
              <a:srgbClr val="5B5B5B"/>
            </a:solidFill>
            <a:prstDash val="solid"/>
          </a:ln>
        </p:spPr>
      </p:sp>
      <p:pic>
        <p:nvPicPr>
          <p:cNvPr id="14" name="ts:master#wordmark" descr="GT wordmar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583680"/>
            <a:ext cx="213360" cy="13716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CK_PICTURE_DARK">
    <p:bg>
      <p:bgPr>
        <a:solidFill>
          <a:srgbClr val="0707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ables audit: Acme, Q3 20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s:title#title" hidden="1"/>
          <p:cNvSpPr txBox="1">
            <a:spLocks noGrp="1"/>
          </p:cNvSpPr>
          <p:nvPr>
            <p:ph type="title"/>
          </p:nvPr>
        </p:nvSpPr>
        <p:spPr>
          <a:xfrm>
            <a:off x="1043940" y="3484245"/>
            <a:ext cx="10104120" cy="6839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5280" dirty="0">
                <a:solidFill>
                  <a:srgbClr val="F2F2F0">
                    <a:alpha val="0"/>
                  </a:srgbClr>
                </a:solidFill>
                <a:latin typeface="GT Inter Display"/>
              </a:rPr>
              <a:t>Tables audit: Acme, Q3 2026</a:t>
            </a:r>
            <a:endParaRPr lang="en-US" sz="5280" dirty="0"/>
          </a:p>
        </p:txBody>
      </p:sp>
      <p:sp>
        <p:nvSpPr>
          <p:cNvPr id="2" name="ts:title#heading/text"/>
          <p:cNvSpPr txBox="1"/>
          <p:nvPr/>
        </p:nvSpPr>
        <p:spPr>
          <a:xfrm>
            <a:off x="1043940" y="3514755"/>
            <a:ext cx="10122408" cy="683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386"/>
              </a:lnSpc>
              <a:buNone/>
            </a:pPr>
            <a:r>
              <a:rPr lang="en-US" sz="5280" spc="-132" dirty="0">
                <a:solidFill>
                  <a:srgbClr val="F2F2F0"/>
                </a:solidFill>
                <a:latin typeface="GT Inter Display" pitchFamily="34" charset="0"/>
                <a:ea typeface="GT Inter Display" pitchFamily="34" charset="-122"/>
                <a:cs typeface="GT Inter Display" pitchFamily="34" charset="-120"/>
              </a:rPr>
              <a:t>Tables audit: Acme, Q3 2026</a:t>
            </a:r>
            <a:endParaRPr lang="en-US" sz="5280" dirty="0"/>
          </a:p>
        </p:txBody>
      </p:sp>
      <p:sp>
        <p:nvSpPr>
          <p:cNvPr id="3" name="ts:title#counter"/>
          <p:cNvSpPr txBox="1"/>
          <p:nvPr/>
        </p:nvSpPr>
        <p:spPr>
          <a:xfrm>
            <a:off x="11283544" y="6568189"/>
            <a:ext cx="378104" cy="119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4"/>
              </a:lnSpc>
              <a:buNone/>
            </a:pPr>
            <a:r>
              <a:rPr lang="en-US" sz="780" spc="16" dirty="0">
                <a:solidFill>
                  <a:srgbClr val="8A8F98"/>
                </a:solidFill>
                <a:latin typeface="GT Inter Text 14" pitchFamily="34" charset="0"/>
                <a:ea typeface="GT Inter Text 14" pitchFamily="34" charset="-122"/>
                <a:cs typeface="GT Inter Text 14" pitchFamily="34" charset="-120"/>
              </a:rPr>
              <a:t>01 / 02</a:t>
            </a:r>
            <a:endParaRPr lang="en-US" sz="780" dirty="0"/>
          </a:p>
        </p:txBody>
      </p:sp>
      <p:pic>
        <p:nvPicPr>
          <p:cNvPr id="4" name="ts:title#mark:1" descr="mark (mark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3940" y="2484120"/>
            <a:ext cx="1005840" cy="6477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s:split-1#title" hidden="1"/>
          <p:cNvSpPr txBox="1">
            <a:spLocks noGrp="1"/>
          </p:cNvSpPr>
          <p:nvPr>
            <p:ph type="title"/>
          </p:nvPr>
        </p:nvSpPr>
        <p:spPr>
          <a:xfrm>
            <a:off x="929640" y="3028950"/>
            <a:ext cx="4192753" cy="2209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2F2F0">
                    <a:alpha val="0"/>
                  </a:srgbClr>
                </a:solidFill>
                <a:latin typeface="GT Inter Text 20"/>
              </a:rPr>
              <a:t>Slide 2</a:t>
            </a:r>
            <a:endParaRPr lang="en-US" sz="1200" dirty="0"/>
          </a:p>
        </p:txBody>
      </p:sp>
      <p:graphicFrame>
        <p:nvGraphicFramePr>
          <p:cNvPr id="3" name="ts:split-1#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29640" y="2415540"/>
          <a:ext cx="10218420" cy="3093720"/>
        </p:xfrm>
        <a:graphic>
          <a:graphicData uri="http://schemas.openxmlformats.org/drawingml/2006/table">
            <a:tbl>
              <a:tblPr/>
              <a:tblGrid>
                <a:gridCol w="4192753"/>
                <a:gridCol w="1528801"/>
                <a:gridCol w="2860853"/>
                <a:gridCol w="1636014"/>
              </a:tblGrid>
              <a:tr h="5181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/>
                    </a:p>
                  </a:txBody>
                  <a:tcPr marL="0" marR="121920" marT="91440" marB="91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620" cap="flat" cmpd="sng" algn="ctr">
                      <a:solidFill>
                        <a:srgbClr val="3B3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B3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/>
                    </a:p>
                  </a:txBody>
                  <a:tcPr marL="121920" marR="121920" marT="91440" marB="91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620" cap="flat" cmpd="sng" algn="ctr">
                      <a:solidFill>
                        <a:srgbClr val="3B3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B3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/>
                    </a:p>
                  </a:txBody>
                  <a:tcPr marL="121920" marR="121920" marT="91440" marB="91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620" cap="flat" cmpd="sng" algn="ctr">
                      <a:solidFill>
                        <a:srgbClr val="3B3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B3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/>
                    </a:p>
                  </a:txBody>
                  <a:tcPr marL="121920" marR="0" marT="91440" marB="91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620" cap="flat" cmpd="sng" algn="ctr">
                      <a:solidFill>
                        <a:srgbClr val="3B3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B3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108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74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2F2F0"/>
                          </a:solidFill>
                          <a:latin typeface="GT Inter Text 20 Medium" pitchFamily="34" charset="0"/>
                          <a:ea typeface="GT Inter Text 20 Medium" pitchFamily="34" charset="-122"/>
                          <a:cs typeface="GT Inter Text 20 Medium" pitchFamily="34" charset="-120"/>
                        </a:rPr>
                        <a:t>more</a:t>
                      </a:r>
                      <a:endParaRPr lang="en-US" sz="1200" dirty="0">
                        <a:latin typeface="GT Inter Text 20" charset="0"/>
                        <a:ea typeface="GT Inter Text 20" charset="0"/>
                        <a:cs typeface="GT Inter Text 20" charset="0"/>
                      </a:endParaRPr>
                    </a:p>
                  </a:txBody>
                  <a:tcPr marL="0" marR="121920" marT="73716" marB="91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3B3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74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2F2F0"/>
                          </a:solidFill>
                          <a:latin typeface="GT Inter Text 20 Medium" pitchFamily="34" charset="0"/>
                          <a:ea typeface="GT Inter Text 20 Medium" pitchFamily="34" charset="-122"/>
                          <a:cs typeface="GT Inter Text 20 Medium" pitchFamily="34" charset="-120"/>
                        </a:rPr>
                        <a:t>Alpha</a:t>
                      </a:r>
                      <a:endParaRPr lang="en-US" sz="1200" dirty="0">
                        <a:latin typeface="GT Inter Text 20" charset="0"/>
                        <a:ea typeface="GT Inter Text 20" charset="0"/>
                        <a:cs typeface="GT Inter Text 20" charset="0"/>
                      </a:endParaRPr>
                    </a:p>
                  </a:txBody>
                  <a:tcPr marL="121920" marR="121920" marT="73716" marB="91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3B3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74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2F2F0"/>
                          </a:solidFill>
                          <a:latin typeface="GT Inter Text 20" pitchFamily="34" charset="0"/>
                          <a:ea typeface="GT Inter Text 20" pitchFamily="34" charset="-122"/>
                          <a:cs typeface="GT Inter Text 20" pitchFamily="34" charset="-120"/>
                        </a:rPr>
                        <a:t>Beta</a:t>
                      </a:r>
                      <a:endParaRPr lang="en-US" sz="1200" dirty="0">
                        <a:latin typeface="GT Inter Text 20" charset="0"/>
                        <a:ea typeface="GT Inter Text 20" charset="0"/>
                        <a:cs typeface="GT Inter Text 20" charset="0"/>
                      </a:endParaRPr>
                    </a:p>
                  </a:txBody>
                  <a:tcPr marL="121920" marR="121920" marT="73716" marB="91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3B3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/>
                    </a:p>
                  </a:txBody>
                  <a:tcPr marL="121920" marR="0" marT="91440" marB="91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3B3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74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2F2F0"/>
                          </a:solidFill>
                          <a:latin typeface="GT Inter Text 20" pitchFamily="34" charset="0"/>
                          <a:ea typeface="GT Inter Text 20" pitchFamily="34" charset="-122"/>
                          <a:cs typeface="GT Inter Text 20" pitchFamily="34" charset="-120"/>
                        </a:rPr>
                        <a:t>Gamma</a:t>
                      </a:r>
                      <a:endParaRPr lang="en-US" sz="1200" dirty="0">
                        <a:latin typeface="GT Inter Text 20" charset="0"/>
                        <a:ea typeface="GT Inter Text 20" charset="0"/>
                        <a:cs typeface="GT Inter Text 20" charset="0"/>
                      </a:endParaRPr>
                    </a:p>
                  </a:txBody>
                  <a:tcPr marL="0" marR="121920" marT="73716" marB="91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3B3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/>
                    </a:p>
                  </a:txBody>
                  <a:tcPr marL="121920" marR="121920" marT="91440" marB="91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3B3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74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2F2F0"/>
                          </a:solidFill>
                          <a:latin typeface="GT Inter Text 20" pitchFamily="34" charset="0"/>
                          <a:ea typeface="GT Inter Text 20" pitchFamily="34" charset="-122"/>
                          <a:cs typeface="GT Inter Text 20" pitchFamily="34" charset="-120"/>
                        </a:rPr>
                        <a:t>EndEnd</a:t>
                      </a:r>
                      <a:endParaRPr lang="en-US" sz="1200" dirty="0">
                        <a:latin typeface="GT Inter Text 20" charset="0"/>
                        <a:ea typeface="GT Inter Text 20" charset="0"/>
                        <a:cs typeface="GT Inter Text 20" charset="0"/>
                      </a:endParaRPr>
                    </a:p>
                  </a:txBody>
                  <a:tcPr marL="121920" marR="121920" marT="73716" marB="91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3B3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/>
                    </a:p>
                  </a:txBody>
                  <a:tcPr marL="121920" marR="0" marT="91440" marB="91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3B3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/>
                    </a:p>
                  </a:txBody>
                  <a:tcPr marL="0" marR="121920" marT="91440" marB="91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3B3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/>
                    </a:p>
                  </a:txBody>
                  <a:tcPr marL="121920" marR="121920" marT="91440" marB="91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3B3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/>
                    </a:p>
                  </a:txBody>
                  <a:tcPr marL="121920" marR="121920" marT="91440" marB="91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3B3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/>
                    </a:p>
                  </a:txBody>
                  <a:tcPr marL="121920" marR="0" marT="91440" marB="91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3B3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/>
                    </a:p>
                  </a:txBody>
                  <a:tcPr marL="0" marR="121920" marT="91440" marB="91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3B3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/>
                    </a:p>
                  </a:txBody>
                  <a:tcPr marL="121920" marR="121920" marT="91440" marB="91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3B3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/>
                    </a:p>
                  </a:txBody>
                  <a:tcPr marL="121920" marR="121920" marT="91440" marB="91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3B3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/>
                    </a:p>
                  </a:txBody>
                  <a:tcPr marL="121920" marR="0" marT="91440" marB="91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3B3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" name="ts:split-1#counter"/>
          <p:cNvSpPr txBox="1"/>
          <p:nvPr/>
        </p:nvSpPr>
        <p:spPr>
          <a:xfrm>
            <a:off x="11283544" y="6568189"/>
            <a:ext cx="378104" cy="119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4"/>
              </a:lnSpc>
              <a:buNone/>
            </a:pPr>
            <a:r>
              <a:rPr lang="en-US" sz="780" spc="16" dirty="0">
                <a:solidFill>
                  <a:srgbClr val="8A8F98"/>
                </a:solidFill>
                <a:latin typeface="GT Inter Text 14" pitchFamily="34" charset="0"/>
                <a:ea typeface="GT Inter Text 14" pitchFamily="34" charset="-122"/>
                <a:cs typeface="GT Inter Text 14" pitchFamily="34" charset="-120"/>
              </a:rPr>
              <a:t>02 / 02</a:t>
            </a:r>
            <a:endParaRPr lang="en-US" sz="7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Tables audit: Acme, Q3 2026</vt:lpstr>
      <vt:lpstr>Slide 2</vt:lpstr>
    </vt:vector>
  </TitlesOfParts>
  <Company>General Translation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Tables audit: Acme, Q3 2026 (dark)</dc:title>
  <dc:subject>Turboslide export, revision 25, native mode</dc:subject>
  <dc:creator>Turboslide</dc:creator>
  <cp:lastModifiedBy>Turboslide</cp:lastModifiedBy>
  <cp:revision>1</cp:revision>
  <dcterms:created xsi:type="dcterms:W3CDTF">2026-09-29T22:13:53Z</dcterms:created>
  <dcterms:modified xsi:type="dcterms:W3CDTF">2026-09-29T22:13:53Z</dcterms:modified>
</cp:coreProperties>
</file>